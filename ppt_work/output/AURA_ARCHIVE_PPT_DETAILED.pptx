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8288000" cy="10287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82" autoAdjust="0"/>
    <p:restoredTop sz="94658"/>
  </p:normalViewPr>
  <p:slideViewPr>
    <p:cSldViewPr snapToGrid="0">
      <p:cViewPr varScale="1">
        <p:scale>
          <a:sx n="55" d="100"/>
          <a:sy n="55" d="100"/>
        </p:scale>
        <p:origin x="68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mở đầu: nhấn mạnh đề tài không chỉ là e-commerce thông thường mà là luxury resale có độ tin cậy, tư vấn và quản trị.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mở đầu: nhấn mạnh đề tài không chỉ là e-commerce thông thường mà là luxury resale có độ tin cậy, tư vấn và quản trị.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mở đầu: nhấn mạnh đề tài không chỉ là e-commerce thông thường mà là luxury resale có độ tin cậy, tư vấn và quản trị.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mở đầu: nhấn mạnh đề tài không chỉ là e-commerce thông thường mà là luxury resale có độ tin cậy, tư vấn và quản trị.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mở đầu: nhấn mạnh đề tài không chỉ là e-commerce thông thường mà là luxury resale có độ tin cậy, tư vấn và quản trị.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mở đầu: nhấn mạnh đề tài không chỉ là e-commerce thông thường mà là luxury resale có độ tin cậy, tư vấn và quản trị.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kiến trúc: hệ thống chia rõ frontend Nuxt 3, backend Express.js, PostgreSQL, AI, payment và realtime.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kiến trúc: hệ thống chia rõ frontend Nuxt 3, backend Express.js, PostgreSQL, AI, payment và realtime.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kiến trúc: hệ thống chia rõ frontend Nuxt 3, backend Express.js, PostgreSQL, AI, payment và realtime.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kiến trúc: hệ thống chia rõ frontend Nuxt 3, backend Express.js, PostgreSQL, AI, payment và realtime.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kiến trúc: hệ thống chia rõ frontend Nuxt 3, backend Express.js, PostgreSQL, AI, payment và realtime.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kiến trúc: hệ thống chia rõ frontend Nuxt 3, backend Express.js, PostgreSQL, AI, payment và realtime.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kiến trúc: hệ thống chia rõ frontend Nuxt 3, backend Express.js, PostgreSQL, AI, payment và realtime.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kiến trúc: hệ thống chia rõ frontend Nuxt 3, backend Express.js, PostgreSQL, AI, payment và realtime.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database: điểm quan trọng là variants đại diện cho từng item vật lý và order_items lưu snapshot để bảo toàn lịch sử.</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database: điểm quan trọng là variants đại diện cho từng item vật lý và order_items lưu snapshot để bảo toàn lịch sử.</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admin: admin không chỉ quản lý catalog và order mà còn quản lý content, setting, AI prompt và chat session.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admin: admin không chỉ quản lý catalog và order mà còn quản lý content, setting, AI prompt và chat session.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AI: AI Stylist phân loại intent, trích xuất entity, tìm sản phẩm thật trong database rồi mới sinh phản hồi.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AI: AI Stylist phân loại intent, trích xuất entity, tìm sản phẩm thật trong database rồi mới sinh phản hồi.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kiến trúc: hệ thống chia rõ frontend Nuxt 3, backend Express.js, PostgreSQL, AI, payment và realtime.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kiến trúc: hệ thống chia rõ frontend Nuxt 3, backend Express.js, PostgreSQL, AI, payment và realtime.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kiến trúc: hệ thống chia rõ frontend Nuxt 3, backend Express.js, PostgreSQL, AI, payment và realtime.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kiến trúc: hệ thống chia rõ frontend Nuxt 3, backend Express.js, PostgreSQL, AI, payment và realtime.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admin: admin không chỉ quản lý catalog và order mà còn quản lý content, setting, AI prompt và chat session.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kết luận: tổng kết hệ thống full-stack đã có demo, kiến trúc mở rộng và hướng phát triển rõ.</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kết luận: tổng kết hệ thống full-stack đã có demo, kiến trúc mở rộng và hướng phát triển rõ.</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kết luận: tổng kết hệ thống full-stack đã có demo, kiến trúc mở rộng và hướng phát triển rõ.</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kết luận: tổng kết hệ thống full-stack đã có demo, kiến trúc mở rộng và hướng phát triển rõ.</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kết luận: tổng kết hệ thống full-stack đã có demo, kiến trúc mở rộng và hướng phát triển rõ.</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background">
            <a:extLst>
              <a:ext uri="{FF2B5EF4-FFF2-40B4-BE49-F238E27FC236}">
                <a16:creationId xmlns:a16="http://schemas.microsoft.com/office/drawing/2014/main" id="{1A1ED1E8-7B57-44BD-84FE-6332D6DB1F7D}"/>
              </a:ext>
            </a:extLst>
          </p:cNvPr>
          <p:cNvSpPr>
            <a:spLocks noGrp="1"/>
          </p:cNvSpPr>
          <p:nvPr/>
        </p:nvSpPr>
        <p:spPr>
          <a:xfrm>
            <a:off x="0" y="0"/>
            <a:ext cx="18288000" cy="10287000"/>
          </a:xfrm>
          <a:prstGeom prst="rect">
            <a:avLst/>
          </a:prstGeom>
          <a:solidFill>
            <a:srgbClr val="FFFDF8"/>
          </a:solidFill>
        </p:spPr>
      </p:sp>
      <p:sp>
        <p:nvSpPr>
          <p:cNvPr id="2" name="top-band">
            <a:extLst>
              <a:ext uri="{FF2B5EF4-FFF2-40B4-BE49-F238E27FC236}">
                <a16:creationId xmlns:a16="http://schemas.microsoft.com/office/drawing/2014/main" id="{5F6879FB-3CE6-49F9-A70F-78D956219D95}"/>
              </a:ext>
            </a:extLst>
          </p:cNvPr>
          <p:cNvSpPr>
            <a:spLocks noGrp="1"/>
          </p:cNvSpPr>
          <p:nvPr/>
        </p:nvSpPr>
        <p:spPr>
          <a:xfrm>
            <a:off x="0" y="0"/>
            <a:ext cx="18288000" cy="152400"/>
          </a:xfrm>
          <a:prstGeom prst="rect">
            <a:avLst/>
          </a:prstGeom>
          <a:solidFill>
            <a:srgbClr val="77B8A4"/>
          </a:solidFill>
        </p:spPr>
      </p:sp>
      <p:sp>
        <p:nvSpPr>
          <p:cNvPr id="3" name="bottom-band">
            <a:extLst>
              <a:ext uri="{FF2B5EF4-FFF2-40B4-BE49-F238E27FC236}">
                <a16:creationId xmlns:a16="http://schemas.microsoft.com/office/drawing/2014/main" id="{63AEA0DB-8D20-43C9-95DF-7EECDD852F2B}"/>
              </a:ext>
            </a:extLst>
          </p:cNvPr>
          <p:cNvSpPr>
            <a:spLocks noGrp="1"/>
          </p:cNvSpPr>
          <p:nvPr/>
        </p:nvSpPr>
        <p:spPr>
          <a:xfrm>
            <a:off x="0" y="0"/>
            <a:ext cx="18288000" cy="76200"/>
          </a:xfrm>
          <a:prstGeom prst="rect">
            <a:avLst/>
          </a:prstGeom>
          <a:solidFill>
            <a:srgbClr val="D9B760"/>
          </a:solidFill>
        </p:spPr>
      </p:sp>
      <p:sp>
        <p:nvSpPr>
          <p:cNvPr id="4" name="Hình chữ nhật: Góc Tròn 3">
            <a:extLst>
              <a:ext uri="{FF2B5EF4-FFF2-40B4-BE49-F238E27FC236}">
                <a16:creationId xmlns:a16="http://schemas.microsoft.com/office/drawing/2014/main" id="{E4815573-973D-4AF8-8FA2-B35DBB3A0521}"/>
              </a:ext>
            </a:extLst>
          </p:cNvPr>
          <p:cNvSpPr>
            <a:spLocks noGrp="1"/>
          </p:cNvSpPr>
          <p:nvPr/>
        </p:nvSpPr>
        <p:spPr>
          <a:xfrm>
            <a:off x="876300" y="2933700"/>
            <a:ext cx="495300" cy="95250"/>
          </a:xfrm>
          <a:prstGeom prst="roundRect">
            <a:avLst>
              <a:gd name="adj" fmla="val 50000"/>
            </a:avLst>
          </a:prstGeom>
          <a:solidFill>
            <a:srgbClr val="77B8A4"/>
          </a:solidFill>
        </p:spPr>
      </p:sp>
      <p:sp>
        <p:nvSpPr>
          <p:cNvPr id="5" name="Hình chữ nhật 4">
            <a:extLst>
              <a:ext uri="{FF2B5EF4-FFF2-40B4-BE49-F238E27FC236}">
                <a16:creationId xmlns:a16="http://schemas.microsoft.com/office/drawing/2014/main" id="{70D6E52E-28AB-45AA-BACE-F694CB7C9ECD}"/>
              </a:ext>
            </a:extLst>
          </p:cNvPr>
          <p:cNvSpPr>
            <a:spLocks noGrp="1"/>
          </p:cNvSpPr>
          <p:nvPr/>
        </p:nvSpPr>
        <p:spPr>
          <a:xfrm>
            <a:off x="1504950" y="2857500"/>
            <a:ext cx="6972300" cy="228600"/>
          </a:xfrm>
          <a:prstGeom prst="rect">
            <a:avLst/>
          </a:prstGeom>
        </p:spPr>
        <p:txBody>
          <a:bodyPr lIns="0" tIns="0" rIns="0" bIns="0"/>
          <a:lstStyle/>
          <a:p>
            <a:pPr>
              <a:lnSpc>
                <a:spcPct val="125000"/>
              </a:lnSpc>
              <a:buNone/>
              <a:defRPr sz="1200" b="1">
                <a:solidFill>
                  <a:srgbClr val="7E3D4A"/>
                </a:solidFill>
              </a:defRPr>
            </a:pPr>
            <a:r>
              <a:rPr sz="1200" b="1">
                <a:solidFill>
                  <a:srgbClr val="7E3D4A"/>
                </a:solidFill>
              </a:rPr>
              <a:t>KHÓA LUẬN TỐT NGHIỆP</a:t>
            </a:r>
          </a:p>
        </p:txBody>
      </p:sp>
      <p:sp>
        <p:nvSpPr>
          <p:cNvPr id="6" name="cover-title">
            <a:extLst>
              <a:ext uri="{FF2B5EF4-FFF2-40B4-BE49-F238E27FC236}">
                <a16:creationId xmlns:a16="http://schemas.microsoft.com/office/drawing/2014/main" id="{B247FE93-1205-4AB5-8E7F-00470374864C}"/>
              </a:ext>
            </a:extLst>
          </p:cNvPr>
          <p:cNvSpPr>
            <a:spLocks noGrp="1"/>
          </p:cNvSpPr>
          <p:nvPr/>
        </p:nvSpPr>
        <p:spPr>
          <a:xfrm>
            <a:off x="876300" y="3390900"/>
            <a:ext cx="7600950" cy="2190750"/>
          </a:xfrm>
          <a:prstGeom prst="rect">
            <a:avLst/>
          </a:prstGeom>
        </p:spPr>
        <p:txBody>
          <a:bodyPr lIns="0" tIns="0" rIns="0" bIns="0"/>
          <a:lstStyle/>
          <a:p>
            <a:pPr>
              <a:lnSpc>
                <a:spcPct val="92000"/>
              </a:lnSpc>
              <a:buNone/>
              <a:defRPr sz="7800" b="1">
                <a:solidFill>
                  <a:srgbClr val="151515"/>
                </a:solidFill>
              </a:defRPr>
            </a:pPr>
            <a:r>
              <a:rPr sz="7800" b="1">
                <a:solidFill>
                  <a:srgbClr val="151515"/>
                </a:solidFill>
              </a:rPr>
              <a:t>AURA</a:t>
            </a:r>
          </a:p>
          <a:p>
            <a:pPr>
              <a:lnSpc>
                <a:spcPct val="92000"/>
              </a:lnSpc>
              <a:buNone/>
              <a:defRPr sz="7800" b="1">
                <a:solidFill>
                  <a:srgbClr val="151515"/>
                </a:solidFill>
              </a:defRPr>
            </a:pPr>
            <a:r>
              <a:rPr sz="7800" b="1">
                <a:solidFill>
                  <a:srgbClr val="151515"/>
                </a:solidFill>
              </a:rPr>
              <a:t>ARCHIVE</a:t>
            </a:r>
          </a:p>
        </p:txBody>
      </p:sp>
      <p:sp>
        <p:nvSpPr>
          <p:cNvPr id="7" name="Hình chữ nhật 6">
            <a:extLst>
              <a:ext uri="{FF2B5EF4-FFF2-40B4-BE49-F238E27FC236}">
                <a16:creationId xmlns:a16="http://schemas.microsoft.com/office/drawing/2014/main" id="{785747E7-6B7F-403A-8F5F-D5B98AB07BE2}"/>
              </a:ext>
            </a:extLst>
          </p:cNvPr>
          <p:cNvSpPr>
            <a:spLocks noGrp="1"/>
          </p:cNvSpPr>
          <p:nvPr/>
        </p:nvSpPr>
        <p:spPr>
          <a:xfrm>
            <a:off x="876300" y="5886450"/>
            <a:ext cx="7600950" cy="838200"/>
          </a:xfrm>
          <a:prstGeom prst="rect">
            <a:avLst/>
          </a:prstGeom>
        </p:spPr>
        <p:txBody>
          <a:bodyPr lIns="0" tIns="0" rIns="0" bIns="0"/>
          <a:lstStyle/>
          <a:p>
            <a:pPr>
              <a:lnSpc>
                <a:spcPct val="120000"/>
              </a:lnSpc>
              <a:buNone/>
              <a:defRPr sz="2250">
                <a:solidFill>
                  <a:srgbClr val="25384A"/>
                </a:solidFill>
              </a:defRPr>
            </a:pPr>
            <a:r>
              <a:rPr sz="2250">
                <a:solidFill>
                  <a:srgbClr val="25384A"/>
                </a:solidFill>
              </a:rPr>
              <a:t>Luxury resale &amp; consignment fashion e-commerce platform tích hợp AI Stylist</a:t>
            </a:r>
          </a:p>
        </p:txBody>
      </p:sp>
      <p:sp>
        <p:nvSpPr>
          <p:cNvPr id="8" name="Hình chữ nhật: Góc Tròn 7">
            <a:extLst>
              <a:ext uri="{FF2B5EF4-FFF2-40B4-BE49-F238E27FC236}">
                <a16:creationId xmlns:a16="http://schemas.microsoft.com/office/drawing/2014/main" id="{03C1010E-0231-4F08-9BC4-63E52D49FD2A}"/>
              </a:ext>
            </a:extLst>
          </p:cNvPr>
          <p:cNvSpPr>
            <a:spLocks noGrp="1"/>
          </p:cNvSpPr>
          <p:nvPr/>
        </p:nvSpPr>
        <p:spPr>
          <a:xfrm>
            <a:off x="876300" y="7012934"/>
            <a:ext cx="1066800" cy="414338"/>
          </a:xfrm>
          <a:prstGeom prst="roundRect">
            <a:avLst>
              <a:gd name="adj" fmla="val 50000"/>
            </a:avLst>
          </a:prstGeom>
          <a:solidFill>
            <a:srgbClr val="FFFFFF"/>
          </a:solidFill>
          <a:ln w="9525">
            <a:solidFill>
              <a:srgbClr val="77B8A4"/>
            </a:solidFill>
            <a:prstDash val="solid"/>
          </a:ln>
        </p:spPr>
      </p:sp>
      <p:sp>
        <p:nvSpPr>
          <p:cNvPr id="9" name="Hình chữ nhật 8">
            <a:extLst>
              <a:ext uri="{FF2B5EF4-FFF2-40B4-BE49-F238E27FC236}">
                <a16:creationId xmlns:a16="http://schemas.microsoft.com/office/drawing/2014/main" id="{F7D4899E-D24C-4A90-8A65-AA28EE9D2B0C}"/>
              </a:ext>
            </a:extLst>
          </p:cNvPr>
          <p:cNvSpPr>
            <a:spLocks noGrp="1"/>
          </p:cNvSpPr>
          <p:nvPr/>
        </p:nvSpPr>
        <p:spPr>
          <a:xfrm>
            <a:off x="1047750" y="7105650"/>
            <a:ext cx="723900" cy="247650"/>
          </a:xfrm>
          <a:prstGeom prst="rect">
            <a:avLst/>
          </a:prstGeom>
        </p:spPr>
        <p:txBody>
          <a:bodyPr lIns="0" tIns="0" rIns="0" bIns="0"/>
          <a:lstStyle/>
          <a:p>
            <a:pPr algn="ctr">
              <a:lnSpc>
                <a:spcPct val="125000"/>
              </a:lnSpc>
              <a:buNone/>
              <a:defRPr sz="1275" b="1">
                <a:solidFill>
                  <a:srgbClr val="151515"/>
                </a:solidFill>
              </a:defRPr>
            </a:pPr>
            <a:r>
              <a:rPr sz="1275" b="1">
                <a:solidFill>
                  <a:srgbClr val="151515"/>
                </a:solidFill>
              </a:rPr>
              <a:t>Nuxt 3</a:t>
            </a:r>
          </a:p>
        </p:txBody>
      </p:sp>
      <p:sp>
        <p:nvSpPr>
          <p:cNvPr id="10" name="Hình chữ nhật: Góc Tròn 9">
            <a:extLst>
              <a:ext uri="{FF2B5EF4-FFF2-40B4-BE49-F238E27FC236}">
                <a16:creationId xmlns:a16="http://schemas.microsoft.com/office/drawing/2014/main" id="{8F91B3FC-412B-4B78-A267-C634E799248F}"/>
              </a:ext>
            </a:extLst>
          </p:cNvPr>
          <p:cNvSpPr>
            <a:spLocks noGrp="1"/>
          </p:cNvSpPr>
          <p:nvPr/>
        </p:nvSpPr>
        <p:spPr>
          <a:xfrm>
            <a:off x="2057400" y="7012934"/>
            <a:ext cx="1257300" cy="414338"/>
          </a:xfrm>
          <a:prstGeom prst="roundRect">
            <a:avLst>
              <a:gd name="adj" fmla="val 50000"/>
            </a:avLst>
          </a:prstGeom>
          <a:solidFill>
            <a:srgbClr val="FFFFFF"/>
          </a:solidFill>
          <a:ln w="9525">
            <a:solidFill>
              <a:srgbClr val="D9B760"/>
            </a:solidFill>
            <a:prstDash val="solid"/>
          </a:ln>
        </p:spPr>
      </p:sp>
      <p:sp>
        <p:nvSpPr>
          <p:cNvPr id="11" name="Hình chữ nhật 10">
            <a:extLst>
              <a:ext uri="{FF2B5EF4-FFF2-40B4-BE49-F238E27FC236}">
                <a16:creationId xmlns:a16="http://schemas.microsoft.com/office/drawing/2014/main" id="{87F8E489-81CC-44A6-A845-5C275F1D5EA9}"/>
              </a:ext>
            </a:extLst>
          </p:cNvPr>
          <p:cNvSpPr>
            <a:spLocks noGrp="1"/>
          </p:cNvSpPr>
          <p:nvPr/>
        </p:nvSpPr>
        <p:spPr>
          <a:xfrm>
            <a:off x="2228850" y="7105650"/>
            <a:ext cx="914400" cy="247650"/>
          </a:xfrm>
          <a:prstGeom prst="rect">
            <a:avLst/>
          </a:prstGeom>
        </p:spPr>
        <p:txBody>
          <a:bodyPr lIns="0" tIns="0" rIns="0" bIns="0"/>
          <a:lstStyle/>
          <a:p>
            <a:pPr algn="ctr">
              <a:lnSpc>
                <a:spcPct val="125000"/>
              </a:lnSpc>
              <a:buNone/>
              <a:defRPr sz="1275" b="1">
                <a:solidFill>
                  <a:srgbClr val="151515"/>
                </a:solidFill>
              </a:defRPr>
            </a:pPr>
            <a:r>
              <a:rPr sz="1275" b="1">
                <a:solidFill>
                  <a:srgbClr val="151515"/>
                </a:solidFill>
              </a:rPr>
              <a:t>Express.js</a:t>
            </a:r>
          </a:p>
        </p:txBody>
      </p:sp>
      <p:sp>
        <p:nvSpPr>
          <p:cNvPr id="12" name="Hình chữ nhật: Góc Tròn 11">
            <a:extLst>
              <a:ext uri="{FF2B5EF4-FFF2-40B4-BE49-F238E27FC236}">
                <a16:creationId xmlns:a16="http://schemas.microsoft.com/office/drawing/2014/main" id="{DF22EFB4-9809-4CAB-BB61-87BBC7B45B42}"/>
              </a:ext>
            </a:extLst>
          </p:cNvPr>
          <p:cNvSpPr>
            <a:spLocks noGrp="1"/>
          </p:cNvSpPr>
          <p:nvPr/>
        </p:nvSpPr>
        <p:spPr>
          <a:xfrm>
            <a:off x="3429000" y="7012934"/>
            <a:ext cx="1428750" cy="414338"/>
          </a:xfrm>
          <a:prstGeom prst="roundRect">
            <a:avLst>
              <a:gd name="adj" fmla="val 50000"/>
            </a:avLst>
          </a:prstGeom>
          <a:solidFill>
            <a:srgbClr val="FFFFFF"/>
          </a:solidFill>
          <a:ln w="9525">
            <a:solidFill>
              <a:srgbClr val="87B8D6"/>
            </a:solidFill>
            <a:prstDash val="solid"/>
          </a:ln>
        </p:spPr>
      </p:sp>
      <p:sp>
        <p:nvSpPr>
          <p:cNvPr id="13" name="Hình chữ nhật 12">
            <a:extLst>
              <a:ext uri="{FF2B5EF4-FFF2-40B4-BE49-F238E27FC236}">
                <a16:creationId xmlns:a16="http://schemas.microsoft.com/office/drawing/2014/main" id="{B4567C73-61A7-4D1F-BC06-2028ED4571D8}"/>
              </a:ext>
            </a:extLst>
          </p:cNvPr>
          <p:cNvSpPr>
            <a:spLocks noGrp="1"/>
          </p:cNvSpPr>
          <p:nvPr/>
        </p:nvSpPr>
        <p:spPr>
          <a:xfrm>
            <a:off x="3600450" y="7105650"/>
            <a:ext cx="1085850" cy="247650"/>
          </a:xfrm>
          <a:prstGeom prst="rect">
            <a:avLst/>
          </a:prstGeom>
        </p:spPr>
        <p:txBody>
          <a:bodyPr lIns="0" tIns="0" rIns="0" bIns="0"/>
          <a:lstStyle/>
          <a:p>
            <a:pPr algn="ctr">
              <a:lnSpc>
                <a:spcPct val="125000"/>
              </a:lnSpc>
              <a:buNone/>
              <a:defRPr sz="1275" b="1">
                <a:solidFill>
                  <a:srgbClr val="151515"/>
                </a:solidFill>
              </a:defRPr>
            </a:pPr>
            <a:r>
              <a:rPr sz="1275" b="1">
                <a:solidFill>
                  <a:srgbClr val="151515"/>
                </a:solidFill>
              </a:rPr>
              <a:t>PostgreSQL</a:t>
            </a:r>
          </a:p>
        </p:txBody>
      </p:sp>
      <p:sp>
        <p:nvSpPr>
          <p:cNvPr id="14" name="Hình chữ nhật: Góc Tròn 13">
            <a:extLst>
              <a:ext uri="{FF2B5EF4-FFF2-40B4-BE49-F238E27FC236}">
                <a16:creationId xmlns:a16="http://schemas.microsoft.com/office/drawing/2014/main" id="{B9D00912-81C5-49FC-971B-24609E411434}"/>
              </a:ext>
            </a:extLst>
          </p:cNvPr>
          <p:cNvSpPr>
            <a:spLocks noGrp="1"/>
          </p:cNvSpPr>
          <p:nvPr/>
        </p:nvSpPr>
        <p:spPr>
          <a:xfrm>
            <a:off x="4972050" y="7012934"/>
            <a:ext cx="1295400" cy="414338"/>
          </a:xfrm>
          <a:prstGeom prst="roundRect">
            <a:avLst>
              <a:gd name="adj" fmla="val 50000"/>
            </a:avLst>
          </a:prstGeom>
          <a:solidFill>
            <a:srgbClr val="FFFFFF"/>
          </a:solidFill>
          <a:ln w="9525">
            <a:solidFill>
              <a:srgbClr val="F39A8A"/>
            </a:solidFill>
            <a:prstDash val="solid"/>
          </a:ln>
        </p:spPr>
      </p:sp>
      <p:sp>
        <p:nvSpPr>
          <p:cNvPr id="15" name="Hình chữ nhật 14">
            <a:extLst>
              <a:ext uri="{FF2B5EF4-FFF2-40B4-BE49-F238E27FC236}">
                <a16:creationId xmlns:a16="http://schemas.microsoft.com/office/drawing/2014/main" id="{524BC022-CD94-4F6B-A459-7472E8E02972}"/>
              </a:ext>
            </a:extLst>
          </p:cNvPr>
          <p:cNvSpPr>
            <a:spLocks noGrp="1"/>
          </p:cNvSpPr>
          <p:nvPr/>
        </p:nvSpPr>
        <p:spPr>
          <a:xfrm>
            <a:off x="5143500" y="7105650"/>
            <a:ext cx="952500" cy="247650"/>
          </a:xfrm>
          <a:prstGeom prst="rect">
            <a:avLst/>
          </a:prstGeom>
        </p:spPr>
        <p:txBody>
          <a:bodyPr lIns="0" tIns="0" rIns="0" bIns="0"/>
          <a:lstStyle/>
          <a:p>
            <a:pPr algn="ctr">
              <a:lnSpc>
                <a:spcPct val="125000"/>
              </a:lnSpc>
              <a:buNone/>
              <a:defRPr sz="1275" b="1">
                <a:solidFill>
                  <a:srgbClr val="151515"/>
                </a:solidFill>
              </a:defRPr>
            </a:pPr>
            <a:r>
              <a:rPr sz="1275" b="1">
                <a:solidFill>
                  <a:srgbClr val="151515"/>
                </a:solidFill>
              </a:rPr>
              <a:t>AI Stylist</a:t>
            </a:r>
          </a:p>
        </p:txBody>
      </p:sp>
      <p:sp>
        <p:nvSpPr>
          <p:cNvPr id="16" name="Hình chữ nhật: Góc Tròn 15">
            <a:extLst>
              <a:ext uri="{FF2B5EF4-FFF2-40B4-BE49-F238E27FC236}">
                <a16:creationId xmlns:a16="http://schemas.microsoft.com/office/drawing/2014/main" id="{83520998-3FFB-451E-88DE-9C615E32038A}"/>
              </a:ext>
            </a:extLst>
          </p:cNvPr>
          <p:cNvSpPr>
            <a:spLocks noGrp="1"/>
          </p:cNvSpPr>
          <p:nvPr/>
        </p:nvSpPr>
        <p:spPr>
          <a:xfrm>
            <a:off x="9000649" y="2002631"/>
            <a:ext cx="8411051" cy="5810250"/>
          </a:xfrm>
          <a:prstGeom prst="roundRect">
            <a:avLst>
              <a:gd name="adj" fmla="val 1311"/>
            </a:avLst>
          </a:prstGeom>
          <a:solidFill>
            <a:srgbClr val="FFFFFF"/>
          </a:solidFill>
          <a:ln w="9525">
            <a:solidFill>
              <a:srgbClr val="E8DDCF"/>
            </a:solidFill>
            <a:prstDash val="solid"/>
          </a:ln>
        </p:spPr>
      </p:sp>
      <p:pic>
        <p:nvPicPr>
          <p:cNvPr id="17" name="homepage-ai-screenshot"/>
          <p:cNvPicPr>
            <a:picLocks noChangeAspect="1"/>
          </p:cNvPicPr>
          <p:nvPr/>
        </p:nvPicPr>
        <p:blipFill>
          <a:blip r:embed="rId3"/>
          <a:stretch/>
        </p:blipFill>
        <p:spPr>
          <a:xfrm>
            <a:off x="9172099" y="2638589"/>
            <a:ext cx="8068151" cy="4538335"/>
          </a:xfrm>
          <a:prstGeom prst="roundRect">
            <a:avLst>
              <a:gd name="adj" fmla="val 1394"/>
            </a:avLst>
          </a:prstGeom>
        </p:spPr>
      </p:pic>
      <p:sp>
        <p:nvSpPr>
          <p:cNvPr id="18" name="Hình chữ nhật 17">
            <a:extLst>
              <a:ext uri="{FF2B5EF4-FFF2-40B4-BE49-F238E27FC236}">
                <a16:creationId xmlns:a16="http://schemas.microsoft.com/office/drawing/2014/main" id="{6FB9B6A5-F3E2-4A54-AACB-74B6ED02689B}"/>
              </a:ext>
            </a:extLst>
          </p:cNvPr>
          <p:cNvSpPr>
            <a:spLocks noGrp="1"/>
          </p:cNvSpPr>
          <p:nvPr/>
        </p:nvSpPr>
        <p:spPr>
          <a:xfrm>
            <a:off x="8991600" y="7981950"/>
            <a:ext cx="8420100" cy="304800"/>
          </a:xfrm>
          <a:prstGeom prst="rect">
            <a:avLst/>
          </a:prstGeom>
        </p:spPr>
        <p:txBody>
          <a:bodyPr lIns="0" tIns="0" rIns="0" bIns="0"/>
          <a:lstStyle/>
          <a:p>
            <a:pPr algn="ctr">
              <a:lnSpc>
                <a:spcPct val="125000"/>
              </a:lnSpc>
              <a:buNone/>
              <a:defRPr sz="1575">
                <a:solidFill>
                  <a:srgbClr val="647067"/>
                </a:solidFill>
              </a:defRPr>
            </a:pPr>
            <a:r>
              <a:rPr sz="1575">
                <a:solidFill>
                  <a:srgbClr val="647067"/>
                </a:solidFill>
              </a:rPr>
              <a:t>Homepage demo với AI Stylist chat tích hợp trực tiếp trong trải nghiệm mua sắm.</a:t>
            </a:r>
          </a:p>
        </p:txBody>
      </p:sp>
    </p:spTree>
    <p:extLst>
      <p:ext uri="{BB962C8B-B14F-4D97-AF65-F5344CB8AC3E}">
        <p14:creationId xmlns:p14="http://schemas.microsoft.com/office/powerpoint/2010/main" val="687872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background">
            <a:extLst>
              <a:ext uri="{FF2B5EF4-FFF2-40B4-BE49-F238E27FC236}">
                <a16:creationId xmlns:a16="http://schemas.microsoft.com/office/drawing/2014/main" id="{60AC9657-B4B8-4734-8B3E-4580C6A376BF}"/>
              </a:ext>
            </a:extLst>
          </p:cNvPr>
          <p:cNvSpPr>
            <a:spLocks noGrp="1"/>
          </p:cNvSpPr>
          <p:nvPr/>
        </p:nvSpPr>
        <p:spPr>
          <a:xfrm>
            <a:off x="0" y="0"/>
            <a:ext cx="18288000" cy="10287000"/>
          </a:xfrm>
          <a:prstGeom prst="rect">
            <a:avLst/>
          </a:prstGeom>
          <a:solidFill>
            <a:srgbClr val="FFFDF8"/>
          </a:solidFill>
        </p:spPr>
      </p:sp>
      <p:sp>
        <p:nvSpPr>
          <p:cNvPr id="2" name="top-band">
            <a:extLst>
              <a:ext uri="{FF2B5EF4-FFF2-40B4-BE49-F238E27FC236}">
                <a16:creationId xmlns:a16="http://schemas.microsoft.com/office/drawing/2014/main" id="{5107A78A-8F60-4D2B-A919-4D0D0E3D4280}"/>
              </a:ext>
            </a:extLst>
          </p:cNvPr>
          <p:cNvSpPr>
            <a:spLocks noGrp="1"/>
          </p:cNvSpPr>
          <p:nvPr/>
        </p:nvSpPr>
        <p:spPr>
          <a:xfrm>
            <a:off x="0" y="0"/>
            <a:ext cx="18288000" cy="152400"/>
          </a:xfrm>
          <a:prstGeom prst="rect">
            <a:avLst/>
          </a:prstGeom>
          <a:solidFill>
            <a:srgbClr val="F39A8A"/>
          </a:solidFill>
        </p:spPr>
      </p:sp>
      <p:sp>
        <p:nvSpPr>
          <p:cNvPr id="3" name="bottom-band">
            <a:extLst>
              <a:ext uri="{FF2B5EF4-FFF2-40B4-BE49-F238E27FC236}">
                <a16:creationId xmlns:a16="http://schemas.microsoft.com/office/drawing/2014/main" id="{F2369CF5-F0D3-4E04-8644-90169375B5FE}"/>
              </a:ext>
            </a:extLst>
          </p:cNvPr>
          <p:cNvSpPr>
            <a:spLocks noGrp="1"/>
          </p:cNvSpPr>
          <p:nvPr/>
        </p:nvSpPr>
        <p:spPr>
          <a:xfrm>
            <a:off x="0" y="0"/>
            <a:ext cx="18288000" cy="76200"/>
          </a:xfrm>
          <a:prstGeom prst="rect">
            <a:avLst/>
          </a:prstGeom>
          <a:solidFill>
            <a:srgbClr val="D9B760"/>
          </a:solidFill>
        </p:spPr>
      </p:sp>
      <p:sp>
        <p:nvSpPr>
          <p:cNvPr id="4" name="Hình chữ nhật: Góc Tròn 3">
            <a:extLst>
              <a:ext uri="{FF2B5EF4-FFF2-40B4-BE49-F238E27FC236}">
                <a16:creationId xmlns:a16="http://schemas.microsoft.com/office/drawing/2014/main" id="{EB8214BE-F2C7-45AA-A631-79958FBE1A7D}"/>
              </a:ext>
            </a:extLst>
          </p:cNvPr>
          <p:cNvSpPr>
            <a:spLocks noGrp="1"/>
          </p:cNvSpPr>
          <p:nvPr/>
        </p:nvSpPr>
        <p:spPr>
          <a:xfrm>
            <a:off x="838200" y="647700"/>
            <a:ext cx="400050" cy="95250"/>
          </a:xfrm>
          <a:prstGeom prst="roundRect">
            <a:avLst>
              <a:gd name="adj" fmla="val 50000"/>
            </a:avLst>
          </a:prstGeom>
          <a:solidFill>
            <a:srgbClr val="F39A8A"/>
          </a:solidFill>
        </p:spPr>
      </p:sp>
      <p:sp>
        <p:nvSpPr>
          <p:cNvPr id="5" name="Hình chữ nhật 4">
            <a:extLst>
              <a:ext uri="{FF2B5EF4-FFF2-40B4-BE49-F238E27FC236}">
                <a16:creationId xmlns:a16="http://schemas.microsoft.com/office/drawing/2014/main" id="{84CC72F9-3824-4306-8098-870C50930883}"/>
              </a:ext>
            </a:extLst>
          </p:cNvPr>
          <p:cNvSpPr>
            <a:spLocks noGrp="1"/>
          </p:cNvSpPr>
          <p:nvPr/>
        </p:nvSpPr>
        <p:spPr>
          <a:xfrm>
            <a:off x="1371600" y="571500"/>
            <a:ext cx="15544800" cy="228600"/>
          </a:xfrm>
          <a:prstGeom prst="rect">
            <a:avLst/>
          </a:prstGeom>
        </p:spPr>
        <p:txBody>
          <a:bodyPr lIns="0" tIns="0" rIns="0" bIns="0"/>
          <a:lstStyle/>
          <a:p>
            <a:pPr>
              <a:lnSpc>
                <a:spcPct val="125000"/>
              </a:lnSpc>
              <a:buNone/>
              <a:defRPr sz="1200" b="1">
                <a:solidFill>
                  <a:srgbClr val="7E3D4A"/>
                </a:solidFill>
              </a:defRPr>
            </a:pPr>
            <a:r>
              <a:rPr sz="1200" b="1">
                <a:solidFill>
                  <a:srgbClr val="7E3D4A"/>
                </a:solidFill>
              </a:rPr>
              <a:t>BỐI CẢNH</a:t>
            </a:r>
          </a:p>
        </p:txBody>
      </p:sp>
      <p:sp>
        <p:nvSpPr>
          <p:cNvPr id="6" name="Hình chữ nhật 5">
            <a:extLst>
              <a:ext uri="{FF2B5EF4-FFF2-40B4-BE49-F238E27FC236}">
                <a16:creationId xmlns:a16="http://schemas.microsoft.com/office/drawing/2014/main" id="{8D9F8D02-1749-4D4D-9D66-FAF531D83A26}"/>
              </a:ext>
            </a:extLst>
          </p:cNvPr>
          <p:cNvSpPr>
            <a:spLocks noGrp="1"/>
          </p:cNvSpPr>
          <p:nvPr/>
        </p:nvSpPr>
        <p:spPr>
          <a:xfrm>
            <a:off x="17068800" y="571500"/>
            <a:ext cx="400050" cy="228600"/>
          </a:xfrm>
          <a:prstGeom prst="rect">
            <a:avLst/>
          </a:prstGeom>
        </p:spPr>
        <p:txBody>
          <a:bodyPr lIns="0" tIns="0" rIns="0" bIns="0"/>
          <a:lstStyle/>
          <a:p>
            <a:pPr>
              <a:lnSpc>
                <a:spcPct val="120000"/>
              </a:lnSpc>
              <a:buNone/>
              <a:defRPr sz="1275" b="1">
                <a:solidFill>
                  <a:srgbClr val="7E3D4A"/>
                </a:solidFill>
              </a:defRPr>
            </a:pPr>
            <a:r>
              <a:rPr sz="1275" b="1">
                <a:solidFill>
                  <a:srgbClr val="7E3D4A"/>
                </a:solidFill>
              </a:rPr>
              <a:t>02/30</a:t>
            </a:r>
          </a:p>
        </p:txBody>
      </p:sp>
      <p:sp>
        <p:nvSpPr>
          <p:cNvPr id="7" name="slide-title">
            <a:extLst>
              <a:ext uri="{FF2B5EF4-FFF2-40B4-BE49-F238E27FC236}">
                <a16:creationId xmlns:a16="http://schemas.microsoft.com/office/drawing/2014/main" id="{A8E20CA1-1E74-4491-A50B-D47D08041B91}"/>
              </a:ext>
            </a:extLst>
          </p:cNvPr>
          <p:cNvSpPr>
            <a:spLocks noGrp="1"/>
          </p:cNvSpPr>
          <p:nvPr/>
        </p:nvSpPr>
        <p:spPr>
          <a:xfrm>
            <a:off x="819150" y="933450"/>
            <a:ext cx="16649700" cy="590550"/>
          </a:xfrm>
          <a:prstGeom prst="rect">
            <a:avLst/>
          </a:prstGeom>
        </p:spPr>
        <p:txBody>
          <a:bodyPr lIns="0" tIns="0" rIns="0" bIns="0"/>
          <a:lstStyle/>
          <a:p>
            <a:pPr>
              <a:lnSpc>
                <a:spcPct val="105000"/>
              </a:lnSpc>
              <a:buNone/>
              <a:defRPr sz="3600" b="1">
                <a:solidFill>
                  <a:srgbClr val="151515"/>
                </a:solidFill>
              </a:defRPr>
            </a:pPr>
            <a:r>
              <a:rPr sz="3600" b="1">
                <a:solidFill>
                  <a:srgbClr val="151515"/>
                </a:solidFill>
              </a:rPr>
              <a:t>Vì sao chọn AURA ARCHIVE?</a:t>
            </a:r>
          </a:p>
        </p:txBody>
      </p:sp>
      <p:sp>
        <p:nvSpPr>
          <p:cNvPr id="8" name="slide-subtitle">
            <a:extLst>
              <a:ext uri="{FF2B5EF4-FFF2-40B4-BE49-F238E27FC236}">
                <a16:creationId xmlns:a16="http://schemas.microsoft.com/office/drawing/2014/main" id="{1B332DAB-B79F-4B87-891E-70E660D1AA96}"/>
              </a:ext>
            </a:extLst>
          </p:cNvPr>
          <p:cNvSpPr>
            <a:spLocks noGrp="1"/>
          </p:cNvSpPr>
          <p:nvPr/>
        </p:nvSpPr>
        <p:spPr>
          <a:xfrm>
            <a:off x="819150" y="1619250"/>
            <a:ext cx="16649700" cy="342900"/>
          </a:xfrm>
          <a:prstGeom prst="rect">
            <a:avLst/>
          </a:prstGeom>
        </p:spPr>
        <p:txBody>
          <a:bodyPr lIns="0" tIns="0" rIns="0" bIns="0"/>
          <a:lstStyle/>
          <a:p>
            <a:pPr>
              <a:lnSpc>
                <a:spcPct val="125000"/>
              </a:lnSpc>
              <a:buNone/>
              <a:defRPr sz="1800">
                <a:solidFill>
                  <a:srgbClr val="647067"/>
                </a:solidFill>
              </a:defRPr>
            </a:pPr>
            <a:r>
              <a:rPr sz="1800">
                <a:solidFill>
                  <a:srgbClr val="647067"/>
                </a:solidFill>
              </a:rPr>
              <a:t>Luxury resale cần nhiều niềm tin và tư vấn hơn một website bán hàng phổ thông.</a:t>
            </a:r>
          </a:p>
        </p:txBody>
      </p:sp>
      <p:sp>
        <p:nvSpPr>
          <p:cNvPr id="9" name="Hình chữ nhật: Góc Tròn 8">
            <a:extLst>
              <a:ext uri="{FF2B5EF4-FFF2-40B4-BE49-F238E27FC236}">
                <a16:creationId xmlns:a16="http://schemas.microsoft.com/office/drawing/2014/main" id="{866DE810-2938-49F0-8D89-5C2D90C73DD5}"/>
              </a:ext>
            </a:extLst>
          </p:cNvPr>
          <p:cNvSpPr>
            <a:spLocks noGrp="1"/>
          </p:cNvSpPr>
          <p:nvPr/>
        </p:nvSpPr>
        <p:spPr>
          <a:xfrm>
            <a:off x="838200" y="2209800"/>
            <a:ext cx="95250" cy="876300"/>
          </a:xfrm>
          <a:prstGeom prst="roundRect">
            <a:avLst>
              <a:gd name="adj" fmla="val 50000"/>
            </a:avLst>
          </a:prstGeom>
          <a:solidFill>
            <a:srgbClr val="77B8A4"/>
          </a:solidFill>
        </p:spPr>
      </p:sp>
      <p:sp>
        <p:nvSpPr>
          <p:cNvPr id="10" name="Hình chữ nhật 9">
            <a:extLst>
              <a:ext uri="{FF2B5EF4-FFF2-40B4-BE49-F238E27FC236}">
                <a16:creationId xmlns:a16="http://schemas.microsoft.com/office/drawing/2014/main" id="{886A36E9-2F47-47DD-A0B5-8BF6393BBDA1}"/>
              </a:ext>
            </a:extLst>
          </p:cNvPr>
          <p:cNvSpPr>
            <a:spLocks noGrp="1"/>
          </p:cNvSpPr>
          <p:nvPr/>
        </p:nvSpPr>
        <p:spPr>
          <a:xfrm>
            <a:off x="1085850" y="2228850"/>
            <a:ext cx="7905750" cy="400050"/>
          </a:xfrm>
          <a:prstGeom prst="rect">
            <a:avLst/>
          </a:prstGeom>
        </p:spPr>
        <p:txBody>
          <a:bodyPr lIns="0" tIns="0" rIns="0" bIns="0"/>
          <a:lstStyle/>
          <a:p>
            <a:pPr>
              <a:lnSpc>
                <a:spcPct val="125000"/>
              </a:lnSpc>
              <a:buNone/>
              <a:defRPr sz="2100" b="1">
                <a:solidFill>
                  <a:srgbClr val="151515"/>
                </a:solidFill>
              </a:defRPr>
            </a:pPr>
            <a:r>
              <a:rPr sz="2100" b="1">
                <a:solidFill>
                  <a:srgbClr val="151515"/>
                </a:solidFill>
              </a:rPr>
              <a:t>E-commerce đã quen thuộc</a:t>
            </a:r>
          </a:p>
        </p:txBody>
      </p:sp>
      <p:sp>
        <p:nvSpPr>
          <p:cNvPr id="11" name="Hình chữ nhật 10">
            <a:extLst>
              <a:ext uri="{FF2B5EF4-FFF2-40B4-BE49-F238E27FC236}">
                <a16:creationId xmlns:a16="http://schemas.microsoft.com/office/drawing/2014/main" id="{00666890-7EED-460B-97E1-2368CA57C20A}"/>
              </a:ext>
            </a:extLst>
          </p:cNvPr>
          <p:cNvSpPr>
            <a:spLocks noGrp="1"/>
          </p:cNvSpPr>
          <p:nvPr/>
        </p:nvSpPr>
        <p:spPr>
          <a:xfrm>
            <a:off x="1085850" y="2686050"/>
            <a:ext cx="7905750" cy="304800"/>
          </a:xfrm>
          <a:prstGeom prst="rect">
            <a:avLst/>
          </a:prstGeom>
        </p:spPr>
        <p:txBody>
          <a:bodyPr lIns="0" tIns="0" rIns="0" bIns="0"/>
          <a:lstStyle/>
          <a:p>
            <a:pPr>
              <a:lnSpc>
                <a:spcPct val="122000"/>
              </a:lnSpc>
              <a:buNone/>
              <a:defRPr sz="1575">
                <a:solidFill>
                  <a:srgbClr val="647067"/>
                </a:solidFill>
              </a:defRPr>
            </a:pPr>
            <a:r>
              <a:rPr sz="1575">
                <a:solidFill>
                  <a:srgbClr val="647067"/>
                </a:solidFill>
              </a:rPr>
              <a:t>Người dùng sẵn sàng mua sắm online, nhưng kỳ vọng trải nghiệm nhanh, đẹp và rõ ràng.</a:t>
            </a:r>
          </a:p>
        </p:txBody>
      </p:sp>
      <p:sp>
        <p:nvSpPr>
          <p:cNvPr id="12" name="Hình chữ nhật: Góc Tròn 11">
            <a:extLst>
              <a:ext uri="{FF2B5EF4-FFF2-40B4-BE49-F238E27FC236}">
                <a16:creationId xmlns:a16="http://schemas.microsoft.com/office/drawing/2014/main" id="{9F7FE451-440F-4C61-9EAC-229C9A44AFA2}"/>
              </a:ext>
            </a:extLst>
          </p:cNvPr>
          <p:cNvSpPr>
            <a:spLocks noGrp="1"/>
          </p:cNvSpPr>
          <p:nvPr/>
        </p:nvSpPr>
        <p:spPr>
          <a:xfrm>
            <a:off x="9296400" y="2209800"/>
            <a:ext cx="95250" cy="876300"/>
          </a:xfrm>
          <a:prstGeom prst="roundRect">
            <a:avLst>
              <a:gd name="adj" fmla="val 50000"/>
            </a:avLst>
          </a:prstGeom>
          <a:solidFill>
            <a:srgbClr val="D9B760"/>
          </a:solidFill>
        </p:spPr>
      </p:sp>
      <p:sp>
        <p:nvSpPr>
          <p:cNvPr id="13" name="Hình chữ nhật 12">
            <a:extLst>
              <a:ext uri="{FF2B5EF4-FFF2-40B4-BE49-F238E27FC236}">
                <a16:creationId xmlns:a16="http://schemas.microsoft.com/office/drawing/2014/main" id="{6D8A4C16-A588-497E-9EE5-BC99FA2155F1}"/>
              </a:ext>
            </a:extLst>
          </p:cNvPr>
          <p:cNvSpPr>
            <a:spLocks noGrp="1"/>
          </p:cNvSpPr>
          <p:nvPr/>
        </p:nvSpPr>
        <p:spPr>
          <a:xfrm>
            <a:off x="9563100" y="2228850"/>
            <a:ext cx="7905750" cy="400050"/>
          </a:xfrm>
          <a:prstGeom prst="rect">
            <a:avLst/>
          </a:prstGeom>
        </p:spPr>
        <p:txBody>
          <a:bodyPr lIns="0" tIns="0" rIns="0" bIns="0"/>
          <a:lstStyle/>
          <a:p>
            <a:pPr>
              <a:lnSpc>
                <a:spcPct val="125000"/>
              </a:lnSpc>
              <a:buNone/>
              <a:defRPr sz="2100" b="1">
                <a:solidFill>
                  <a:srgbClr val="151515"/>
                </a:solidFill>
              </a:defRPr>
            </a:pPr>
            <a:r>
              <a:rPr sz="2100" b="1">
                <a:solidFill>
                  <a:srgbClr val="151515"/>
                </a:solidFill>
              </a:rPr>
              <a:t>Luxury resale có rủi ro riêng</a:t>
            </a:r>
          </a:p>
        </p:txBody>
      </p:sp>
      <p:sp>
        <p:nvSpPr>
          <p:cNvPr id="14" name="Hình chữ nhật 13">
            <a:extLst>
              <a:ext uri="{FF2B5EF4-FFF2-40B4-BE49-F238E27FC236}">
                <a16:creationId xmlns:a16="http://schemas.microsoft.com/office/drawing/2014/main" id="{E529AB24-D6D6-42F1-83A6-7349860680BB}"/>
              </a:ext>
            </a:extLst>
          </p:cNvPr>
          <p:cNvSpPr>
            <a:spLocks noGrp="1"/>
          </p:cNvSpPr>
          <p:nvPr/>
        </p:nvSpPr>
        <p:spPr>
          <a:xfrm>
            <a:off x="9563100" y="2686050"/>
            <a:ext cx="7905750" cy="304800"/>
          </a:xfrm>
          <a:prstGeom prst="rect">
            <a:avLst/>
          </a:prstGeom>
        </p:spPr>
        <p:txBody>
          <a:bodyPr lIns="0" tIns="0" rIns="0" bIns="0"/>
          <a:lstStyle/>
          <a:p>
            <a:pPr>
              <a:lnSpc>
                <a:spcPct val="122000"/>
              </a:lnSpc>
              <a:buNone/>
              <a:defRPr sz="1575">
                <a:solidFill>
                  <a:srgbClr val="647067"/>
                </a:solidFill>
              </a:defRPr>
            </a:pPr>
            <a:r>
              <a:rPr sz="1575">
                <a:solidFill>
                  <a:srgbClr val="647067"/>
                </a:solidFill>
              </a:rPr>
              <a:t>Khách hàng cần biết tình trạng, chất liệu, size, độ tin cậy và giá trị của từng item.</a:t>
            </a:r>
          </a:p>
        </p:txBody>
      </p:sp>
      <p:sp>
        <p:nvSpPr>
          <p:cNvPr id="15" name="Hình chữ nhật: Góc Tròn 14">
            <a:extLst>
              <a:ext uri="{FF2B5EF4-FFF2-40B4-BE49-F238E27FC236}">
                <a16:creationId xmlns:a16="http://schemas.microsoft.com/office/drawing/2014/main" id="{BB8CCB2B-9E47-4B51-8B99-DBA0AD1FD576}"/>
              </a:ext>
            </a:extLst>
          </p:cNvPr>
          <p:cNvSpPr>
            <a:spLocks noGrp="1"/>
          </p:cNvSpPr>
          <p:nvPr/>
        </p:nvSpPr>
        <p:spPr>
          <a:xfrm>
            <a:off x="838200" y="6096000"/>
            <a:ext cx="95250" cy="876300"/>
          </a:xfrm>
          <a:prstGeom prst="roundRect">
            <a:avLst>
              <a:gd name="adj" fmla="val 50000"/>
            </a:avLst>
          </a:prstGeom>
          <a:solidFill>
            <a:srgbClr val="F39A8A"/>
          </a:solidFill>
        </p:spPr>
      </p:sp>
      <p:sp>
        <p:nvSpPr>
          <p:cNvPr id="16" name="Hình chữ nhật 15">
            <a:extLst>
              <a:ext uri="{FF2B5EF4-FFF2-40B4-BE49-F238E27FC236}">
                <a16:creationId xmlns:a16="http://schemas.microsoft.com/office/drawing/2014/main" id="{FFD0B46E-0A23-41CB-9551-1DF44F6BD17D}"/>
              </a:ext>
            </a:extLst>
          </p:cNvPr>
          <p:cNvSpPr>
            <a:spLocks noGrp="1"/>
          </p:cNvSpPr>
          <p:nvPr/>
        </p:nvSpPr>
        <p:spPr>
          <a:xfrm>
            <a:off x="1085850" y="6096000"/>
            <a:ext cx="7905750" cy="400050"/>
          </a:xfrm>
          <a:prstGeom prst="rect">
            <a:avLst/>
          </a:prstGeom>
        </p:spPr>
        <p:txBody>
          <a:bodyPr lIns="0" tIns="0" rIns="0" bIns="0"/>
          <a:lstStyle/>
          <a:p>
            <a:pPr>
              <a:lnSpc>
                <a:spcPct val="125000"/>
              </a:lnSpc>
              <a:buNone/>
              <a:defRPr sz="2100" b="1">
                <a:solidFill>
                  <a:srgbClr val="151515"/>
                </a:solidFill>
              </a:defRPr>
            </a:pPr>
            <a:r>
              <a:rPr sz="2100" b="1">
                <a:solidFill>
                  <a:srgbClr val="151515"/>
                </a:solidFill>
              </a:rPr>
              <a:t>Tư vấn là một phần sản phẩm</a:t>
            </a:r>
          </a:p>
        </p:txBody>
      </p:sp>
      <p:sp>
        <p:nvSpPr>
          <p:cNvPr id="17" name="Hình chữ nhật 16">
            <a:extLst>
              <a:ext uri="{FF2B5EF4-FFF2-40B4-BE49-F238E27FC236}">
                <a16:creationId xmlns:a16="http://schemas.microsoft.com/office/drawing/2014/main" id="{2C7F3F5D-420C-4A0E-89DF-6A7780972EAF}"/>
              </a:ext>
            </a:extLst>
          </p:cNvPr>
          <p:cNvSpPr>
            <a:spLocks noGrp="1"/>
          </p:cNvSpPr>
          <p:nvPr/>
        </p:nvSpPr>
        <p:spPr>
          <a:xfrm>
            <a:off x="1085850" y="6553200"/>
            <a:ext cx="7905750" cy="304800"/>
          </a:xfrm>
          <a:prstGeom prst="rect">
            <a:avLst/>
          </a:prstGeom>
        </p:spPr>
        <p:txBody>
          <a:bodyPr lIns="0" tIns="0" rIns="0" bIns="0"/>
          <a:lstStyle/>
          <a:p>
            <a:pPr>
              <a:lnSpc>
                <a:spcPct val="122000"/>
              </a:lnSpc>
              <a:buNone/>
              <a:defRPr sz="1575">
                <a:solidFill>
                  <a:srgbClr val="647067"/>
                </a:solidFill>
              </a:defRPr>
            </a:pPr>
            <a:r>
              <a:rPr sz="1575">
                <a:solidFill>
                  <a:srgbClr val="647067"/>
                </a:solidFill>
              </a:rPr>
              <a:t>Quyết định mua hàng cao cấp thường cần bối cảnh: phối đồ, mục đích dùng, ngân sách.</a:t>
            </a:r>
          </a:p>
        </p:txBody>
      </p:sp>
      <p:sp>
        <p:nvSpPr>
          <p:cNvPr id="18" name="Hình chữ nhật: Góc Tròn 17">
            <a:extLst>
              <a:ext uri="{FF2B5EF4-FFF2-40B4-BE49-F238E27FC236}">
                <a16:creationId xmlns:a16="http://schemas.microsoft.com/office/drawing/2014/main" id="{55CBBBD4-ECD2-42C0-8FBF-ABF5828220D1}"/>
              </a:ext>
            </a:extLst>
          </p:cNvPr>
          <p:cNvSpPr>
            <a:spLocks noGrp="1"/>
          </p:cNvSpPr>
          <p:nvPr/>
        </p:nvSpPr>
        <p:spPr>
          <a:xfrm>
            <a:off x="9296400" y="6096000"/>
            <a:ext cx="95250" cy="876300"/>
          </a:xfrm>
          <a:prstGeom prst="roundRect">
            <a:avLst>
              <a:gd name="adj" fmla="val 50000"/>
            </a:avLst>
          </a:prstGeom>
          <a:solidFill>
            <a:srgbClr val="87B8D6"/>
          </a:solidFill>
        </p:spPr>
      </p:sp>
      <p:sp>
        <p:nvSpPr>
          <p:cNvPr id="19" name="Hình chữ nhật 18">
            <a:extLst>
              <a:ext uri="{FF2B5EF4-FFF2-40B4-BE49-F238E27FC236}">
                <a16:creationId xmlns:a16="http://schemas.microsoft.com/office/drawing/2014/main" id="{47C791F3-2BEB-4068-92CE-EBB2B3BC21A7}"/>
              </a:ext>
            </a:extLst>
          </p:cNvPr>
          <p:cNvSpPr>
            <a:spLocks noGrp="1"/>
          </p:cNvSpPr>
          <p:nvPr/>
        </p:nvSpPr>
        <p:spPr>
          <a:xfrm>
            <a:off x="9563100" y="6096000"/>
            <a:ext cx="7905750" cy="400050"/>
          </a:xfrm>
          <a:prstGeom prst="rect">
            <a:avLst/>
          </a:prstGeom>
        </p:spPr>
        <p:txBody>
          <a:bodyPr lIns="0" tIns="0" rIns="0" bIns="0"/>
          <a:lstStyle/>
          <a:p>
            <a:pPr>
              <a:lnSpc>
                <a:spcPct val="125000"/>
              </a:lnSpc>
              <a:buNone/>
              <a:defRPr sz="2100" b="1">
                <a:solidFill>
                  <a:srgbClr val="151515"/>
                </a:solidFill>
              </a:defRPr>
            </a:pPr>
            <a:r>
              <a:rPr sz="2100" b="1">
                <a:solidFill>
                  <a:srgbClr val="151515"/>
                </a:solidFill>
              </a:rPr>
              <a:t>AI tạo khác biệt trải nghiệm</a:t>
            </a:r>
          </a:p>
        </p:txBody>
      </p:sp>
      <p:sp>
        <p:nvSpPr>
          <p:cNvPr id="20" name="Hình chữ nhật 19">
            <a:extLst>
              <a:ext uri="{FF2B5EF4-FFF2-40B4-BE49-F238E27FC236}">
                <a16:creationId xmlns:a16="http://schemas.microsoft.com/office/drawing/2014/main" id="{71A008E0-F853-445A-B131-5701FBF2A4BF}"/>
              </a:ext>
            </a:extLst>
          </p:cNvPr>
          <p:cNvSpPr>
            <a:spLocks noGrp="1"/>
          </p:cNvSpPr>
          <p:nvPr/>
        </p:nvSpPr>
        <p:spPr>
          <a:xfrm>
            <a:off x="9563100" y="6553200"/>
            <a:ext cx="7905750" cy="304800"/>
          </a:xfrm>
          <a:prstGeom prst="rect">
            <a:avLst/>
          </a:prstGeom>
        </p:spPr>
        <p:txBody>
          <a:bodyPr lIns="0" tIns="0" rIns="0" bIns="0"/>
          <a:lstStyle/>
          <a:p>
            <a:pPr>
              <a:lnSpc>
                <a:spcPct val="122000"/>
              </a:lnSpc>
              <a:buNone/>
              <a:defRPr sz="1575">
                <a:solidFill>
                  <a:srgbClr val="647067"/>
                </a:solidFill>
              </a:defRPr>
            </a:pPr>
            <a:r>
              <a:rPr sz="1575">
                <a:solidFill>
                  <a:srgbClr val="647067"/>
                </a:solidFill>
              </a:rPr>
              <a:t>AI Stylist giúp khám phá sản phẩm nhanh hơn và giảm tải cho chăm sóc khách hàng.</a:t>
            </a:r>
          </a:p>
        </p:txBody>
      </p:sp>
    </p:spTree>
    <p:extLst>
      <p:ext uri="{BB962C8B-B14F-4D97-AF65-F5344CB8AC3E}">
        <p14:creationId xmlns:p14="http://schemas.microsoft.com/office/powerpoint/2010/main" val="5220072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background">
            <a:extLst>
              <a:ext uri="{FF2B5EF4-FFF2-40B4-BE49-F238E27FC236}">
                <a16:creationId xmlns:a16="http://schemas.microsoft.com/office/drawing/2014/main" id="{1E23CAAE-9CA1-49D4-96D0-8DFDCF5D6CFC}"/>
              </a:ext>
            </a:extLst>
          </p:cNvPr>
          <p:cNvSpPr>
            <a:spLocks noGrp="1"/>
          </p:cNvSpPr>
          <p:nvPr/>
        </p:nvSpPr>
        <p:spPr>
          <a:xfrm>
            <a:off x="0" y="0"/>
            <a:ext cx="18288000" cy="10287000"/>
          </a:xfrm>
          <a:prstGeom prst="rect">
            <a:avLst/>
          </a:prstGeom>
          <a:solidFill>
            <a:srgbClr val="FFFDF8"/>
          </a:solidFill>
        </p:spPr>
      </p:sp>
      <p:sp>
        <p:nvSpPr>
          <p:cNvPr id="2" name="top-band">
            <a:extLst>
              <a:ext uri="{FF2B5EF4-FFF2-40B4-BE49-F238E27FC236}">
                <a16:creationId xmlns:a16="http://schemas.microsoft.com/office/drawing/2014/main" id="{D87E175D-02FD-4898-B9F2-236A3217AAAC}"/>
              </a:ext>
            </a:extLst>
          </p:cNvPr>
          <p:cNvSpPr>
            <a:spLocks noGrp="1"/>
          </p:cNvSpPr>
          <p:nvPr/>
        </p:nvSpPr>
        <p:spPr>
          <a:xfrm>
            <a:off x="0" y="0"/>
            <a:ext cx="18288000" cy="152400"/>
          </a:xfrm>
          <a:prstGeom prst="rect">
            <a:avLst/>
          </a:prstGeom>
          <a:solidFill>
            <a:srgbClr val="D9B760"/>
          </a:solidFill>
        </p:spPr>
      </p:sp>
      <p:sp>
        <p:nvSpPr>
          <p:cNvPr id="3" name="bottom-band">
            <a:extLst>
              <a:ext uri="{FF2B5EF4-FFF2-40B4-BE49-F238E27FC236}">
                <a16:creationId xmlns:a16="http://schemas.microsoft.com/office/drawing/2014/main" id="{236A80FA-BBB8-4CE9-929F-5A028D67FD80}"/>
              </a:ext>
            </a:extLst>
          </p:cNvPr>
          <p:cNvSpPr>
            <a:spLocks noGrp="1"/>
          </p:cNvSpPr>
          <p:nvPr/>
        </p:nvSpPr>
        <p:spPr>
          <a:xfrm>
            <a:off x="0" y="0"/>
            <a:ext cx="18288000" cy="76200"/>
          </a:xfrm>
          <a:prstGeom prst="rect">
            <a:avLst/>
          </a:prstGeom>
          <a:solidFill>
            <a:srgbClr val="D9B760"/>
          </a:solidFill>
        </p:spPr>
      </p:sp>
      <p:sp>
        <p:nvSpPr>
          <p:cNvPr id="4" name="Hình chữ nhật: Góc Tròn 3">
            <a:extLst>
              <a:ext uri="{FF2B5EF4-FFF2-40B4-BE49-F238E27FC236}">
                <a16:creationId xmlns:a16="http://schemas.microsoft.com/office/drawing/2014/main" id="{90248390-113C-441B-8F62-5B97DCEEFA34}"/>
              </a:ext>
            </a:extLst>
          </p:cNvPr>
          <p:cNvSpPr>
            <a:spLocks noGrp="1"/>
          </p:cNvSpPr>
          <p:nvPr/>
        </p:nvSpPr>
        <p:spPr>
          <a:xfrm>
            <a:off x="838200" y="647700"/>
            <a:ext cx="400050" cy="95250"/>
          </a:xfrm>
          <a:prstGeom prst="roundRect">
            <a:avLst>
              <a:gd name="adj" fmla="val 50000"/>
            </a:avLst>
          </a:prstGeom>
          <a:solidFill>
            <a:srgbClr val="D9B760"/>
          </a:solidFill>
        </p:spPr>
      </p:sp>
      <p:sp>
        <p:nvSpPr>
          <p:cNvPr id="5" name="Hình chữ nhật 4">
            <a:extLst>
              <a:ext uri="{FF2B5EF4-FFF2-40B4-BE49-F238E27FC236}">
                <a16:creationId xmlns:a16="http://schemas.microsoft.com/office/drawing/2014/main" id="{51B6DBDE-B7D6-40E4-A660-406D9A1A0F1F}"/>
              </a:ext>
            </a:extLst>
          </p:cNvPr>
          <p:cNvSpPr>
            <a:spLocks noGrp="1"/>
          </p:cNvSpPr>
          <p:nvPr/>
        </p:nvSpPr>
        <p:spPr>
          <a:xfrm>
            <a:off x="1371600" y="571500"/>
            <a:ext cx="15544800" cy="228600"/>
          </a:xfrm>
          <a:prstGeom prst="rect">
            <a:avLst/>
          </a:prstGeom>
        </p:spPr>
        <p:txBody>
          <a:bodyPr lIns="0" tIns="0" rIns="0" bIns="0"/>
          <a:lstStyle/>
          <a:p>
            <a:pPr>
              <a:lnSpc>
                <a:spcPct val="125000"/>
              </a:lnSpc>
              <a:buNone/>
              <a:defRPr sz="1200" b="1">
                <a:solidFill>
                  <a:srgbClr val="7E3D4A"/>
                </a:solidFill>
              </a:defRPr>
            </a:pPr>
            <a:r>
              <a:rPr sz="1200" b="1">
                <a:solidFill>
                  <a:srgbClr val="7E3D4A"/>
                </a:solidFill>
              </a:rPr>
              <a:t>BÀI TOÁN</a:t>
            </a:r>
          </a:p>
        </p:txBody>
      </p:sp>
      <p:sp>
        <p:nvSpPr>
          <p:cNvPr id="6" name="Hình chữ nhật 5">
            <a:extLst>
              <a:ext uri="{FF2B5EF4-FFF2-40B4-BE49-F238E27FC236}">
                <a16:creationId xmlns:a16="http://schemas.microsoft.com/office/drawing/2014/main" id="{E880531C-D036-4D47-AC59-66D56F2DC51E}"/>
              </a:ext>
            </a:extLst>
          </p:cNvPr>
          <p:cNvSpPr>
            <a:spLocks noGrp="1"/>
          </p:cNvSpPr>
          <p:nvPr/>
        </p:nvSpPr>
        <p:spPr>
          <a:xfrm>
            <a:off x="17068800" y="571500"/>
            <a:ext cx="400050" cy="228600"/>
          </a:xfrm>
          <a:prstGeom prst="rect">
            <a:avLst/>
          </a:prstGeom>
        </p:spPr>
        <p:txBody>
          <a:bodyPr lIns="0" tIns="0" rIns="0" bIns="0"/>
          <a:lstStyle/>
          <a:p>
            <a:pPr>
              <a:lnSpc>
                <a:spcPct val="120000"/>
              </a:lnSpc>
              <a:buNone/>
              <a:defRPr sz="1275" b="1">
                <a:solidFill>
                  <a:srgbClr val="7E3D4A"/>
                </a:solidFill>
              </a:defRPr>
            </a:pPr>
            <a:r>
              <a:rPr sz="1275" b="1">
                <a:solidFill>
                  <a:srgbClr val="7E3D4A"/>
                </a:solidFill>
              </a:rPr>
              <a:t>03/30</a:t>
            </a:r>
          </a:p>
        </p:txBody>
      </p:sp>
      <p:sp>
        <p:nvSpPr>
          <p:cNvPr id="7" name="slide-title">
            <a:extLst>
              <a:ext uri="{FF2B5EF4-FFF2-40B4-BE49-F238E27FC236}">
                <a16:creationId xmlns:a16="http://schemas.microsoft.com/office/drawing/2014/main" id="{AC10E622-E360-4726-A7B5-EE51EE7F71D9}"/>
              </a:ext>
            </a:extLst>
          </p:cNvPr>
          <p:cNvSpPr>
            <a:spLocks noGrp="1"/>
          </p:cNvSpPr>
          <p:nvPr/>
        </p:nvSpPr>
        <p:spPr>
          <a:xfrm>
            <a:off x="819150" y="933450"/>
            <a:ext cx="16649700" cy="590550"/>
          </a:xfrm>
          <a:prstGeom prst="rect">
            <a:avLst/>
          </a:prstGeom>
        </p:spPr>
        <p:txBody>
          <a:bodyPr lIns="0" tIns="0" rIns="0" bIns="0"/>
          <a:lstStyle/>
          <a:p>
            <a:pPr>
              <a:lnSpc>
                <a:spcPct val="105000"/>
              </a:lnSpc>
              <a:buNone/>
              <a:defRPr sz="3600" b="1">
                <a:solidFill>
                  <a:srgbClr val="151515"/>
                </a:solidFill>
              </a:defRPr>
            </a:pPr>
            <a:r>
              <a:rPr sz="3600" b="1">
                <a:solidFill>
                  <a:srgbClr val="151515"/>
                </a:solidFill>
              </a:rPr>
              <a:t>Không chỉ là bán hàng online</a:t>
            </a:r>
          </a:p>
        </p:txBody>
      </p:sp>
      <p:sp>
        <p:nvSpPr>
          <p:cNvPr id="8" name="slide-subtitle">
            <a:extLst>
              <a:ext uri="{FF2B5EF4-FFF2-40B4-BE49-F238E27FC236}">
                <a16:creationId xmlns:a16="http://schemas.microsoft.com/office/drawing/2014/main" id="{F86B2008-1B0A-475F-B3D4-8826C5CF0110}"/>
              </a:ext>
            </a:extLst>
          </p:cNvPr>
          <p:cNvSpPr>
            <a:spLocks noGrp="1"/>
          </p:cNvSpPr>
          <p:nvPr/>
        </p:nvSpPr>
        <p:spPr>
          <a:xfrm>
            <a:off x="819150" y="1619250"/>
            <a:ext cx="16649700" cy="342900"/>
          </a:xfrm>
          <a:prstGeom prst="rect">
            <a:avLst/>
          </a:prstGeom>
        </p:spPr>
        <p:txBody>
          <a:bodyPr lIns="0" tIns="0" rIns="0" bIns="0"/>
          <a:lstStyle/>
          <a:p>
            <a:pPr>
              <a:lnSpc>
                <a:spcPct val="125000"/>
              </a:lnSpc>
              <a:buNone/>
              <a:defRPr sz="1800">
                <a:solidFill>
                  <a:srgbClr val="647067"/>
                </a:solidFill>
              </a:defRPr>
            </a:pPr>
            <a:r>
              <a:rPr sz="1800">
                <a:solidFill>
                  <a:srgbClr val="647067"/>
                </a:solidFill>
              </a:rPr>
              <a:t>Hệ thống phải đồng thời giải quyết niềm tin, tư vấn và vận hành.</a:t>
            </a:r>
          </a:p>
        </p:txBody>
      </p:sp>
      <p:sp>
        <p:nvSpPr>
          <p:cNvPr id="9" name="Hình chữ nhật: Góc Tròn 8">
            <a:extLst>
              <a:ext uri="{FF2B5EF4-FFF2-40B4-BE49-F238E27FC236}">
                <a16:creationId xmlns:a16="http://schemas.microsoft.com/office/drawing/2014/main" id="{B27CB0F1-D2FE-4EED-8ED3-272474ED385A}"/>
              </a:ext>
            </a:extLst>
          </p:cNvPr>
          <p:cNvSpPr>
            <a:spLocks noGrp="1"/>
          </p:cNvSpPr>
          <p:nvPr/>
        </p:nvSpPr>
        <p:spPr>
          <a:xfrm>
            <a:off x="819150" y="2237994"/>
            <a:ext cx="5372100" cy="7477506"/>
          </a:xfrm>
          <a:prstGeom prst="roundRect">
            <a:avLst>
              <a:gd name="adj" fmla="val 1418"/>
            </a:avLst>
          </a:prstGeom>
          <a:solidFill>
            <a:srgbClr val="FFFFFF"/>
          </a:solidFill>
          <a:ln w="9525">
            <a:solidFill>
              <a:srgbClr val="E8DDCF"/>
            </a:solidFill>
            <a:prstDash val="solid"/>
          </a:ln>
        </p:spPr>
      </p:sp>
      <p:sp>
        <p:nvSpPr>
          <p:cNvPr id="10" name="Hình chữ nhật: Góc Tròn 9">
            <a:extLst>
              <a:ext uri="{FF2B5EF4-FFF2-40B4-BE49-F238E27FC236}">
                <a16:creationId xmlns:a16="http://schemas.microsoft.com/office/drawing/2014/main" id="{502AE314-77D7-4AA6-A796-F4111DC7D231}"/>
              </a:ext>
            </a:extLst>
          </p:cNvPr>
          <p:cNvSpPr>
            <a:spLocks noGrp="1"/>
          </p:cNvSpPr>
          <p:nvPr/>
        </p:nvSpPr>
        <p:spPr>
          <a:xfrm>
            <a:off x="1028700" y="2438400"/>
            <a:ext cx="104775" cy="323850"/>
          </a:xfrm>
          <a:prstGeom prst="roundRect">
            <a:avLst>
              <a:gd name="adj" fmla="val 50000"/>
            </a:avLst>
          </a:prstGeom>
          <a:solidFill>
            <a:srgbClr val="D9B760"/>
          </a:solidFill>
        </p:spPr>
      </p:sp>
      <p:sp>
        <p:nvSpPr>
          <p:cNvPr id="11" name="Hình chữ nhật 10">
            <a:extLst>
              <a:ext uri="{FF2B5EF4-FFF2-40B4-BE49-F238E27FC236}">
                <a16:creationId xmlns:a16="http://schemas.microsoft.com/office/drawing/2014/main" id="{F7B67905-9D95-4F13-A3E5-5A40B7F28967}"/>
              </a:ext>
            </a:extLst>
          </p:cNvPr>
          <p:cNvSpPr>
            <a:spLocks noGrp="1"/>
          </p:cNvSpPr>
          <p:nvPr/>
        </p:nvSpPr>
        <p:spPr>
          <a:xfrm>
            <a:off x="1238250" y="2400300"/>
            <a:ext cx="4762500" cy="419100"/>
          </a:xfrm>
          <a:prstGeom prst="rect">
            <a:avLst/>
          </a:prstGeom>
        </p:spPr>
        <p:txBody>
          <a:bodyPr lIns="0" tIns="0" rIns="0" bIns="0"/>
          <a:lstStyle/>
          <a:p>
            <a:pPr>
              <a:lnSpc>
                <a:spcPct val="125000"/>
              </a:lnSpc>
              <a:buNone/>
              <a:defRPr sz="2100" b="1">
                <a:solidFill>
                  <a:srgbClr val="151515"/>
                </a:solidFill>
              </a:defRPr>
            </a:pPr>
            <a:r>
              <a:rPr sz="2100" b="1">
                <a:solidFill>
                  <a:srgbClr val="151515"/>
                </a:solidFill>
              </a:rPr>
              <a:t>Người mua thiếu thông tin</a:t>
            </a:r>
          </a:p>
        </p:txBody>
      </p:sp>
      <p:sp>
        <p:nvSpPr>
          <p:cNvPr id="12" name="Hình chữ nhật 11">
            <a:extLst>
              <a:ext uri="{FF2B5EF4-FFF2-40B4-BE49-F238E27FC236}">
                <a16:creationId xmlns:a16="http://schemas.microsoft.com/office/drawing/2014/main" id="{7660FFAA-A252-4AB0-B67C-9781813B4B77}"/>
              </a:ext>
            </a:extLst>
          </p:cNvPr>
          <p:cNvSpPr>
            <a:spLocks noGrp="1"/>
          </p:cNvSpPr>
          <p:nvPr/>
        </p:nvSpPr>
        <p:spPr>
          <a:xfrm>
            <a:off x="1028700" y="2895600"/>
            <a:ext cx="4953000" cy="609600"/>
          </a:xfrm>
          <a:prstGeom prst="rect">
            <a:avLst/>
          </a:prstGeom>
        </p:spPr>
        <p:txBody>
          <a:bodyPr lIns="0" tIns="0" rIns="0" bIns="0"/>
          <a:lstStyle/>
          <a:p>
            <a:pPr>
              <a:lnSpc>
                <a:spcPct val="120000"/>
              </a:lnSpc>
              <a:buNone/>
              <a:defRPr sz="1650">
                <a:solidFill>
                  <a:srgbClr val="647067"/>
                </a:solidFill>
              </a:defRPr>
            </a:pPr>
            <a:r>
              <a:rPr sz="1650">
                <a:solidFill>
                  <a:srgbClr val="647067"/>
                </a:solidFill>
              </a:rPr>
              <a:t>Khó đánh giá condition, size, material, authenticity và mức giá nếu chỉ nhìn danh sách sản phẩm.</a:t>
            </a:r>
          </a:p>
        </p:txBody>
      </p:sp>
      <p:sp>
        <p:nvSpPr>
          <p:cNvPr id="13" name="Hình chữ nhật: Góc Tròn 12">
            <a:extLst>
              <a:ext uri="{FF2B5EF4-FFF2-40B4-BE49-F238E27FC236}">
                <a16:creationId xmlns:a16="http://schemas.microsoft.com/office/drawing/2014/main" id="{A4A2C333-7263-42C4-A8BA-D650B3359F4D}"/>
              </a:ext>
            </a:extLst>
          </p:cNvPr>
          <p:cNvSpPr>
            <a:spLocks noGrp="1"/>
          </p:cNvSpPr>
          <p:nvPr/>
        </p:nvSpPr>
        <p:spPr>
          <a:xfrm>
            <a:off x="6457950" y="2237994"/>
            <a:ext cx="5372100" cy="7477506"/>
          </a:xfrm>
          <a:prstGeom prst="roundRect">
            <a:avLst>
              <a:gd name="adj" fmla="val 1418"/>
            </a:avLst>
          </a:prstGeom>
          <a:solidFill>
            <a:srgbClr val="FFFFFF"/>
          </a:solidFill>
          <a:ln w="9525">
            <a:solidFill>
              <a:srgbClr val="E8DDCF"/>
            </a:solidFill>
            <a:prstDash val="solid"/>
          </a:ln>
        </p:spPr>
      </p:sp>
      <p:sp>
        <p:nvSpPr>
          <p:cNvPr id="14" name="Hình chữ nhật: Góc Tròn 13">
            <a:extLst>
              <a:ext uri="{FF2B5EF4-FFF2-40B4-BE49-F238E27FC236}">
                <a16:creationId xmlns:a16="http://schemas.microsoft.com/office/drawing/2014/main" id="{E313BDD2-A6CA-454D-9AF8-49ABE4616548}"/>
              </a:ext>
            </a:extLst>
          </p:cNvPr>
          <p:cNvSpPr>
            <a:spLocks noGrp="1"/>
          </p:cNvSpPr>
          <p:nvPr/>
        </p:nvSpPr>
        <p:spPr>
          <a:xfrm>
            <a:off x="6667500" y="2438400"/>
            <a:ext cx="104775" cy="323850"/>
          </a:xfrm>
          <a:prstGeom prst="roundRect">
            <a:avLst>
              <a:gd name="adj" fmla="val 50000"/>
            </a:avLst>
          </a:prstGeom>
          <a:solidFill>
            <a:srgbClr val="F39A8A"/>
          </a:solidFill>
        </p:spPr>
      </p:sp>
      <p:sp>
        <p:nvSpPr>
          <p:cNvPr id="15" name="Hình chữ nhật 14">
            <a:extLst>
              <a:ext uri="{FF2B5EF4-FFF2-40B4-BE49-F238E27FC236}">
                <a16:creationId xmlns:a16="http://schemas.microsoft.com/office/drawing/2014/main" id="{70F0D072-39B4-4289-892A-CE6961641FDF}"/>
              </a:ext>
            </a:extLst>
          </p:cNvPr>
          <p:cNvSpPr>
            <a:spLocks noGrp="1"/>
          </p:cNvSpPr>
          <p:nvPr/>
        </p:nvSpPr>
        <p:spPr>
          <a:xfrm>
            <a:off x="6877050" y="2400300"/>
            <a:ext cx="4762500" cy="419100"/>
          </a:xfrm>
          <a:prstGeom prst="rect">
            <a:avLst/>
          </a:prstGeom>
        </p:spPr>
        <p:txBody>
          <a:bodyPr lIns="0" tIns="0" rIns="0" bIns="0"/>
          <a:lstStyle/>
          <a:p>
            <a:pPr>
              <a:lnSpc>
                <a:spcPct val="125000"/>
              </a:lnSpc>
              <a:buNone/>
              <a:defRPr sz="2100" b="1">
                <a:solidFill>
                  <a:srgbClr val="151515"/>
                </a:solidFill>
              </a:defRPr>
            </a:pPr>
            <a:r>
              <a:rPr sz="2100" b="1">
                <a:solidFill>
                  <a:srgbClr val="151515"/>
                </a:solidFill>
              </a:rPr>
              <a:t>Catalog tĩnh chưa đủ</a:t>
            </a:r>
          </a:p>
        </p:txBody>
      </p:sp>
      <p:sp>
        <p:nvSpPr>
          <p:cNvPr id="16" name="Hình chữ nhật 15">
            <a:extLst>
              <a:ext uri="{FF2B5EF4-FFF2-40B4-BE49-F238E27FC236}">
                <a16:creationId xmlns:a16="http://schemas.microsoft.com/office/drawing/2014/main" id="{29211673-E149-41E4-A9AE-6CBFC862F1F9}"/>
              </a:ext>
            </a:extLst>
          </p:cNvPr>
          <p:cNvSpPr>
            <a:spLocks noGrp="1"/>
          </p:cNvSpPr>
          <p:nvPr/>
        </p:nvSpPr>
        <p:spPr>
          <a:xfrm>
            <a:off x="6667500" y="2895600"/>
            <a:ext cx="4953000" cy="609600"/>
          </a:xfrm>
          <a:prstGeom prst="rect">
            <a:avLst/>
          </a:prstGeom>
        </p:spPr>
        <p:txBody>
          <a:bodyPr lIns="0" tIns="0" rIns="0" bIns="0"/>
          <a:lstStyle/>
          <a:p>
            <a:pPr>
              <a:lnSpc>
                <a:spcPct val="120000"/>
              </a:lnSpc>
              <a:buNone/>
              <a:defRPr sz="1650">
                <a:solidFill>
                  <a:srgbClr val="647067"/>
                </a:solidFill>
              </a:defRPr>
            </a:pPr>
            <a:r>
              <a:rPr sz="1650">
                <a:solidFill>
                  <a:srgbClr val="647067"/>
                </a:solidFill>
              </a:rPr>
              <a:t>Website thông thường chưa tư vấn theo ngữ cảnh cá nhân, dịp dùng hoặc phong cách của khách.</a:t>
            </a:r>
          </a:p>
        </p:txBody>
      </p:sp>
      <p:sp>
        <p:nvSpPr>
          <p:cNvPr id="17" name="Hình chữ nhật: Góc Tròn 16">
            <a:extLst>
              <a:ext uri="{FF2B5EF4-FFF2-40B4-BE49-F238E27FC236}">
                <a16:creationId xmlns:a16="http://schemas.microsoft.com/office/drawing/2014/main" id="{B934CF7E-3C9F-4F5E-8092-9A4CAA997F95}"/>
              </a:ext>
            </a:extLst>
          </p:cNvPr>
          <p:cNvSpPr>
            <a:spLocks noGrp="1"/>
          </p:cNvSpPr>
          <p:nvPr/>
        </p:nvSpPr>
        <p:spPr>
          <a:xfrm>
            <a:off x="12096750" y="2237994"/>
            <a:ext cx="5372100" cy="7477506"/>
          </a:xfrm>
          <a:prstGeom prst="roundRect">
            <a:avLst>
              <a:gd name="adj" fmla="val 1418"/>
            </a:avLst>
          </a:prstGeom>
          <a:solidFill>
            <a:srgbClr val="FFFFFF"/>
          </a:solidFill>
          <a:ln w="9525">
            <a:solidFill>
              <a:srgbClr val="E8DDCF"/>
            </a:solidFill>
            <a:prstDash val="solid"/>
          </a:ln>
        </p:spPr>
      </p:sp>
      <p:sp>
        <p:nvSpPr>
          <p:cNvPr id="18" name="Hình chữ nhật: Góc Tròn 17">
            <a:extLst>
              <a:ext uri="{FF2B5EF4-FFF2-40B4-BE49-F238E27FC236}">
                <a16:creationId xmlns:a16="http://schemas.microsoft.com/office/drawing/2014/main" id="{A91C25EF-316D-4EEA-87E3-2847F6B9E325}"/>
              </a:ext>
            </a:extLst>
          </p:cNvPr>
          <p:cNvSpPr>
            <a:spLocks noGrp="1"/>
          </p:cNvSpPr>
          <p:nvPr/>
        </p:nvSpPr>
        <p:spPr>
          <a:xfrm>
            <a:off x="12306300" y="2438400"/>
            <a:ext cx="104775" cy="323850"/>
          </a:xfrm>
          <a:prstGeom prst="roundRect">
            <a:avLst>
              <a:gd name="adj" fmla="val 50000"/>
            </a:avLst>
          </a:prstGeom>
          <a:solidFill>
            <a:srgbClr val="77B8A4"/>
          </a:solidFill>
        </p:spPr>
      </p:sp>
      <p:sp>
        <p:nvSpPr>
          <p:cNvPr id="19" name="Hình chữ nhật 18">
            <a:extLst>
              <a:ext uri="{FF2B5EF4-FFF2-40B4-BE49-F238E27FC236}">
                <a16:creationId xmlns:a16="http://schemas.microsoft.com/office/drawing/2014/main" id="{6A0FF575-3A0C-4DA6-BD4C-820E94961C18}"/>
              </a:ext>
            </a:extLst>
          </p:cNvPr>
          <p:cNvSpPr>
            <a:spLocks noGrp="1"/>
          </p:cNvSpPr>
          <p:nvPr/>
        </p:nvSpPr>
        <p:spPr>
          <a:xfrm>
            <a:off x="12515850" y="2400300"/>
            <a:ext cx="4762500" cy="419100"/>
          </a:xfrm>
          <a:prstGeom prst="rect">
            <a:avLst/>
          </a:prstGeom>
        </p:spPr>
        <p:txBody>
          <a:bodyPr lIns="0" tIns="0" rIns="0" bIns="0"/>
          <a:lstStyle/>
          <a:p>
            <a:pPr>
              <a:lnSpc>
                <a:spcPct val="125000"/>
              </a:lnSpc>
              <a:buNone/>
              <a:defRPr sz="2100" b="1">
                <a:solidFill>
                  <a:srgbClr val="151515"/>
                </a:solidFill>
              </a:defRPr>
            </a:pPr>
            <a:r>
              <a:rPr sz="2100" b="1">
                <a:solidFill>
                  <a:srgbClr val="151515"/>
                </a:solidFill>
              </a:rPr>
              <a:t>Admin cần một trung tâm</a:t>
            </a:r>
          </a:p>
        </p:txBody>
      </p:sp>
      <p:sp>
        <p:nvSpPr>
          <p:cNvPr id="20" name="Hình chữ nhật 19">
            <a:extLst>
              <a:ext uri="{FF2B5EF4-FFF2-40B4-BE49-F238E27FC236}">
                <a16:creationId xmlns:a16="http://schemas.microsoft.com/office/drawing/2014/main" id="{AC3D7590-C11E-4016-B5A2-0292DDCCB063}"/>
              </a:ext>
            </a:extLst>
          </p:cNvPr>
          <p:cNvSpPr>
            <a:spLocks noGrp="1"/>
          </p:cNvSpPr>
          <p:nvPr/>
        </p:nvSpPr>
        <p:spPr>
          <a:xfrm>
            <a:off x="12306300" y="2895600"/>
            <a:ext cx="4953000" cy="609600"/>
          </a:xfrm>
          <a:prstGeom prst="rect">
            <a:avLst/>
          </a:prstGeom>
        </p:spPr>
        <p:txBody>
          <a:bodyPr lIns="0" tIns="0" rIns="0" bIns="0"/>
          <a:lstStyle/>
          <a:p>
            <a:pPr>
              <a:lnSpc>
                <a:spcPct val="120000"/>
              </a:lnSpc>
              <a:buNone/>
              <a:defRPr sz="1650">
                <a:solidFill>
                  <a:srgbClr val="647067"/>
                </a:solidFill>
              </a:defRPr>
            </a:pPr>
            <a:r>
              <a:rPr sz="1650">
                <a:solidFill>
                  <a:srgbClr val="647067"/>
                </a:solidFill>
              </a:rPr>
              <a:t>Sản phẩm, variant, đơn hàng, user, coupon, content, chat và AI cần được quản trị thống nhất.</a:t>
            </a:r>
          </a:p>
        </p:txBody>
      </p:sp>
    </p:spTree>
    <p:extLst>
      <p:ext uri="{BB962C8B-B14F-4D97-AF65-F5344CB8AC3E}">
        <p14:creationId xmlns:p14="http://schemas.microsoft.com/office/powerpoint/2010/main" val="8678494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background">
            <a:extLst>
              <a:ext uri="{FF2B5EF4-FFF2-40B4-BE49-F238E27FC236}">
                <a16:creationId xmlns:a16="http://schemas.microsoft.com/office/drawing/2014/main" id="{759F90FF-73D8-424C-9974-99D8745AE485}"/>
              </a:ext>
            </a:extLst>
          </p:cNvPr>
          <p:cNvSpPr>
            <a:spLocks noGrp="1"/>
          </p:cNvSpPr>
          <p:nvPr/>
        </p:nvSpPr>
        <p:spPr>
          <a:xfrm>
            <a:off x="0" y="0"/>
            <a:ext cx="18288000" cy="10287000"/>
          </a:xfrm>
          <a:prstGeom prst="rect">
            <a:avLst/>
          </a:prstGeom>
          <a:solidFill>
            <a:srgbClr val="FFFDF8"/>
          </a:solidFill>
        </p:spPr>
      </p:sp>
      <p:sp>
        <p:nvSpPr>
          <p:cNvPr id="2" name="top-band">
            <a:extLst>
              <a:ext uri="{FF2B5EF4-FFF2-40B4-BE49-F238E27FC236}">
                <a16:creationId xmlns:a16="http://schemas.microsoft.com/office/drawing/2014/main" id="{A3C7D5D2-CBFE-4A3F-8C57-8EE272603F87}"/>
              </a:ext>
            </a:extLst>
          </p:cNvPr>
          <p:cNvSpPr>
            <a:spLocks noGrp="1"/>
          </p:cNvSpPr>
          <p:nvPr/>
        </p:nvSpPr>
        <p:spPr>
          <a:xfrm>
            <a:off x="0" y="0"/>
            <a:ext cx="18288000" cy="152400"/>
          </a:xfrm>
          <a:prstGeom prst="rect">
            <a:avLst/>
          </a:prstGeom>
          <a:solidFill>
            <a:srgbClr val="77B8A4"/>
          </a:solidFill>
        </p:spPr>
      </p:sp>
      <p:sp>
        <p:nvSpPr>
          <p:cNvPr id="3" name="bottom-band">
            <a:extLst>
              <a:ext uri="{FF2B5EF4-FFF2-40B4-BE49-F238E27FC236}">
                <a16:creationId xmlns:a16="http://schemas.microsoft.com/office/drawing/2014/main" id="{DF328AF1-09E2-4DF2-A29B-D29E3B050391}"/>
              </a:ext>
            </a:extLst>
          </p:cNvPr>
          <p:cNvSpPr>
            <a:spLocks noGrp="1"/>
          </p:cNvSpPr>
          <p:nvPr/>
        </p:nvSpPr>
        <p:spPr>
          <a:xfrm>
            <a:off x="0" y="0"/>
            <a:ext cx="18288000" cy="76200"/>
          </a:xfrm>
          <a:prstGeom prst="rect">
            <a:avLst/>
          </a:prstGeom>
          <a:solidFill>
            <a:srgbClr val="D9B760"/>
          </a:solidFill>
        </p:spPr>
      </p:sp>
      <p:sp>
        <p:nvSpPr>
          <p:cNvPr id="4" name="Hình chữ nhật: Góc Tròn 3">
            <a:extLst>
              <a:ext uri="{FF2B5EF4-FFF2-40B4-BE49-F238E27FC236}">
                <a16:creationId xmlns:a16="http://schemas.microsoft.com/office/drawing/2014/main" id="{02803278-DBA1-4788-AB4C-94AF9240372E}"/>
              </a:ext>
            </a:extLst>
          </p:cNvPr>
          <p:cNvSpPr>
            <a:spLocks noGrp="1"/>
          </p:cNvSpPr>
          <p:nvPr/>
        </p:nvSpPr>
        <p:spPr>
          <a:xfrm>
            <a:off x="838200" y="647700"/>
            <a:ext cx="400050" cy="95250"/>
          </a:xfrm>
          <a:prstGeom prst="roundRect">
            <a:avLst>
              <a:gd name="adj" fmla="val 50000"/>
            </a:avLst>
          </a:prstGeom>
          <a:solidFill>
            <a:srgbClr val="77B8A4"/>
          </a:solidFill>
        </p:spPr>
      </p:sp>
      <p:sp>
        <p:nvSpPr>
          <p:cNvPr id="5" name="Hình chữ nhật 4">
            <a:extLst>
              <a:ext uri="{FF2B5EF4-FFF2-40B4-BE49-F238E27FC236}">
                <a16:creationId xmlns:a16="http://schemas.microsoft.com/office/drawing/2014/main" id="{A96967CD-09F2-4E6E-B225-7689F4BB5965}"/>
              </a:ext>
            </a:extLst>
          </p:cNvPr>
          <p:cNvSpPr>
            <a:spLocks noGrp="1"/>
          </p:cNvSpPr>
          <p:nvPr/>
        </p:nvSpPr>
        <p:spPr>
          <a:xfrm>
            <a:off x="1371600" y="571500"/>
            <a:ext cx="15544800" cy="228600"/>
          </a:xfrm>
          <a:prstGeom prst="rect">
            <a:avLst/>
          </a:prstGeom>
        </p:spPr>
        <p:txBody>
          <a:bodyPr lIns="0" tIns="0" rIns="0" bIns="0"/>
          <a:lstStyle/>
          <a:p>
            <a:pPr>
              <a:lnSpc>
                <a:spcPct val="125000"/>
              </a:lnSpc>
              <a:buNone/>
              <a:defRPr sz="1200" b="1">
                <a:solidFill>
                  <a:srgbClr val="7E3D4A"/>
                </a:solidFill>
              </a:defRPr>
            </a:pPr>
            <a:r>
              <a:rPr sz="1200" b="1">
                <a:solidFill>
                  <a:srgbClr val="7E3D4A"/>
                </a:solidFill>
              </a:rPr>
              <a:t>MỤC TIÊU</a:t>
            </a:r>
          </a:p>
        </p:txBody>
      </p:sp>
      <p:sp>
        <p:nvSpPr>
          <p:cNvPr id="6" name="Hình chữ nhật 5">
            <a:extLst>
              <a:ext uri="{FF2B5EF4-FFF2-40B4-BE49-F238E27FC236}">
                <a16:creationId xmlns:a16="http://schemas.microsoft.com/office/drawing/2014/main" id="{F30A4034-0903-4914-B26C-0C3CD7752A58}"/>
              </a:ext>
            </a:extLst>
          </p:cNvPr>
          <p:cNvSpPr>
            <a:spLocks noGrp="1"/>
          </p:cNvSpPr>
          <p:nvPr/>
        </p:nvSpPr>
        <p:spPr>
          <a:xfrm>
            <a:off x="17068800" y="571500"/>
            <a:ext cx="400050" cy="228600"/>
          </a:xfrm>
          <a:prstGeom prst="rect">
            <a:avLst/>
          </a:prstGeom>
        </p:spPr>
        <p:txBody>
          <a:bodyPr lIns="0" tIns="0" rIns="0" bIns="0"/>
          <a:lstStyle/>
          <a:p>
            <a:pPr>
              <a:lnSpc>
                <a:spcPct val="120000"/>
              </a:lnSpc>
              <a:buNone/>
              <a:defRPr sz="1275" b="1">
                <a:solidFill>
                  <a:srgbClr val="7E3D4A"/>
                </a:solidFill>
              </a:defRPr>
            </a:pPr>
            <a:r>
              <a:rPr sz="1275" b="1">
                <a:solidFill>
                  <a:srgbClr val="7E3D4A"/>
                </a:solidFill>
              </a:rPr>
              <a:t>04/30</a:t>
            </a:r>
          </a:p>
        </p:txBody>
      </p:sp>
      <p:sp>
        <p:nvSpPr>
          <p:cNvPr id="7" name="slide-title">
            <a:extLst>
              <a:ext uri="{FF2B5EF4-FFF2-40B4-BE49-F238E27FC236}">
                <a16:creationId xmlns:a16="http://schemas.microsoft.com/office/drawing/2014/main" id="{A4F51A76-4485-45C8-9D69-E379DC49C6D4}"/>
              </a:ext>
            </a:extLst>
          </p:cNvPr>
          <p:cNvSpPr>
            <a:spLocks noGrp="1"/>
          </p:cNvSpPr>
          <p:nvPr/>
        </p:nvSpPr>
        <p:spPr>
          <a:xfrm>
            <a:off x="819150" y="933450"/>
            <a:ext cx="16649700" cy="590550"/>
          </a:xfrm>
          <a:prstGeom prst="rect">
            <a:avLst/>
          </a:prstGeom>
        </p:spPr>
        <p:txBody>
          <a:bodyPr lIns="0" tIns="0" rIns="0" bIns="0"/>
          <a:lstStyle/>
          <a:p>
            <a:pPr>
              <a:lnSpc>
                <a:spcPct val="105000"/>
              </a:lnSpc>
              <a:buNone/>
              <a:defRPr sz="3600" b="1">
                <a:solidFill>
                  <a:srgbClr val="151515"/>
                </a:solidFill>
              </a:defRPr>
            </a:pPr>
            <a:r>
              <a:rPr sz="3600" b="1">
                <a:solidFill>
                  <a:srgbClr val="151515"/>
                </a:solidFill>
              </a:rPr>
              <a:t>Xây một nền tảng full-stack có thể vận hành thực tế</a:t>
            </a:r>
          </a:p>
        </p:txBody>
      </p:sp>
      <p:sp>
        <p:nvSpPr>
          <p:cNvPr id="8" name="title-rule">
            <a:extLst>
              <a:ext uri="{FF2B5EF4-FFF2-40B4-BE49-F238E27FC236}">
                <a16:creationId xmlns:a16="http://schemas.microsoft.com/office/drawing/2014/main" id="{A5B491B0-2C0C-4892-9C64-806E358E8147}"/>
              </a:ext>
            </a:extLst>
          </p:cNvPr>
          <p:cNvSpPr>
            <a:spLocks noGrp="1"/>
          </p:cNvSpPr>
          <p:nvPr/>
        </p:nvSpPr>
        <p:spPr>
          <a:xfrm>
            <a:off x="819150" y="1619250"/>
            <a:ext cx="1905000" cy="38100"/>
          </a:xfrm>
          <a:prstGeom prst="rect">
            <a:avLst/>
          </a:prstGeom>
          <a:solidFill>
            <a:srgbClr val="77B8A4"/>
          </a:solidFill>
          <a:ln w="0">
            <a:solidFill>
              <a:srgbClr val="77B8A4"/>
            </a:solidFill>
            <a:prstDash val="solid"/>
          </a:ln>
        </p:spPr>
      </p:sp>
      <p:sp>
        <p:nvSpPr>
          <p:cNvPr id="9" name="Hình chữ nhật 8">
            <a:extLst>
              <a:ext uri="{FF2B5EF4-FFF2-40B4-BE49-F238E27FC236}">
                <a16:creationId xmlns:a16="http://schemas.microsoft.com/office/drawing/2014/main" id="{C8CF3230-BF39-44B1-9A14-78869CC5C705}"/>
              </a:ext>
            </a:extLst>
          </p:cNvPr>
          <p:cNvSpPr>
            <a:spLocks noGrp="1"/>
          </p:cNvSpPr>
          <p:nvPr/>
        </p:nvSpPr>
        <p:spPr>
          <a:xfrm>
            <a:off x="819150" y="4838700"/>
            <a:ext cx="8934450" cy="228600"/>
          </a:xfrm>
          <a:prstGeom prst="rect">
            <a:avLst/>
          </a:prstGeom>
        </p:spPr>
        <p:txBody>
          <a:bodyPr lIns="0" tIns="0" rIns="0" bIns="0"/>
          <a:lstStyle/>
          <a:p>
            <a:pPr>
              <a:lnSpc>
                <a:spcPct val="125000"/>
              </a:lnSpc>
              <a:buNone/>
              <a:defRPr sz="1200" b="1">
                <a:solidFill>
                  <a:srgbClr val="7E3D4A"/>
                </a:solidFill>
              </a:defRPr>
            </a:pPr>
            <a:r>
              <a:rPr sz="1200" b="1">
                <a:solidFill>
                  <a:srgbClr val="7E3D4A"/>
                </a:solidFill>
              </a:rPr>
              <a:t>Mục tiêu tổng quát</a:t>
            </a:r>
          </a:p>
        </p:txBody>
      </p:sp>
      <p:sp>
        <p:nvSpPr>
          <p:cNvPr id="10" name="Hình chữ nhật 9">
            <a:extLst>
              <a:ext uri="{FF2B5EF4-FFF2-40B4-BE49-F238E27FC236}">
                <a16:creationId xmlns:a16="http://schemas.microsoft.com/office/drawing/2014/main" id="{AA14C6CB-8982-4A8D-8FB7-E451F461EDC0}"/>
              </a:ext>
            </a:extLst>
          </p:cNvPr>
          <p:cNvSpPr>
            <a:spLocks noGrp="1"/>
          </p:cNvSpPr>
          <p:nvPr/>
        </p:nvSpPr>
        <p:spPr>
          <a:xfrm>
            <a:off x="819150" y="5295900"/>
            <a:ext cx="8934450" cy="1504950"/>
          </a:xfrm>
          <a:prstGeom prst="rect">
            <a:avLst/>
          </a:prstGeom>
        </p:spPr>
        <p:txBody>
          <a:bodyPr lIns="0" tIns="0" rIns="0" bIns="0"/>
          <a:lstStyle/>
          <a:p>
            <a:pPr>
              <a:lnSpc>
                <a:spcPct val="112000"/>
              </a:lnSpc>
              <a:buNone/>
              <a:defRPr sz="2925" b="1">
                <a:solidFill>
                  <a:srgbClr val="151515"/>
                </a:solidFill>
              </a:defRPr>
            </a:pPr>
            <a:r>
              <a:rPr sz="2925" b="1">
                <a:solidFill>
                  <a:srgbClr val="151515"/>
                </a:solidFill>
              </a:rPr>
              <a:t>AURA ARCHIVE kết hợp trải nghiệm mua sắm luxury, backend nghiệp vụ, database resale và AI Stylist trong một sản phẩm demo hoàn chỉnh.</a:t>
            </a:r>
          </a:p>
        </p:txBody>
      </p:sp>
      <p:sp>
        <p:nvSpPr>
          <p:cNvPr id="11" name="Hình chữ nhật: Góc Tròn 10">
            <a:extLst>
              <a:ext uri="{FF2B5EF4-FFF2-40B4-BE49-F238E27FC236}">
                <a16:creationId xmlns:a16="http://schemas.microsoft.com/office/drawing/2014/main" id="{223D094F-6A06-446B-8D9B-02D1E108E534}"/>
              </a:ext>
            </a:extLst>
          </p:cNvPr>
          <p:cNvSpPr>
            <a:spLocks noGrp="1"/>
          </p:cNvSpPr>
          <p:nvPr/>
        </p:nvSpPr>
        <p:spPr>
          <a:xfrm>
            <a:off x="10156508" y="1933194"/>
            <a:ext cx="3579971" cy="2492502"/>
          </a:xfrm>
          <a:prstGeom prst="roundRect">
            <a:avLst>
              <a:gd name="adj" fmla="val 3057"/>
            </a:avLst>
          </a:prstGeom>
          <a:solidFill>
            <a:srgbClr val="FFFFFF"/>
          </a:solidFill>
          <a:ln w="9525">
            <a:solidFill>
              <a:srgbClr val="E8DDCF"/>
            </a:solidFill>
            <a:prstDash val="solid"/>
          </a:ln>
        </p:spPr>
      </p:sp>
      <p:sp>
        <p:nvSpPr>
          <p:cNvPr id="12" name="Hình chữ nhật: Góc Tròn 11">
            <a:extLst>
              <a:ext uri="{FF2B5EF4-FFF2-40B4-BE49-F238E27FC236}">
                <a16:creationId xmlns:a16="http://schemas.microsoft.com/office/drawing/2014/main" id="{D3AB379C-D10B-4759-A9BD-92EF83C12471}"/>
              </a:ext>
            </a:extLst>
          </p:cNvPr>
          <p:cNvSpPr>
            <a:spLocks noGrp="1"/>
          </p:cNvSpPr>
          <p:nvPr/>
        </p:nvSpPr>
        <p:spPr>
          <a:xfrm>
            <a:off x="10363200" y="2133600"/>
            <a:ext cx="104775" cy="323850"/>
          </a:xfrm>
          <a:prstGeom prst="roundRect">
            <a:avLst>
              <a:gd name="adj" fmla="val 50000"/>
            </a:avLst>
          </a:prstGeom>
          <a:solidFill>
            <a:srgbClr val="77B8A4"/>
          </a:solidFill>
        </p:spPr>
      </p:sp>
      <p:sp>
        <p:nvSpPr>
          <p:cNvPr id="13" name="Hình chữ nhật 12">
            <a:extLst>
              <a:ext uri="{FF2B5EF4-FFF2-40B4-BE49-F238E27FC236}">
                <a16:creationId xmlns:a16="http://schemas.microsoft.com/office/drawing/2014/main" id="{DB2DE193-0841-4A05-8E08-D2D4B00D67ED}"/>
              </a:ext>
            </a:extLst>
          </p:cNvPr>
          <p:cNvSpPr>
            <a:spLocks noGrp="1"/>
          </p:cNvSpPr>
          <p:nvPr/>
        </p:nvSpPr>
        <p:spPr>
          <a:xfrm>
            <a:off x="10572750" y="2095500"/>
            <a:ext cx="295275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Frontend</a:t>
            </a:r>
          </a:p>
        </p:txBody>
      </p:sp>
      <p:sp>
        <p:nvSpPr>
          <p:cNvPr id="14" name="Hình chữ nhật 13">
            <a:extLst>
              <a:ext uri="{FF2B5EF4-FFF2-40B4-BE49-F238E27FC236}">
                <a16:creationId xmlns:a16="http://schemas.microsoft.com/office/drawing/2014/main" id="{77E01D51-DEB8-43FF-9823-126E8DA393FC}"/>
              </a:ext>
            </a:extLst>
          </p:cNvPr>
          <p:cNvSpPr>
            <a:spLocks noGrp="1"/>
          </p:cNvSpPr>
          <p:nvPr/>
        </p:nvSpPr>
        <p:spPr>
          <a:xfrm>
            <a:off x="10363200" y="2533650"/>
            <a:ext cx="3162300" cy="266700"/>
          </a:xfrm>
          <a:prstGeom prst="rect">
            <a:avLst/>
          </a:prstGeom>
        </p:spPr>
        <p:txBody>
          <a:bodyPr lIns="0" tIns="0" rIns="0" bIns="0"/>
          <a:lstStyle/>
          <a:p>
            <a:pPr>
              <a:lnSpc>
                <a:spcPct val="120000"/>
              </a:lnSpc>
              <a:buNone/>
              <a:defRPr sz="1425">
                <a:solidFill>
                  <a:srgbClr val="647067"/>
                </a:solidFill>
              </a:defRPr>
            </a:pPr>
            <a:r>
              <a:rPr sz="1425">
                <a:solidFill>
                  <a:srgbClr val="647067"/>
                </a:solidFill>
              </a:rPr>
              <a:t>Nuxt 3, responsive, i18n Việt/Anh</a:t>
            </a:r>
          </a:p>
        </p:txBody>
      </p:sp>
      <p:sp>
        <p:nvSpPr>
          <p:cNvPr id="15" name="Hình chữ nhật: Góc Tròn 14">
            <a:extLst>
              <a:ext uri="{FF2B5EF4-FFF2-40B4-BE49-F238E27FC236}">
                <a16:creationId xmlns:a16="http://schemas.microsoft.com/office/drawing/2014/main" id="{9EE08C22-B101-4A5F-A7C6-805C91DCE90D}"/>
              </a:ext>
            </a:extLst>
          </p:cNvPr>
          <p:cNvSpPr>
            <a:spLocks noGrp="1"/>
          </p:cNvSpPr>
          <p:nvPr/>
        </p:nvSpPr>
        <p:spPr>
          <a:xfrm>
            <a:off x="13888879" y="1933194"/>
            <a:ext cx="3579971" cy="2492502"/>
          </a:xfrm>
          <a:prstGeom prst="roundRect">
            <a:avLst>
              <a:gd name="adj" fmla="val 3057"/>
            </a:avLst>
          </a:prstGeom>
          <a:solidFill>
            <a:srgbClr val="FFFFFF"/>
          </a:solidFill>
          <a:ln w="9525">
            <a:solidFill>
              <a:srgbClr val="E8DDCF"/>
            </a:solidFill>
            <a:prstDash val="solid"/>
          </a:ln>
        </p:spPr>
      </p:sp>
      <p:sp>
        <p:nvSpPr>
          <p:cNvPr id="16" name="Hình chữ nhật: Góc Tròn 15">
            <a:extLst>
              <a:ext uri="{FF2B5EF4-FFF2-40B4-BE49-F238E27FC236}">
                <a16:creationId xmlns:a16="http://schemas.microsoft.com/office/drawing/2014/main" id="{1D9BCACE-0AA1-4836-AEF1-B25B04DF4385}"/>
              </a:ext>
            </a:extLst>
          </p:cNvPr>
          <p:cNvSpPr>
            <a:spLocks noGrp="1"/>
          </p:cNvSpPr>
          <p:nvPr/>
        </p:nvSpPr>
        <p:spPr>
          <a:xfrm>
            <a:off x="14097000" y="2133600"/>
            <a:ext cx="104775" cy="323850"/>
          </a:xfrm>
          <a:prstGeom prst="roundRect">
            <a:avLst>
              <a:gd name="adj" fmla="val 50000"/>
            </a:avLst>
          </a:prstGeom>
          <a:solidFill>
            <a:srgbClr val="87B8D6"/>
          </a:solidFill>
        </p:spPr>
      </p:sp>
      <p:sp>
        <p:nvSpPr>
          <p:cNvPr id="17" name="Hình chữ nhật 16">
            <a:extLst>
              <a:ext uri="{FF2B5EF4-FFF2-40B4-BE49-F238E27FC236}">
                <a16:creationId xmlns:a16="http://schemas.microsoft.com/office/drawing/2014/main" id="{F2BFB515-A37D-4DE4-AA77-A436146D2FBD}"/>
              </a:ext>
            </a:extLst>
          </p:cNvPr>
          <p:cNvSpPr>
            <a:spLocks noGrp="1"/>
          </p:cNvSpPr>
          <p:nvPr/>
        </p:nvSpPr>
        <p:spPr>
          <a:xfrm>
            <a:off x="14306550" y="2095500"/>
            <a:ext cx="295275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Backend</a:t>
            </a:r>
          </a:p>
        </p:txBody>
      </p:sp>
      <p:sp>
        <p:nvSpPr>
          <p:cNvPr id="18" name="Hình chữ nhật 17">
            <a:extLst>
              <a:ext uri="{FF2B5EF4-FFF2-40B4-BE49-F238E27FC236}">
                <a16:creationId xmlns:a16="http://schemas.microsoft.com/office/drawing/2014/main" id="{6FBD0C40-25A1-48E7-914D-D68B09B9DA88}"/>
              </a:ext>
            </a:extLst>
          </p:cNvPr>
          <p:cNvSpPr>
            <a:spLocks noGrp="1"/>
          </p:cNvSpPr>
          <p:nvPr/>
        </p:nvSpPr>
        <p:spPr>
          <a:xfrm>
            <a:off x="14097000" y="2533650"/>
            <a:ext cx="3162300" cy="266700"/>
          </a:xfrm>
          <a:prstGeom prst="rect">
            <a:avLst/>
          </a:prstGeom>
        </p:spPr>
        <p:txBody>
          <a:bodyPr lIns="0" tIns="0" rIns="0" bIns="0"/>
          <a:lstStyle/>
          <a:p>
            <a:pPr>
              <a:lnSpc>
                <a:spcPct val="120000"/>
              </a:lnSpc>
              <a:buNone/>
              <a:defRPr sz="1425">
                <a:solidFill>
                  <a:srgbClr val="647067"/>
                </a:solidFill>
              </a:defRPr>
            </a:pPr>
            <a:r>
              <a:rPr sz="1425">
                <a:solidFill>
                  <a:srgbClr val="647067"/>
                </a:solidFill>
              </a:rPr>
              <a:t>REST API Express.js + Sequelize</a:t>
            </a:r>
          </a:p>
        </p:txBody>
      </p:sp>
      <p:sp>
        <p:nvSpPr>
          <p:cNvPr id="19" name="Hình chữ nhật: Góc Tròn 18">
            <a:extLst>
              <a:ext uri="{FF2B5EF4-FFF2-40B4-BE49-F238E27FC236}">
                <a16:creationId xmlns:a16="http://schemas.microsoft.com/office/drawing/2014/main" id="{ED270356-8D96-4400-A647-540B3A34590F}"/>
              </a:ext>
            </a:extLst>
          </p:cNvPr>
          <p:cNvSpPr>
            <a:spLocks noGrp="1"/>
          </p:cNvSpPr>
          <p:nvPr/>
        </p:nvSpPr>
        <p:spPr>
          <a:xfrm>
            <a:off x="10156508" y="4578096"/>
            <a:ext cx="3579971" cy="2492502"/>
          </a:xfrm>
          <a:prstGeom prst="roundRect">
            <a:avLst>
              <a:gd name="adj" fmla="val 3057"/>
            </a:avLst>
          </a:prstGeom>
          <a:solidFill>
            <a:srgbClr val="FFFFFF"/>
          </a:solidFill>
          <a:ln w="9525">
            <a:solidFill>
              <a:srgbClr val="E8DDCF"/>
            </a:solidFill>
            <a:prstDash val="solid"/>
          </a:ln>
        </p:spPr>
      </p:sp>
      <p:sp>
        <p:nvSpPr>
          <p:cNvPr id="20" name="Hình chữ nhật: Góc Tròn 19">
            <a:extLst>
              <a:ext uri="{FF2B5EF4-FFF2-40B4-BE49-F238E27FC236}">
                <a16:creationId xmlns:a16="http://schemas.microsoft.com/office/drawing/2014/main" id="{6EF7111E-7CA4-4959-AEC9-A308C6ED66BD}"/>
              </a:ext>
            </a:extLst>
          </p:cNvPr>
          <p:cNvSpPr>
            <a:spLocks noGrp="1"/>
          </p:cNvSpPr>
          <p:nvPr/>
        </p:nvSpPr>
        <p:spPr>
          <a:xfrm>
            <a:off x="10363200" y="4762500"/>
            <a:ext cx="104775" cy="323850"/>
          </a:xfrm>
          <a:prstGeom prst="roundRect">
            <a:avLst>
              <a:gd name="adj" fmla="val 50000"/>
            </a:avLst>
          </a:prstGeom>
          <a:solidFill>
            <a:srgbClr val="D9B760"/>
          </a:solidFill>
        </p:spPr>
      </p:sp>
      <p:sp>
        <p:nvSpPr>
          <p:cNvPr id="21" name="Hình chữ nhật 20">
            <a:extLst>
              <a:ext uri="{FF2B5EF4-FFF2-40B4-BE49-F238E27FC236}">
                <a16:creationId xmlns:a16="http://schemas.microsoft.com/office/drawing/2014/main" id="{5C46D305-E58A-428A-A85C-435FE93DBE8A}"/>
              </a:ext>
            </a:extLst>
          </p:cNvPr>
          <p:cNvSpPr>
            <a:spLocks noGrp="1"/>
          </p:cNvSpPr>
          <p:nvPr/>
        </p:nvSpPr>
        <p:spPr>
          <a:xfrm>
            <a:off x="10572750" y="4743450"/>
            <a:ext cx="295275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Commerce</a:t>
            </a:r>
          </a:p>
        </p:txBody>
      </p:sp>
      <p:sp>
        <p:nvSpPr>
          <p:cNvPr id="22" name="Hình chữ nhật 21">
            <a:extLst>
              <a:ext uri="{FF2B5EF4-FFF2-40B4-BE49-F238E27FC236}">
                <a16:creationId xmlns:a16="http://schemas.microsoft.com/office/drawing/2014/main" id="{6AA3BC67-C251-460C-AB05-FD46CF0B18ED}"/>
              </a:ext>
            </a:extLst>
          </p:cNvPr>
          <p:cNvSpPr>
            <a:spLocks noGrp="1"/>
          </p:cNvSpPr>
          <p:nvPr/>
        </p:nvSpPr>
        <p:spPr>
          <a:xfrm>
            <a:off x="10363200" y="5181600"/>
            <a:ext cx="3162300" cy="266700"/>
          </a:xfrm>
          <a:prstGeom prst="rect">
            <a:avLst/>
          </a:prstGeom>
        </p:spPr>
        <p:txBody>
          <a:bodyPr lIns="0" tIns="0" rIns="0" bIns="0"/>
          <a:lstStyle/>
          <a:p>
            <a:pPr>
              <a:lnSpc>
                <a:spcPct val="120000"/>
              </a:lnSpc>
              <a:buNone/>
              <a:defRPr sz="1425">
                <a:solidFill>
                  <a:srgbClr val="647067"/>
                </a:solidFill>
              </a:defRPr>
            </a:pPr>
            <a:r>
              <a:rPr sz="1425">
                <a:solidFill>
                  <a:srgbClr val="647067"/>
                </a:solidFill>
              </a:rPr>
              <a:t>Cart, checkout, order, payment, review</a:t>
            </a:r>
          </a:p>
        </p:txBody>
      </p:sp>
      <p:sp>
        <p:nvSpPr>
          <p:cNvPr id="23" name="Hình chữ nhật: Góc Tròn 22">
            <a:extLst>
              <a:ext uri="{FF2B5EF4-FFF2-40B4-BE49-F238E27FC236}">
                <a16:creationId xmlns:a16="http://schemas.microsoft.com/office/drawing/2014/main" id="{8E8B35A0-6436-40AE-B10A-57C35780D2A7}"/>
              </a:ext>
            </a:extLst>
          </p:cNvPr>
          <p:cNvSpPr>
            <a:spLocks noGrp="1"/>
          </p:cNvSpPr>
          <p:nvPr/>
        </p:nvSpPr>
        <p:spPr>
          <a:xfrm>
            <a:off x="13888879" y="4578096"/>
            <a:ext cx="3579971" cy="2492502"/>
          </a:xfrm>
          <a:prstGeom prst="roundRect">
            <a:avLst>
              <a:gd name="adj" fmla="val 3057"/>
            </a:avLst>
          </a:prstGeom>
          <a:solidFill>
            <a:srgbClr val="FFFFFF"/>
          </a:solidFill>
          <a:ln w="9525">
            <a:solidFill>
              <a:srgbClr val="E8DDCF"/>
            </a:solidFill>
            <a:prstDash val="solid"/>
          </a:ln>
        </p:spPr>
      </p:sp>
      <p:sp>
        <p:nvSpPr>
          <p:cNvPr id="24" name="Hình chữ nhật: Góc Tròn 23">
            <a:extLst>
              <a:ext uri="{FF2B5EF4-FFF2-40B4-BE49-F238E27FC236}">
                <a16:creationId xmlns:a16="http://schemas.microsoft.com/office/drawing/2014/main" id="{DA0BB609-46A0-4B45-9537-7BB677488E6B}"/>
              </a:ext>
            </a:extLst>
          </p:cNvPr>
          <p:cNvSpPr>
            <a:spLocks noGrp="1"/>
          </p:cNvSpPr>
          <p:nvPr/>
        </p:nvSpPr>
        <p:spPr>
          <a:xfrm>
            <a:off x="14097000" y="4762500"/>
            <a:ext cx="104775" cy="323850"/>
          </a:xfrm>
          <a:prstGeom prst="roundRect">
            <a:avLst>
              <a:gd name="adj" fmla="val 50000"/>
            </a:avLst>
          </a:prstGeom>
          <a:solidFill>
            <a:srgbClr val="F39A8A"/>
          </a:solidFill>
        </p:spPr>
      </p:sp>
      <p:sp>
        <p:nvSpPr>
          <p:cNvPr id="25" name="Hình chữ nhật 24">
            <a:extLst>
              <a:ext uri="{FF2B5EF4-FFF2-40B4-BE49-F238E27FC236}">
                <a16:creationId xmlns:a16="http://schemas.microsoft.com/office/drawing/2014/main" id="{DC02A754-B7C8-4B22-9BE1-D290B01E9839}"/>
              </a:ext>
            </a:extLst>
          </p:cNvPr>
          <p:cNvSpPr>
            <a:spLocks noGrp="1"/>
          </p:cNvSpPr>
          <p:nvPr/>
        </p:nvSpPr>
        <p:spPr>
          <a:xfrm>
            <a:off x="14306550" y="4743450"/>
            <a:ext cx="295275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Admin</a:t>
            </a:r>
          </a:p>
        </p:txBody>
      </p:sp>
      <p:sp>
        <p:nvSpPr>
          <p:cNvPr id="26" name="Hình chữ nhật 25">
            <a:extLst>
              <a:ext uri="{FF2B5EF4-FFF2-40B4-BE49-F238E27FC236}">
                <a16:creationId xmlns:a16="http://schemas.microsoft.com/office/drawing/2014/main" id="{A26B986B-E633-4A76-8B77-0FFE6E6408D3}"/>
              </a:ext>
            </a:extLst>
          </p:cNvPr>
          <p:cNvSpPr>
            <a:spLocks noGrp="1"/>
          </p:cNvSpPr>
          <p:nvPr/>
        </p:nvSpPr>
        <p:spPr>
          <a:xfrm>
            <a:off x="14097000" y="5181600"/>
            <a:ext cx="3162300" cy="266700"/>
          </a:xfrm>
          <a:prstGeom prst="rect">
            <a:avLst/>
          </a:prstGeom>
        </p:spPr>
        <p:txBody>
          <a:bodyPr lIns="0" tIns="0" rIns="0" bIns="0"/>
          <a:lstStyle/>
          <a:p>
            <a:pPr>
              <a:lnSpc>
                <a:spcPct val="120000"/>
              </a:lnSpc>
              <a:buNone/>
              <a:defRPr sz="1425">
                <a:solidFill>
                  <a:srgbClr val="647067"/>
                </a:solidFill>
              </a:defRPr>
            </a:pPr>
            <a:r>
              <a:rPr sz="1425">
                <a:solidFill>
                  <a:srgbClr val="647067"/>
                </a:solidFill>
              </a:rPr>
              <a:t>Dashboard vận hành và quản trị nội dung</a:t>
            </a:r>
          </a:p>
        </p:txBody>
      </p:sp>
      <p:sp>
        <p:nvSpPr>
          <p:cNvPr id="27" name="Hình chữ nhật: Góc Tròn 26">
            <a:extLst>
              <a:ext uri="{FF2B5EF4-FFF2-40B4-BE49-F238E27FC236}">
                <a16:creationId xmlns:a16="http://schemas.microsoft.com/office/drawing/2014/main" id="{1A15B078-EF45-44AF-AF18-A7B4D264CAD4}"/>
              </a:ext>
            </a:extLst>
          </p:cNvPr>
          <p:cNvSpPr>
            <a:spLocks noGrp="1"/>
          </p:cNvSpPr>
          <p:nvPr/>
        </p:nvSpPr>
        <p:spPr>
          <a:xfrm>
            <a:off x="10156508" y="7222998"/>
            <a:ext cx="3579971" cy="2492502"/>
          </a:xfrm>
          <a:prstGeom prst="roundRect">
            <a:avLst>
              <a:gd name="adj" fmla="val 3057"/>
            </a:avLst>
          </a:prstGeom>
          <a:solidFill>
            <a:srgbClr val="FFFFFF"/>
          </a:solidFill>
          <a:ln w="9525">
            <a:solidFill>
              <a:srgbClr val="E8DDCF"/>
            </a:solidFill>
            <a:prstDash val="solid"/>
          </a:ln>
        </p:spPr>
      </p:sp>
      <p:sp>
        <p:nvSpPr>
          <p:cNvPr id="28" name="Hình chữ nhật: Góc Tròn 27">
            <a:extLst>
              <a:ext uri="{FF2B5EF4-FFF2-40B4-BE49-F238E27FC236}">
                <a16:creationId xmlns:a16="http://schemas.microsoft.com/office/drawing/2014/main" id="{31C116B4-FB12-438E-8DD7-2186FA9D5094}"/>
              </a:ext>
            </a:extLst>
          </p:cNvPr>
          <p:cNvSpPr>
            <a:spLocks noGrp="1"/>
          </p:cNvSpPr>
          <p:nvPr/>
        </p:nvSpPr>
        <p:spPr>
          <a:xfrm>
            <a:off x="10363200" y="7429500"/>
            <a:ext cx="104775" cy="323850"/>
          </a:xfrm>
          <a:prstGeom prst="roundRect">
            <a:avLst>
              <a:gd name="adj" fmla="val 50000"/>
            </a:avLst>
          </a:prstGeom>
          <a:solidFill>
            <a:srgbClr val="7E3D4A"/>
          </a:solidFill>
        </p:spPr>
      </p:sp>
      <p:sp>
        <p:nvSpPr>
          <p:cNvPr id="29" name="Hình chữ nhật 28">
            <a:extLst>
              <a:ext uri="{FF2B5EF4-FFF2-40B4-BE49-F238E27FC236}">
                <a16:creationId xmlns:a16="http://schemas.microsoft.com/office/drawing/2014/main" id="{50E40054-DDF6-4AE5-912F-8C29726AC3AD}"/>
              </a:ext>
            </a:extLst>
          </p:cNvPr>
          <p:cNvSpPr>
            <a:spLocks noGrp="1"/>
          </p:cNvSpPr>
          <p:nvPr/>
        </p:nvSpPr>
        <p:spPr>
          <a:xfrm>
            <a:off x="10572750" y="7391400"/>
            <a:ext cx="295275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AI</a:t>
            </a:r>
          </a:p>
        </p:txBody>
      </p:sp>
      <p:sp>
        <p:nvSpPr>
          <p:cNvPr id="30" name="Hình chữ nhật 29">
            <a:extLst>
              <a:ext uri="{FF2B5EF4-FFF2-40B4-BE49-F238E27FC236}">
                <a16:creationId xmlns:a16="http://schemas.microsoft.com/office/drawing/2014/main" id="{F73E888A-1182-4C2C-A458-246AE38103C1}"/>
              </a:ext>
            </a:extLst>
          </p:cNvPr>
          <p:cNvSpPr>
            <a:spLocks noGrp="1"/>
          </p:cNvSpPr>
          <p:nvPr/>
        </p:nvSpPr>
        <p:spPr>
          <a:xfrm>
            <a:off x="10363200" y="7829550"/>
            <a:ext cx="3162300" cy="266700"/>
          </a:xfrm>
          <a:prstGeom prst="rect">
            <a:avLst/>
          </a:prstGeom>
        </p:spPr>
        <p:txBody>
          <a:bodyPr lIns="0" tIns="0" rIns="0" bIns="0"/>
          <a:lstStyle/>
          <a:p>
            <a:pPr>
              <a:lnSpc>
                <a:spcPct val="120000"/>
              </a:lnSpc>
              <a:buNone/>
              <a:defRPr sz="1425">
                <a:solidFill>
                  <a:srgbClr val="647067"/>
                </a:solidFill>
              </a:defRPr>
            </a:pPr>
            <a:r>
              <a:rPr sz="1425">
                <a:solidFill>
                  <a:srgbClr val="647067"/>
                </a:solidFill>
              </a:rPr>
              <a:t>Chat + voice tư vấn theo ngữ cảnh</a:t>
            </a:r>
          </a:p>
        </p:txBody>
      </p:sp>
      <p:sp>
        <p:nvSpPr>
          <p:cNvPr id="31" name="Hình chữ nhật: Góc Tròn 30">
            <a:extLst>
              <a:ext uri="{FF2B5EF4-FFF2-40B4-BE49-F238E27FC236}">
                <a16:creationId xmlns:a16="http://schemas.microsoft.com/office/drawing/2014/main" id="{145390F1-EE12-4F86-842E-556026B116BD}"/>
              </a:ext>
            </a:extLst>
          </p:cNvPr>
          <p:cNvSpPr>
            <a:spLocks noGrp="1"/>
          </p:cNvSpPr>
          <p:nvPr/>
        </p:nvSpPr>
        <p:spPr>
          <a:xfrm>
            <a:off x="13888879" y="7222998"/>
            <a:ext cx="3579971" cy="2492502"/>
          </a:xfrm>
          <a:prstGeom prst="roundRect">
            <a:avLst>
              <a:gd name="adj" fmla="val 3057"/>
            </a:avLst>
          </a:prstGeom>
          <a:solidFill>
            <a:srgbClr val="FFFFFF"/>
          </a:solidFill>
          <a:ln w="9525">
            <a:solidFill>
              <a:srgbClr val="E8DDCF"/>
            </a:solidFill>
            <a:prstDash val="solid"/>
          </a:ln>
        </p:spPr>
      </p:sp>
      <p:sp>
        <p:nvSpPr>
          <p:cNvPr id="32" name="Hình chữ nhật: Góc Tròn 31">
            <a:extLst>
              <a:ext uri="{FF2B5EF4-FFF2-40B4-BE49-F238E27FC236}">
                <a16:creationId xmlns:a16="http://schemas.microsoft.com/office/drawing/2014/main" id="{BD77F12F-D712-4997-B06A-B24F9DE91B05}"/>
              </a:ext>
            </a:extLst>
          </p:cNvPr>
          <p:cNvSpPr>
            <a:spLocks noGrp="1"/>
          </p:cNvSpPr>
          <p:nvPr/>
        </p:nvSpPr>
        <p:spPr>
          <a:xfrm>
            <a:off x="14097000" y="7429500"/>
            <a:ext cx="104775" cy="323850"/>
          </a:xfrm>
          <a:prstGeom prst="roundRect">
            <a:avLst>
              <a:gd name="adj" fmla="val 50000"/>
            </a:avLst>
          </a:prstGeom>
          <a:solidFill>
            <a:srgbClr val="25384A"/>
          </a:solidFill>
        </p:spPr>
      </p:sp>
      <p:sp>
        <p:nvSpPr>
          <p:cNvPr id="33" name="Hình chữ nhật 32">
            <a:extLst>
              <a:ext uri="{FF2B5EF4-FFF2-40B4-BE49-F238E27FC236}">
                <a16:creationId xmlns:a16="http://schemas.microsoft.com/office/drawing/2014/main" id="{26DF4B16-E934-40A4-8436-6D7C3A2DCD03}"/>
              </a:ext>
            </a:extLst>
          </p:cNvPr>
          <p:cNvSpPr>
            <a:spLocks noGrp="1"/>
          </p:cNvSpPr>
          <p:nvPr/>
        </p:nvSpPr>
        <p:spPr>
          <a:xfrm>
            <a:off x="14306550" y="7391400"/>
            <a:ext cx="295275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Deploy</a:t>
            </a:r>
          </a:p>
        </p:txBody>
      </p:sp>
      <p:sp>
        <p:nvSpPr>
          <p:cNvPr id="34" name="Hình chữ nhật 33">
            <a:extLst>
              <a:ext uri="{FF2B5EF4-FFF2-40B4-BE49-F238E27FC236}">
                <a16:creationId xmlns:a16="http://schemas.microsoft.com/office/drawing/2014/main" id="{19F63418-525F-414F-9ACA-B9D479A0D2A2}"/>
              </a:ext>
            </a:extLst>
          </p:cNvPr>
          <p:cNvSpPr>
            <a:spLocks noGrp="1"/>
          </p:cNvSpPr>
          <p:nvPr/>
        </p:nvSpPr>
        <p:spPr>
          <a:xfrm>
            <a:off x="14097000" y="7829550"/>
            <a:ext cx="3162300" cy="266700"/>
          </a:xfrm>
          <a:prstGeom prst="rect">
            <a:avLst/>
          </a:prstGeom>
        </p:spPr>
        <p:txBody>
          <a:bodyPr lIns="0" tIns="0" rIns="0" bIns="0"/>
          <a:lstStyle/>
          <a:p>
            <a:pPr>
              <a:lnSpc>
                <a:spcPct val="120000"/>
              </a:lnSpc>
              <a:buNone/>
              <a:defRPr sz="1425">
                <a:solidFill>
                  <a:srgbClr val="647067"/>
                </a:solidFill>
              </a:defRPr>
            </a:pPr>
            <a:r>
              <a:rPr sz="1425">
                <a:solidFill>
                  <a:srgbClr val="647067"/>
                </a:solidFill>
              </a:rPr>
              <a:t>Docker Compose + Nginx reverse proxy</a:t>
            </a:r>
          </a:p>
        </p:txBody>
      </p:sp>
    </p:spTree>
    <p:extLst>
      <p:ext uri="{BB962C8B-B14F-4D97-AF65-F5344CB8AC3E}">
        <p14:creationId xmlns:p14="http://schemas.microsoft.com/office/powerpoint/2010/main" val="461878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background">
            <a:extLst>
              <a:ext uri="{FF2B5EF4-FFF2-40B4-BE49-F238E27FC236}">
                <a16:creationId xmlns:a16="http://schemas.microsoft.com/office/drawing/2014/main" id="{AA8BA416-D1E6-4241-A949-E81D435252C5}"/>
              </a:ext>
            </a:extLst>
          </p:cNvPr>
          <p:cNvSpPr>
            <a:spLocks noGrp="1"/>
          </p:cNvSpPr>
          <p:nvPr/>
        </p:nvSpPr>
        <p:spPr>
          <a:xfrm>
            <a:off x="0" y="0"/>
            <a:ext cx="18288000" cy="10287000"/>
          </a:xfrm>
          <a:prstGeom prst="rect">
            <a:avLst/>
          </a:prstGeom>
          <a:solidFill>
            <a:srgbClr val="FFFDF8"/>
          </a:solidFill>
        </p:spPr>
      </p:sp>
      <p:sp>
        <p:nvSpPr>
          <p:cNvPr id="2" name="top-band">
            <a:extLst>
              <a:ext uri="{FF2B5EF4-FFF2-40B4-BE49-F238E27FC236}">
                <a16:creationId xmlns:a16="http://schemas.microsoft.com/office/drawing/2014/main" id="{37959781-F9F6-47B8-BB87-75BC3DB01253}"/>
              </a:ext>
            </a:extLst>
          </p:cNvPr>
          <p:cNvSpPr>
            <a:spLocks noGrp="1"/>
          </p:cNvSpPr>
          <p:nvPr/>
        </p:nvSpPr>
        <p:spPr>
          <a:xfrm>
            <a:off x="0" y="0"/>
            <a:ext cx="18288000" cy="152400"/>
          </a:xfrm>
          <a:prstGeom prst="rect">
            <a:avLst/>
          </a:prstGeom>
          <a:solidFill>
            <a:srgbClr val="87B8D6"/>
          </a:solidFill>
        </p:spPr>
      </p:sp>
      <p:sp>
        <p:nvSpPr>
          <p:cNvPr id="3" name="bottom-band">
            <a:extLst>
              <a:ext uri="{FF2B5EF4-FFF2-40B4-BE49-F238E27FC236}">
                <a16:creationId xmlns:a16="http://schemas.microsoft.com/office/drawing/2014/main" id="{327F37E2-CE65-4583-9FDD-786DDE6EB9BF}"/>
              </a:ext>
            </a:extLst>
          </p:cNvPr>
          <p:cNvSpPr>
            <a:spLocks noGrp="1"/>
          </p:cNvSpPr>
          <p:nvPr/>
        </p:nvSpPr>
        <p:spPr>
          <a:xfrm>
            <a:off x="0" y="0"/>
            <a:ext cx="18288000" cy="76200"/>
          </a:xfrm>
          <a:prstGeom prst="rect">
            <a:avLst/>
          </a:prstGeom>
          <a:solidFill>
            <a:srgbClr val="D9B760"/>
          </a:solidFill>
        </p:spPr>
      </p:sp>
      <p:sp>
        <p:nvSpPr>
          <p:cNvPr id="4" name="Hình chữ nhật: Góc Tròn 3">
            <a:extLst>
              <a:ext uri="{FF2B5EF4-FFF2-40B4-BE49-F238E27FC236}">
                <a16:creationId xmlns:a16="http://schemas.microsoft.com/office/drawing/2014/main" id="{EDA297CF-F32F-4B8E-B78F-5F8D4F123B13}"/>
              </a:ext>
            </a:extLst>
          </p:cNvPr>
          <p:cNvSpPr>
            <a:spLocks noGrp="1"/>
          </p:cNvSpPr>
          <p:nvPr/>
        </p:nvSpPr>
        <p:spPr>
          <a:xfrm>
            <a:off x="838200" y="647700"/>
            <a:ext cx="400050" cy="95250"/>
          </a:xfrm>
          <a:prstGeom prst="roundRect">
            <a:avLst>
              <a:gd name="adj" fmla="val 50000"/>
            </a:avLst>
          </a:prstGeom>
          <a:solidFill>
            <a:srgbClr val="87B8D6"/>
          </a:solidFill>
        </p:spPr>
      </p:sp>
      <p:sp>
        <p:nvSpPr>
          <p:cNvPr id="5" name="Hình chữ nhật 4">
            <a:extLst>
              <a:ext uri="{FF2B5EF4-FFF2-40B4-BE49-F238E27FC236}">
                <a16:creationId xmlns:a16="http://schemas.microsoft.com/office/drawing/2014/main" id="{5C448A19-91FD-4D7B-ACBF-4984A8BB00E9}"/>
              </a:ext>
            </a:extLst>
          </p:cNvPr>
          <p:cNvSpPr>
            <a:spLocks noGrp="1"/>
          </p:cNvSpPr>
          <p:nvPr/>
        </p:nvSpPr>
        <p:spPr>
          <a:xfrm>
            <a:off x="1371600" y="571500"/>
            <a:ext cx="15544800" cy="228600"/>
          </a:xfrm>
          <a:prstGeom prst="rect">
            <a:avLst/>
          </a:prstGeom>
        </p:spPr>
        <p:txBody>
          <a:bodyPr lIns="0" tIns="0" rIns="0" bIns="0"/>
          <a:lstStyle/>
          <a:p>
            <a:pPr>
              <a:lnSpc>
                <a:spcPct val="125000"/>
              </a:lnSpc>
              <a:buNone/>
              <a:defRPr sz="1200" b="1">
                <a:solidFill>
                  <a:srgbClr val="7E3D4A"/>
                </a:solidFill>
              </a:defRPr>
            </a:pPr>
            <a:r>
              <a:rPr sz="1200" b="1">
                <a:solidFill>
                  <a:srgbClr val="7E3D4A"/>
                </a:solidFill>
              </a:rPr>
              <a:t>PHẠM VI</a:t>
            </a:r>
          </a:p>
        </p:txBody>
      </p:sp>
      <p:sp>
        <p:nvSpPr>
          <p:cNvPr id="6" name="Hình chữ nhật 5">
            <a:extLst>
              <a:ext uri="{FF2B5EF4-FFF2-40B4-BE49-F238E27FC236}">
                <a16:creationId xmlns:a16="http://schemas.microsoft.com/office/drawing/2014/main" id="{1AA58B53-D506-4FEC-8FA2-135DB892EF43}"/>
              </a:ext>
            </a:extLst>
          </p:cNvPr>
          <p:cNvSpPr>
            <a:spLocks noGrp="1"/>
          </p:cNvSpPr>
          <p:nvPr/>
        </p:nvSpPr>
        <p:spPr>
          <a:xfrm>
            <a:off x="17068800" y="571500"/>
            <a:ext cx="400050" cy="228600"/>
          </a:xfrm>
          <a:prstGeom prst="rect">
            <a:avLst/>
          </a:prstGeom>
        </p:spPr>
        <p:txBody>
          <a:bodyPr lIns="0" tIns="0" rIns="0" bIns="0"/>
          <a:lstStyle/>
          <a:p>
            <a:pPr>
              <a:lnSpc>
                <a:spcPct val="120000"/>
              </a:lnSpc>
              <a:buNone/>
              <a:defRPr sz="1275" b="1">
                <a:solidFill>
                  <a:srgbClr val="7E3D4A"/>
                </a:solidFill>
              </a:defRPr>
            </a:pPr>
            <a:r>
              <a:rPr sz="1275" b="1">
                <a:solidFill>
                  <a:srgbClr val="7E3D4A"/>
                </a:solidFill>
              </a:rPr>
              <a:t>05/30</a:t>
            </a:r>
          </a:p>
        </p:txBody>
      </p:sp>
      <p:sp>
        <p:nvSpPr>
          <p:cNvPr id="7" name="slide-title">
            <a:extLst>
              <a:ext uri="{FF2B5EF4-FFF2-40B4-BE49-F238E27FC236}">
                <a16:creationId xmlns:a16="http://schemas.microsoft.com/office/drawing/2014/main" id="{9FB53BBD-A780-417F-A765-CF9700778D26}"/>
              </a:ext>
            </a:extLst>
          </p:cNvPr>
          <p:cNvSpPr>
            <a:spLocks noGrp="1"/>
          </p:cNvSpPr>
          <p:nvPr/>
        </p:nvSpPr>
        <p:spPr>
          <a:xfrm>
            <a:off x="819150" y="933450"/>
            <a:ext cx="16649700" cy="590550"/>
          </a:xfrm>
          <a:prstGeom prst="rect">
            <a:avLst/>
          </a:prstGeom>
        </p:spPr>
        <p:txBody>
          <a:bodyPr lIns="0" tIns="0" rIns="0" bIns="0"/>
          <a:lstStyle/>
          <a:p>
            <a:pPr>
              <a:lnSpc>
                <a:spcPct val="105000"/>
              </a:lnSpc>
              <a:buNone/>
              <a:defRPr sz="3600" b="1">
                <a:solidFill>
                  <a:srgbClr val="151515"/>
                </a:solidFill>
              </a:defRPr>
            </a:pPr>
            <a:r>
              <a:rPr sz="3600" b="1">
                <a:solidFill>
                  <a:srgbClr val="151515"/>
                </a:solidFill>
              </a:rPr>
              <a:t>Phạm vi đề tài được giữ rõ để demo mạch lạc</a:t>
            </a:r>
          </a:p>
        </p:txBody>
      </p:sp>
      <p:sp>
        <p:nvSpPr>
          <p:cNvPr id="8" name="title-rule">
            <a:extLst>
              <a:ext uri="{FF2B5EF4-FFF2-40B4-BE49-F238E27FC236}">
                <a16:creationId xmlns:a16="http://schemas.microsoft.com/office/drawing/2014/main" id="{66A35DCE-DA78-4CDF-854F-C97D3035F9AE}"/>
              </a:ext>
            </a:extLst>
          </p:cNvPr>
          <p:cNvSpPr>
            <a:spLocks noGrp="1"/>
          </p:cNvSpPr>
          <p:nvPr/>
        </p:nvSpPr>
        <p:spPr>
          <a:xfrm>
            <a:off x="819150" y="1619250"/>
            <a:ext cx="1905000" cy="38100"/>
          </a:xfrm>
          <a:prstGeom prst="rect">
            <a:avLst/>
          </a:prstGeom>
          <a:solidFill>
            <a:srgbClr val="87B8D6"/>
          </a:solidFill>
          <a:ln w="0">
            <a:solidFill>
              <a:srgbClr val="87B8D6"/>
            </a:solidFill>
            <a:prstDash val="solid"/>
          </a:ln>
        </p:spPr>
      </p:sp>
      <p:sp>
        <p:nvSpPr>
          <p:cNvPr id="9" name="Hình chữ nhật: Góc Tròn 8">
            <a:extLst>
              <a:ext uri="{FF2B5EF4-FFF2-40B4-BE49-F238E27FC236}">
                <a16:creationId xmlns:a16="http://schemas.microsoft.com/office/drawing/2014/main" id="{D8EF402F-FAC7-40D2-9D0F-07800AB8AC97}"/>
              </a:ext>
            </a:extLst>
          </p:cNvPr>
          <p:cNvSpPr>
            <a:spLocks noGrp="1"/>
          </p:cNvSpPr>
          <p:nvPr/>
        </p:nvSpPr>
        <p:spPr>
          <a:xfrm>
            <a:off x="819150" y="1933194"/>
            <a:ext cx="8143875" cy="2653475"/>
          </a:xfrm>
          <a:prstGeom prst="roundRect">
            <a:avLst>
              <a:gd name="adj" fmla="val 2872"/>
            </a:avLst>
          </a:prstGeom>
          <a:solidFill>
            <a:srgbClr val="FEFCF8"/>
          </a:solidFill>
          <a:ln w="9525">
            <a:solidFill>
              <a:srgbClr val="E8DDCF"/>
            </a:solidFill>
            <a:prstDash val="solid"/>
          </a:ln>
        </p:spPr>
      </p:sp>
      <p:sp>
        <p:nvSpPr>
          <p:cNvPr id="10" name="Hình chữ nhật: Góc Tròn 9">
            <a:extLst>
              <a:ext uri="{FF2B5EF4-FFF2-40B4-BE49-F238E27FC236}">
                <a16:creationId xmlns:a16="http://schemas.microsoft.com/office/drawing/2014/main" id="{0B8AD11C-ECB7-4C8F-918B-DE342938935B}"/>
              </a:ext>
            </a:extLst>
          </p:cNvPr>
          <p:cNvSpPr>
            <a:spLocks noGrp="1"/>
          </p:cNvSpPr>
          <p:nvPr/>
        </p:nvSpPr>
        <p:spPr>
          <a:xfrm>
            <a:off x="1028700" y="2171700"/>
            <a:ext cx="104775" cy="323850"/>
          </a:xfrm>
          <a:prstGeom prst="roundRect">
            <a:avLst>
              <a:gd name="adj" fmla="val 50000"/>
            </a:avLst>
          </a:prstGeom>
          <a:solidFill>
            <a:srgbClr val="77B8A4"/>
          </a:solidFill>
        </p:spPr>
      </p:sp>
      <p:sp>
        <p:nvSpPr>
          <p:cNvPr id="11" name="Hình chữ nhật 10">
            <a:extLst>
              <a:ext uri="{FF2B5EF4-FFF2-40B4-BE49-F238E27FC236}">
                <a16:creationId xmlns:a16="http://schemas.microsoft.com/office/drawing/2014/main" id="{B8E6836B-590D-4732-9768-6E1BBDF1093A}"/>
              </a:ext>
            </a:extLst>
          </p:cNvPr>
          <p:cNvSpPr>
            <a:spLocks noGrp="1"/>
          </p:cNvSpPr>
          <p:nvPr/>
        </p:nvSpPr>
        <p:spPr>
          <a:xfrm>
            <a:off x="1238250" y="2095500"/>
            <a:ext cx="7524750" cy="419100"/>
          </a:xfrm>
          <a:prstGeom prst="rect">
            <a:avLst/>
          </a:prstGeom>
        </p:spPr>
        <p:txBody>
          <a:bodyPr lIns="0" tIns="0" rIns="0" bIns="0"/>
          <a:lstStyle/>
          <a:p>
            <a:pPr>
              <a:lnSpc>
                <a:spcPct val="125000"/>
              </a:lnSpc>
              <a:buNone/>
              <a:defRPr sz="2175" b="1">
                <a:solidFill>
                  <a:srgbClr val="151515"/>
                </a:solidFill>
              </a:defRPr>
            </a:pPr>
            <a:r>
              <a:rPr sz="2175" b="1">
                <a:solidFill>
                  <a:srgbClr val="151515"/>
                </a:solidFill>
              </a:rPr>
              <a:t>Trong phạm vi</a:t>
            </a:r>
          </a:p>
        </p:txBody>
      </p:sp>
      <p:sp>
        <p:nvSpPr>
          <p:cNvPr id="12" name="Hình chữ nhật 11">
            <a:extLst>
              <a:ext uri="{FF2B5EF4-FFF2-40B4-BE49-F238E27FC236}">
                <a16:creationId xmlns:a16="http://schemas.microsoft.com/office/drawing/2014/main" id="{E9CBCBE2-2450-4700-A008-5D7C772037E4}"/>
              </a:ext>
            </a:extLst>
          </p:cNvPr>
          <p:cNvSpPr>
            <a:spLocks noGrp="1"/>
          </p:cNvSpPr>
          <p:nvPr/>
        </p:nvSpPr>
        <p:spPr>
          <a:xfrm>
            <a:off x="1028700" y="2609850"/>
            <a:ext cx="7734300" cy="1828800"/>
          </a:xfrm>
          <a:prstGeom prst="rect">
            <a:avLst/>
          </a:prstGeom>
        </p:spPr>
        <p:txBody>
          <a:bodyPr lIns="0" tIns="0" rIns="0" bIns="0"/>
          <a:lstStyle/>
          <a:p>
            <a:pPr>
              <a:lnSpc>
                <a:spcPct val="120000"/>
              </a:lnSpc>
              <a:buNone/>
              <a:defRPr sz="1650">
                <a:solidFill>
                  <a:srgbClr val="647067"/>
                </a:solidFill>
              </a:defRPr>
            </a:pPr>
            <a:r>
              <a:rPr sz="1650">
                <a:solidFill>
                  <a:srgbClr val="647067"/>
                </a:solidFill>
              </a:rPr>
              <a:t>Website khách hàng, auth, catalog, search/filter</a:t>
            </a:r>
          </a:p>
          <a:p>
            <a:pPr>
              <a:lnSpc>
                <a:spcPct val="120000"/>
              </a:lnSpc>
              <a:buNone/>
              <a:defRPr sz="1650">
                <a:solidFill>
                  <a:srgbClr val="647067"/>
                </a:solidFill>
              </a:defRPr>
            </a:pPr>
            <a:r>
              <a:rPr sz="1650">
                <a:solidFill>
                  <a:srgbClr val="647067"/>
                </a:solidFill>
              </a:rPr>
              <a:t>Cart, checkout, order, payment, wishlist, review</a:t>
            </a:r>
          </a:p>
          <a:p>
            <a:pPr>
              <a:lnSpc>
                <a:spcPct val="120000"/>
              </a:lnSpc>
              <a:buNone/>
              <a:defRPr sz="1650">
                <a:solidFill>
                  <a:srgbClr val="647067"/>
                </a:solidFill>
              </a:defRPr>
            </a:pPr>
            <a:r>
              <a:rPr sz="1650">
                <a:solidFill>
                  <a:srgbClr val="647067"/>
                </a:solidFill>
              </a:rPr>
              <a:t>Admin dashboard, product, variant, order, user</a:t>
            </a:r>
          </a:p>
          <a:p>
            <a:pPr>
              <a:lnSpc>
                <a:spcPct val="120000"/>
              </a:lnSpc>
              <a:buNone/>
              <a:defRPr sz="1650">
                <a:solidFill>
                  <a:srgbClr val="647067"/>
                </a:solidFill>
              </a:defRPr>
            </a:pPr>
            <a:r>
              <a:rPr sz="1650">
                <a:solidFill>
                  <a:srgbClr val="647067"/>
                </a:solidFill>
              </a:rPr>
              <a:t>Content marketing: banner, blog, popup, page content</a:t>
            </a:r>
          </a:p>
          <a:p>
            <a:pPr>
              <a:lnSpc>
                <a:spcPct val="120000"/>
              </a:lnSpc>
              <a:buNone/>
              <a:defRPr sz="1650">
                <a:solidFill>
                  <a:srgbClr val="647067"/>
                </a:solidFill>
              </a:defRPr>
            </a:pPr>
            <a:r>
              <a:rPr sz="1650">
                <a:solidFill>
                  <a:srgbClr val="647067"/>
                </a:solidFill>
              </a:rPr>
              <a:t>AI Stylist chat, voice, Live2D mascot</a:t>
            </a:r>
          </a:p>
          <a:p>
            <a:pPr>
              <a:lnSpc>
                <a:spcPct val="120000"/>
              </a:lnSpc>
              <a:buNone/>
              <a:defRPr sz="1650">
                <a:solidFill>
                  <a:srgbClr val="647067"/>
                </a:solidFill>
              </a:defRPr>
            </a:pPr>
            <a:r>
              <a:rPr sz="1650">
                <a:solidFill>
                  <a:srgbClr val="647067"/>
                </a:solidFill>
              </a:rPr>
              <a:t>Docker, Nginx, PostgreSQL</a:t>
            </a:r>
          </a:p>
        </p:txBody>
      </p:sp>
      <p:sp>
        <p:nvSpPr>
          <p:cNvPr id="13" name="Hình chữ nhật: Góc Tròn 12">
            <a:extLst>
              <a:ext uri="{FF2B5EF4-FFF2-40B4-BE49-F238E27FC236}">
                <a16:creationId xmlns:a16="http://schemas.microsoft.com/office/drawing/2014/main" id="{8E5FB2E4-8C50-4B4E-89A7-A376AB6C3A50}"/>
              </a:ext>
            </a:extLst>
          </p:cNvPr>
          <p:cNvSpPr>
            <a:spLocks noGrp="1"/>
          </p:cNvSpPr>
          <p:nvPr/>
        </p:nvSpPr>
        <p:spPr>
          <a:xfrm>
            <a:off x="9324975" y="1933194"/>
            <a:ext cx="8143875" cy="2049970"/>
          </a:xfrm>
          <a:prstGeom prst="roundRect">
            <a:avLst>
              <a:gd name="adj" fmla="val 3717"/>
            </a:avLst>
          </a:prstGeom>
          <a:solidFill>
            <a:srgbClr val="FEFCF8"/>
          </a:solidFill>
          <a:ln w="9525">
            <a:solidFill>
              <a:srgbClr val="E8DDCF"/>
            </a:solidFill>
            <a:prstDash val="solid"/>
          </a:ln>
        </p:spPr>
      </p:sp>
      <p:sp>
        <p:nvSpPr>
          <p:cNvPr id="14" name="Hình chữ nhật: Góc Tròn 13">
            <a:extLst>
              <a:ext uri="{FF2B5EF4-FFF2-40B4-BE49-F238E27FC236}">
                <a16:creationId xmlns:a16="http://schemas.microsoft.com/office/drawing/2014/main" id="{87790227-56FB-485F-8185-2E9A7A7A57E3}"/>
              </a:ext>
            </a:extLst>
          </p:cNvPr>
          <p:cNvSpPr>
            <a:spLocks noGrp="1"/>
          </p:cNvSpPr>
          <p:nvPr/>
        </p:nvSpPr>
        <p:spPr>
          <a:xfrm>
            <a:off x="9525000" y="2171700"/>
            <a:ext cx="104775" cy="323850"/>
          </a:xfrm>
          <a:prstGeom prst="roundRect">
            <a:avLst>
              <a:gd name="adj" fmla="val 50000"/>
            </a:avLst>
          </a:prstGeom>
          <a:solidFill>
            <a:srgbClr val="F39A8A"/>
          </a:solidFill>
        </p:spPr>
      </p:sp>
      <p:sp>
        <p:nvSpPr>
          <p:cNvPr id="15" name="Hình chữ nhật 14">
            <a:extLst>
              <a:ext uri="{FF2B5EF4-FFF2-40B4-BE49-F238E27FC236}">
                <a16:creationId xmlns:a16="http://schemas.microsoft.com/office/drawing/2014/main" id="{86D6B6E0-207A-4E20-BC1D-FBF385A9D59E}"/>
              </a:ext>
            </a:extLst>
          </p:cNvPr>
          <p:cNvSpPr>
            <a:spLocks noGrp="1"/>
          </p:cNvSpPr>
          <p:nvPr/>
        </p:nvSpPr>
        <p:spPr>
          <a:xfrm>
            <a:off x="9734550" y="2095500"/>
            <a:ext cx="7524750" cy="419100"/>
          </a:xfrm>
          <a:prstGeom prst="rect">
            <a:avLst/>
          </a:prstGeom>
        </p:spPr>
        <p:txBody>
          <a:bodyPr lIns="0" tIns="0" rIns="0" bIns="0"/>
          <a:lstStyle/>
          <a:p>
            <a:pPr>
              <a:lnSpc>
                <a:spcPct val="125000"/>
              </a:lnSpc>
              <a:buNone/>
              <a:defRPr sz="2175" b="1">
                <a:solidFill>
                  <a:srgbClr val="151515"/>
                </a:solidFill>
              </a:defRPr>
            </a:pPr>
            <a:r>
              <a:rPr sz="2175" b="1">
                <a:solidFill>
                  <a:srgbClr val="151515"/>
                </a:solidFill>
              </a:rPr>
              <a:t>Ngoài phạm vi hiện tại</a:t>
            </a:r>
          </a:p>
        </p:txBody>
      </p:sp>
      <p:sp>
        <p:nvSpPr>
          <p:cNvPr id="16" name="Hình chữ nhật 15">
            <a:extLst>
              <a:ext uri="{FF2B5EF4-FFF2-40B4-BE49-F238E27FC236}">
                <a16:creationId xmlns:a16="http://schemas.microsoft.com/office/drawing/2014/main" id="{AC69E24D-373F-41F9-9A6C-8CF38988507C}"/>
              </a:ext>
            </a:extLst>
          </p:cNvPr>
          <p:cNvSpPr>
            <a:spLocks noGrp="1"/>
          </p:cNvSpPr>
          <p:nvPr/>
        </p:nvSpPr>
        <p:spPr>
          <a:xfrm>
            <a:off x="9544050" y="2609850"/>
            <a:ext cx="7734300" cy="1219200"/>
          </a:xfrm>
          <a:prstGeom prst="rect">
            <a:avLst/>
          </a:prstGeom>
        </p:spPr>
        <p:txBody>
          <a:bodyPr lIns="0" tIns="0" rIns="0" bIns="0"/>
          <a:lstStyle/>
          <a:p>
            <a:pPr>
              <a:lnSpc>
                <a:spcPct val="120000"/>
              </a:lnSpc>
              <a:buNone/>
              <a:defRPr sz="1650">
                <a:solidFill>
                  <a:srgbClr val="647067"/>
                </a:solidFill>
              </a:defRPr>
            </a:pPr>
            <a:r>
              <a:rPr sz="1650">
                <a:solidFill>
                  <a:srgbClr val="647067"/>
                </a:solidFill>
              </a:rPr>
              <a:t>Mobile app native</a:t>
            </a:r>
          </a:p>
          <a:p>
            <a:pPr>
              <a:lnSpc>
                <a:spcPct val="120000"/>
              </a:lnSpc>
              <a:buNone/>
              <a:defRPr sz="1650">
                <a:solidFill>
                  <a:srgbClr val="647067"/>
                </a:solidFill>
              </a:defRPr>
            </a:pPr>
            <a:r>
              <a:rPr sz="1650">
                <a:solidFill>
                  <a:srgbClr val="647067"/>
                </a:solidFill>
              </a:rPr>
              <a:t>Inventory nhiều kho/cửa hàng phức tạp</a:t>
            </a:r>
          </a:p>
          <a:p>
            <a:pPr>
              <a:lnSpc>
                <a:spcPct val="120000"/>
              </a:lnSpc>
              <a:buNone/>
              <a:defRPr sz="1650">
                <a:solidFill>
                  <a:srgbClr val="647067"/>
                </a:solidFill>
              </a:defRPr>
            </a:pPr>
            <a:r>
              <a:rPr sz="1650">
                <a:solidFill>
                  <a:srgbClr val="647067"/>
                </a:solidFill>
              </a:rPr>
              <a:t>ERP/CRM enterprise riêng</a:t>
            </a:r>
          </a:p>
          <a:p>
            <a:pPr>
              <a:lnSpc>
                <a:spcPct val="120000"/>
              </a:lnSpc>
              <a:buNone/>
              <a:defRPr sz="1650">
                <a:solidFill>
                  <a:srgbClr val="647067"/>
                </a:solidFill>
              </a:defRPr>
            </a:pPr>
            <a:r>
              <a:rPr sz="1650">
                <a:solidFill>
                  <a:srgbClr val="647067"/>
                </a:solidFill>
              </a:rPr>
              <a:t>AI training service tách biệt ngoài backend</a:t>
            </a:r>
          </a:p>
        </p:txBody>
      </p:sp>
    </p:spTree>
    <p:extLst>
      <p:ext uri="{BB962C8B-B14F-4D97-AF65-F5344CB8AC3E}">
        <p14:creationId xmlns:p14="http://schemas.microsoft.com/office/powerpoint/2010/main" val="620084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background">
            <a:extLst>
              <a:ext uri="{FF2B5EF4-FFF2-40B4-BE49-F238E27FC236}">
                <a16:creationId xmlns:a16="http://schemas.microsoft.com/office/drawing/2014/main" id="{A92036D5-B1D5-4B14-884F-53D226293BFA}"/>
              </a:ext>
            </a:extLst>
          </p:cNvPr>
          <p:cNvSpPr>
            <a:spLocks noGrp="1"/>
          </p:cNvSpPr>
          <p:nvPr/>
        </p:nvSpPr>
        <p:spPr>
          <a:xfrm>
            <a:off x="0" y="0"/>
            <a:ext cx="18288000" cy="10287000"/>
          </a:xfrm>
          <a:prstGeom prst="rect">
            <a:avLst/>
          </a:prstGeom>
          <a:solidFill>
            <a:srgbClr val="FFFDF8"/>
          </a:solidFill>
        </p:spPr>
      </p:sp>
      <p:sp>
        <p:nvSpPr>
          <p:cNvPr id="2" name="top-band">
            <a:extLst>
              <a:ext uri="{FF2B5EF4-FFF2-40B4-BE49-F238E27FC236}">
                <a16:creationId xmlns:a16="http://schemas.microsoft.com/office/drawing/2014/main" id="{51B08930-B6E7-4B0F-ABBD-93537407169B}"/>
              </a:ext>
            </a:extLst>
          </p:cNvPr>
          <p:cNvSpPr>
            <a:spLocks noGrp="1"/>
          </p:cNvSpPr>
          <p:nvPr/>
        </p:nvSpPr>
        <p:spPr>
          <a:xfrm>
            <a:off x="0" y="0"/>
            <a:ext cx="18288000" cy="152400"/>
          </a:xfrm>
          <a:prstGeom prst="rect">
            <a:avLst/>
          </a:prstGeom>
          <a:solidFill>
            <a:srgbClr val="7E3D4A"/>
          </a:solidFill>
        </p:spPr>
      </p:sp>
      <p:sp>
        <p:nvSpPr>
          <p:cNvPr id="3" name="bottom-band">
            <a:extLst>
              <a:ext uri="{FF2B5EF4-FFF2-40B4-BE49-F238E27FC236}">
                <a16:creationId xmlns:a16="http://schemas.microsoft.com/office/drawing/2014/main" id="{168C4B9E-09EC-4EE3-9756-3F84D03E491E}"/>
              </a:ext>
            </a:extLst>
          </p:cNvPr>
          <p:cNvSpPr>
            <a:spLocks noGrp="1"/>
          </p:cNvSpPr>
          <p:nvPr/>
        </p:nvSpPr>
        <p:spPr>
          <a:xfrm>
            <a:off x="0" y="0"/>
            <a:ext cx="18288000" cy="76200"/>
          </a:xfrm>
          <a:prstGeom prst="rect">
            <a:avLst/>
          </a:prstGeom>
          <a:solidFill>
            <a:srgbClr val="D9B760"/>
          </a:solidFill>
        </p:spPr>
      </p:sp>
      <p:sp>
        <p:nvSpPr>
          <p:cNvPr id="4" name="Hình chữ nhật: Góc Tròn 3">
            <a:extLst>
              <a:ext uri="{FF2B5EF4-FFF2-40B4-BE49-F238E27FC236}">
                <a16:creationId xmlns:a16="http://schemas.microsoft.com/office/drawing/2014/main" id="{EA0E943D-CBBE-43E7-8FB1-9954CD0EC486}"/>
              </a:ext>
            </a:extLst>
          </p:cNvPr>
          <p:cNvSpPr>
            <a:spLocks noGrp="1"/>
          </p:cNvSpPr>
          <p:nvPr/>
        </p:nvSpPr>
        <p:spPr>
          <a:xfrm>
            <a:off x="838200" y="647700"/>
            <a:ext cx="400050" cy="95250"/>
          </a:xfrm>
          <a:prstGeom prst="roundRect">
            <a:avLst>
              <a:gd name="adj" fmla="val 50000"/>
            </a:avLst>
          </a:prstGeom>
          <a:solidFill>
            <a:srgbClr val="7E3D4A"/>
          </a:solidFill>
        </p:spPr>
      </p:sp>
      <p:sp>
        <p:nvSpPr>
          <p:cNvPr id="5" name="Hình chữ nhật 4">
            <a:extLst>
              <a:ext uri="{FF2B5EF4-FFF2-40B4-BE49-F238E27FC236}">
                <a16:creationId xmlns:a16="http://schemas.microsoft.com/office/drawing/2014/main" id="{C70CF649-C581-40B6-8251-B65C1C98A9A7}"/>
              </a:ext>
            </a:extLst>
          </p:cNvPr>
          <p:cNvSpPr>
            <a:spLocks noGrp="1"/>
          </p:cNvSpPr>
          <p:nvPr/>
        </p:nvSpPr>
        <p:spPr>
          <a:xfrm>
            <a:off x="1371600" y="571500"/>
            <a:ext cx="15544800" cy="228600"/>
          </a:xfrm>
          <a:prstGeom prst="rect">
            <a:avLst/>
          </a:prstGeom>
        </p:spPr>
        <p:txBody>
          <a:bodyPr lIns="0" tIns="0" rIns="0" bIns="0"/>
          <a:lstStyle/>
          <a:p>
            <a:pPr>
              <a:lnSpc>
                <a:spcPct val="125000"/>
              </a:lnSpc>
              <a:buNone/>
              <a:defRPr sz="1200" b="1">
                <a:solidFill>
                  <a:srgbClr val="7E3D4A"/>
                </a:solidFill>
              </a:defRPr>
            </a:pPr>
            <a:r>
              <a:rPr sz="1200" b="1">
                <a:solidFill>
                  <a:srgbClr val="7E3D4A"/>
                </a:solidFill>
              </a:rPr>
              <a:t>SẢN PHẨM</a:t>
            </a:r>
          </a:p>
        </p:txBody>
      </p:sp>
      <p:sp>
        <p:nvSpPr>
          <p:cNvPr id="6" name="Hình chữ nhật 5">
            <a:extLst>
              <a:ext uri="{FF2B5EF4-FFF2-40B4-BE49-F238E27FC236}">
                <a16:creationId xmlns:a16="http://schemas.microsoft.com/office/drawing/2014/main" id="{5513DFF9-1ED8-45D9-9752-612676C72B33}"/>
              </a:ext>
            </a:extLst>
          </p:cNvPr>
          <p:cNvSpPr>
            <a:spLocks noGrp="1"/>
          </p:cNvSpPr>
          <p:nvPr/>
        </p:nvSpPr>
        <p:spPr>
          <a:xfrm>
            <a:off x="17068800" y="571500"/>
            <a:ext cx="400050" cy="228600"/>
          </a:xfrm>
          <a:prstGeom prst="rect">
            <a:avLst/>
          </a:prstGeom>
        </p:spPr>
        <p:txBody>
          <a:bodyPr lIns="0" tIns="0" rIns="0" bIns="0"/>
          <a:lstStyle/>
          <a:p>
            <a:pPr>
              <a:lnSpc>
                <a:spcPct val="120000"/>
              </a:lnSpc>
              <a:buNone/>
              <a:defRPr sz="1275" b="1">
                <a:solidFill>
                  <a:srgbClr val="7E3D4A"/>
                </a:solidFill>
              </a:defRPr>
            </a:pPr>
            <a:r>
              <a:rPr sz="1275" b="1">
                <a:solidFill>
                  <a:srgbClr val="7E3D4A"/>
                </a:solidFill>
              </a:rPr>
              <a:t>06/30</a:t>
            </a:r>
          </a:p>
        </p:txBody>
      </p:sp>
      <p:sp>
        <p:nvSpPr>
          <p:cNvPr id="7" name="slide-title">
            <a:extLst>
              <a:ext uri="{FF2B5EF4-FFF2-40B4-BE49-F238E27FC236}">
                <a16:creationId xmlns:a16="http://schemas.microsoft.com/office/drawing/2014/main" id="{D1FD8F67-F59F-44A3-ABE9-4EFF5108BF07}"/>
              </a:ext>
            </a:extLst>
          </p:cNvPr>
          <p:cNvSpPr>
            <a:spLocks noGrp="1"/>
          </p:cNvSpPr>
          <p:nvPr/>
        </p:nvSpPr>
        <p:spPr>
          <a:xfrm>
            <a:off x="819150" y="933450"/>
            <a:ext cx="16649700" cy="590550"/>
          </a:xfrm>
          <a:prstGeom prst="rect">
            <a:avLst/>
          </a:prstGeom>
        </p:spPr>
        <p:txBody>
          <a:bodyPr lIns="0" tIns="0" rIns="0" bIns="0"/>
          <a:lstStyle/>
          <a:p>
            <a:pPr>
              <a:lnSpc>
                <a:spcPct val="105000"/>
              </a:lnSpc>
              <a:buNone/>
              <a:defRPr sz="3600" b="1">
                <a:solidFill>
                  <a:srgbClr val="151515"/>
                </a:solidFill>
              </a:defRPr>
            </a:pPr>
            <a:r>
              <a:rPr sz="3600" b="1">
                <a:solidFill>
                  <a:srgbClr val="151515"/>
                </a:solidFill>
              </a:rPr>
              <a:t>AURA ARCHIVE là commerce platform cho luxury archive items</a:t>
            </a:r>
          </a:p>
        </p:txBody>
      </p:sp>
      <p:sp>
        <p:nvSpPr>
          <p:cNvPr id="8" name="title-rule">
            <a:extLst>
              <a:ext uri="{FF2B5EF4-FFF2-40B4-BE49-F238E27FC236}">
                <a16:creationId xmlns:a16="http://schemas.microsoft.com/office/drawing/2014/main" id="{11601FC5-2E44-4043-B1DE-40810C595BF8}"/>
              </a:ext>
            </a:extLst>
          </p:cNvPr>
          <p:cNvSpPr>
            <a:spLocks noGrp="1"/>
          </p:cNvSpPr>
          <p:nvPr/>
        </p:nvSpPr>
        <p:spPr>
          <a:xfrm>
            <a:off x="819150" y="1619250"/>
            <a:ext cx="1905000" cy="38100"/>
          </a:xfrm>
          <a:prstGeom prst="rect">
            <a:avLst/>
          </a:prstGeom>
          <a:solidFill>
            <a:srgbClr val="7E3D4A"/>
          </a:solidFill>
          <a:ln w="0">
            <a:solidFill>
              <a:srgbClr val="7E3D4A"/>
            </a:solidFill>
            <a:prstDash val="solid"/>
          </a:ln>
        </p:spPr>
      </p:sp>
      <p:sp>
        <p:nvSpPr>
          <p:cNvPr id="9" name="Hình chữ nhật 8">
            <a:extLst>
              <a:ext uri="{FF2B5EF4-FFF2-40B4-BE49-F238E27FC236}">
                <a16:creationId xmlns:a16="http://schemas.microsoft.com/office/drawing/2014/main" id="{5364FCBC-66E1-4128-BF17-1B6D1DC98380}"/>
              </a:ext>
            </a:extLst>
          </p:cNvPr>
          <p:cNvSpPr>
            <a:spLocks noGrp="1"/>
          </p:cNvSpPr>
          <p:nvPr/>
        </p:nvSpPr>
        <p:spPr>
          <a:xfrm>
            <a:off x="819150" y="4914900"/>
            <a:ext cx="7715250" cy="228600"/>
          </a:xfrm>
          <a:prstGeom prst="rect">
            <a:avLst/>
          </a:prstGeom>
        </p:spPr>
        <p:txBody>
          <a:bodyPr lIns="0" tIns="0" rIns="0" bIns="0"/>
          <a:lstStyle/>
          <a:p>
            <a:pPr>
              <a:lnSpc>
                <a:spcPct val="125000"/>
              </a:lnSpc>
              <a:buNone/>
              <a:defRPr sz="1200" b="1">
                <a:solidFill>
                  <a:srgbClr val="7E3D4A"/>
                </a:solidFill>
              </a:defRPr>
            </a:pPr>
            <a:r>
              <a:rPr sz="1200" b="1">
                <a:solidFill>
                  <a:srgbClr val="7E3D4A"/>
                </a:solidFill>
              </a:rPr>
              <a:t>Định vị</a:t>
            </a:r>
          </a:p>
        </p:txBody>
      </p:sp>
      <p:sp>
        <p:nvSpPr>
          <p:cNvPr id="10" name="Hình chữ nhật 9">
            <a:extLst>
              <a:ext uri="{FF2B5EF4-FFF2-40B4-BE49-F238E27FC236}">
                <a16:creationId xmlns:a16="http://schemas.microsoft.com/office/drawing/2014/main" id="{D7A6FEC1-6460-4EA7-90EB-AE94471D8D01}"/>
              </a:ext>
            </a:extLst>
          </p:cNvPr>
          <p:cNvSpPr>
            <a:spLocks noGrp="1"/>
          </p:cNvSpPr>
          <p:nvPr/>
        </p:nvSpPr>
        <p:spPr>
          <a:xfrm>
            <a:off x="819150" y="5353050"/>
            <a:ext cx="7715250" cy="1409700"/>
          </a:xfrm>
          <a:prstGeom prst="rect">
            <a:avLst/>
          </a:prstGeom>
        </p:spPr>
        <p:txBody>
          <a:bodyPr lIns="0" tIns="0" rIns="0" bIns="0"/>
          <a:lstStyle/>
          <a:p>
            <a:pPr>
              <a:lnSpc>
                <a:spcPct val="113000"/>
              </a:lnSpc>
              <a:buNone/>
              <a:defRPr sz="2700" b="1">
                <a:solidFill>
                  <a:srgbClr val="151515"/>
                </a:solidFill>
              </a:defRPr>
            </a:pPr>
            <a:r>
              <a:rPr sz="2700" b="1">
                <a:solidFill>
                  <a:srgbClr val="151515"/>
                </a:solidFill>
              </a:rPr>
              <a:t>Một website thương mại điện tử cho hàng thời trang cao cấp đã qua sử dụng, nhấn vào tính tuyển chọn, trải nghiệm sang trọng và tư vấn cá nhân hóa.</a:t>
            </a:r>
          </a:p>
        </p:txBody>
      </p:sp>
      <p:sp>
        <p:nvSpPr>
          <p:cNvPr id="11" name="Hình chữ nhật: Góc Tròn 10">
            <a:extLst>
              <a:ext uri="{FF2B5EF4-FFF2-40B4-BE49-F238E27FC236}">
                <a16:creationId xmlns:a16="http://schemas.microsoft.com/office/drawing/2014/main" id="{600434D0-9786-4AFE-9556-47530B67B10D}"/>
              </a:ext>
            </a:extLst>
          </p:cNvPr>
          <p:cNvSpPr>
            <a:spLocks noGrp="1"/>
          </p:cNvSpPr>
          <p:nvPr/>
        </p:nvSpPr>
        <p:spPr>
          <a:xfrm>
            <a:off x="8915400" y="4343400"/>
            <a:ext cx="95250" cy="876300"/>
          </a:xfrm>
          <a:prstGeom prst="roundRect">
            <a:avLst>
              <a:gd name="adj" fmla="val 50000"/>
            </a:avLst>
          </a:prstGeom>
          <a:solidFill>
            <a:srgbClr val="D9B760"/>
          </a:solidFill>
        </p:spPr>
      </p:sp>
      <p:sp>
        <p:nvSpPr>
          <p:cNvPr id="12" name="Hình chữ nhật 11">
            <a:extLst>
              <a:ext uri="{FF2B5EF4-FFF2-40B4-BE49-F238E27FC236}">
                <a16:creationId xmlns:a16="http://schemas.microsoft.com/office/drawing/2014/main" id="{DDC09EB8-784C-43FA-A31F-D89412F449E9}"/>
              </a:ext>
            </a:extLst>
          </p:cNvPr>
          <p:cNvSpPr>
            <a:spLocks noGrp="1"/>
          </p:cNvSpPr>
          <p:nvPr/>
        </p:nvSpPr>
        <p:spPr>
          <a:xfrm>
            <a:off x="9220200" y="4343400"/>
            <a:ext cx="8248650" cy="400050"/>
          </a:xfrm>
          <a:prstGeom prst="rect">
            <a:avLst/>
          </a:prstGeom>
        </p:spPr>
        <p:txBody>
          <a:bodyPr lIns="0" tIns="0" rIns="0" bIns="0"/>
          <a:lstStyle/>
          <a:p>
            <a:pPr>
              <a:lnSpc>
                <a:spcPct val="125000"/>
              </a:lnSpc>
              <a:buNone/>
              <a:defRPr sz="2100" b="1">
                <a:solidFill>
                  <a:srgbClr val="151515"/>
                </a:solidFill>
              </a:defRPr>
            </a:pPr>
            <a:r>
              <a:rPr sz="2100" b="1">
                <a:solidFill>
                  <a:srgbClr val="151515"/>
                </a:solidFill>
              </a:rPr>
              <a:t>Tin cậy</a:t>
            </a:r>
          </a:p>
        </p:txBody>
      </p:sp>
      <p:sp>
        <p:nvSpPr>
          <p:cNvPr id="13" name="Hình chữ nhật 12">
            <a:extLst>
              <a:ext uri="{FF2B5EF4-FFF2-40B4-BE49-F238E27FC236}">
                <a16:creationId xmlns:a16="http://schemas.microsoft.com/office/drawing/2014/main" id="{6BA46177-D694-4CEF-B610-FE2963342403}"/>
              </a:ext>
            </a:extLst>
          </p:cNvPr>
          <p:cNvSpPr>
            <a:spLocks noGrp="1"/>
          </p:cNvSpPr>
          <p:nvPr/>
        </p:nvSpPr>
        <p:spPr>
          <a:xfrm>
            <a:off x="9220200" y="4800600"/>
            <a:ext cx="8248650" cy="304800"/>
          </a:xfrm>
          <a:prstGeom prst="rect">
            <a:avLst/>
          </a:prstGeom>
        </p:spPr>
        <p:txBody>
          <a:bodyPr lIns="0" tIns="0" rIns="0" bIns="0"/>
          <a:lstStyle/>
          <a:p>
            <a:pPr>
              <a:lnSpc>
                <a:spcPct val="122000"/>
              </a:lnSpc>
              <a:buNone/>
              <a:defRPr sz="1575">
                <a:solidFill>
                  <a:srgbClr val="647067"/>
                </a:solidFill>
              </a:defRPr>
            </a:pPr>
            <a:r>
              <a:rPr sz="1575">
                <a:solidFill>
                  <a:srgbClr val="647067"/>
                </a:solidFill>
              </a:rPr>
              <a:t>Thông tin item rõ hơn: brand, condition, variant, stock, snapshot đơn hàng.</a:t>
            </a:r>
          </a:p>
        </p:txBody>
      </p:sp>
      <p:sp>
        <p:nvSpPr>
          <p:cNvPr id="14" name="Hình chữ nhật: Góc Tròn 13">
            <a:extLst>
              <a:ext uri="{FF2B5EF4-FFF2-40B4-BE49-F238E27FC236}">
                <a16:creationId xmlns:a16="http://schemas.microsoft.com/office/drawing/2014/main" id="{5919BA8B-B65D-45C0-BE21-35E72237A92B}"/>
              </a:ext>
            </a:extLst>
          </p:cNvPr>
          <p:cNvSpPr>
            <a:spLocks noGrp="1"/>
          </p:cNvSpPr>
          <p:nvPr/>
        </p:nvSpPr>
        <p:spPr>
          <a:xfrm>
            <a:off x="8915400" y="5410200"/>
            <a:ext cx="95250" cy="876300"/>
          </a:xfrm>
          <a:prstGeom prst="roundRect">
            <a:avLst>
              <a:gd name="adj" fmla="val 50000"/>
            </a:avLst>
          </a:prstGeom>
          <a:solidFill>
            <a:srgbClr val="F39A8A"/>
          </a:solidFill>
        </p:spPr>
      </p:sp>
      <p:sp>
        <p:nvSpPr>
          <p:cNvPr id="15" name="Hình chữ nhật 14">
            <a:extLst>
              <a:ext uri="{FF2B5EF4-FFF2-40B4-BE49-F238E27FC236}">
                <a16:creationId xmlns:a16="http://schemas.microsoft.com/office/drawing/2014/main" id="{3A07057E-2F87-4D0D-A390-65F387CBC475}"/>
              </a:ext>
            </a:extLst>
          </p:cNvPr>
          <p:cNvSpPr>
            <a:spLocks noGrp="1"/>
          </p:cNvSpPr>
          <p:nvPr/>
        </p:nvSpPr>
        <p:spPr>
          <a:xfrm>
            <a:off x="9220200" y="5391150"/>
            <a:ext cx="8248650" cy="400050"/>
          </a:xfrm>
          <a:prstGeom prst="rect">
            <a:avLst/>
          </a:prstGeom>
        </p:spPr>
        <p:txBody>
          <a:bodyPr lIns="0" tIns="0" rIns="0" bIns="0"/>
          <a:lstStyle/>
          <a:p>
            <a:pPr>
              <a:lnSpc>
                <a:spcPct val="125000"/>
              </a:lnSpc>
              <a:buNone/>
              <a:defRPr sz="2100" b="1">
                <a:solidFill>
                  <a:srgbClr val="151515"/>
                </a:solidFill>
              </a:defRPr>
            </a:pPr>
            <a:r>
              <a:rPr sz="2100" b="1">
                <a:solidFill>
                  <a:srgbClr val="151515"/>
                </a:solidFill>
              </a:rPr>
              <a:t>Cá nhân hóa</a:t>
            </a:r>
          </a:p>
        </p:txBody>
      </p:sp>
      <p:sp>
        <p:nvSpPr>
          <p:cNvPr id="16" name="Hình chữ nhật 15">
            <a:extLst>
              <a:ext uri="{FF2B5EF4-FFF2-40B4-BE49-F238E27FC236}">
                <a16:creationId xmlns:a16="http://schemas.microsoft.com/office/drawing/2014/main" id="{F471B8E6-2BAA-4A0A-9A2C-88DA7E2E2FD4}"/>
              </a:ext>
            </a:extLst>
          </p:cNvPr>
          <p:cNvSpPr>
            <a:spLocks noGrp="1"/>
          </p:cNvSpPr>
          <p:nvPr/>
        </p:nvSpPr>
        <p:spPr>
          <a:xfrm>
            <a:off x="9220200" y="5848350"/>
            <a:ext cx="8248650" cy="304800"/>
          </a:xfrm>
          <a:prstGeom prst="rect">
            <a:avLst/>
          </a:prstGeom>
        </p:spPr>
        <p:txBody>
          <a:bodyPr lIns="0" tIns="0" rIns="0" bIns="0"/>
          <a:lstStyle/>
          <a:p>
            <a:pPr>
              <a:lnSpc>
                <a:spcPct val="122000"/>
              </a:lnSpc>
              <a:buNone/>
              <a:defRPr sz="1575">
                <a:solidFill>
                  <a:srgbClr val="647067"/>
                </a:solidFill>
              </a:defRPr>
            </a:pPr>
            <a:r>
              <a:rPr sz="1575">
                <a:solidFill>
                  <a:srgbClr val="647067"/>
                </a:solidFill>
              </a:rPr>
              <a:t>AI Stylist hỗ trợ hỏi đáp, gợi ý sản phẩm và phối đồ theo nhu cầu.</a:t>
            </a:r>
          </a:p>
        </p:txBody>
      </p:sp>
      <p:sp>
        <p:nvSpPr>
          <p:cNvPr id="17" name="Hình chữ nhật: Góc Tròn 16">
            <a:extLst>
              <a:ext uri="{FF2B5EF4-FFF2-40B4-BE49-F238E27FC236}">
                <a16:creationId xmlns:a16="http://schemas.microsoft.com/office/drawing/2014/main" id="{A9F6B19B-FE53-4668-80AA-33F723552D66}"/>
              </a:ext>
            </a:extLst>
          </p:cNvPr>
          <p:cNvSpPr>
            <a:spLocks noGrp="1"/>
          </p:cNvSpPr>
          <p:nvPr/>
        </p:nvSpPr>
        <p:spPr>
          <a:xfrm>
            <a:off x="8915400" y="6400800"/>
            <a:ext cx="95250" cy="876300"/>
          </a:xfrm>
          <a:prstGeom prst="roundRect">
            <a:avLst>
              <a:gd name="adj" fmla="val 50000"/>
            </a:avLst>
          </a:prstGeom>
          <a:solidFill>
            <a:srgbClr val="77B8A4"/>
          </a:solidFill>
        </p:spPr>
      </p:sp>
      <p:sp>
        <p:nvSpPr>
          <p:cNvPr id="18" name="Hình chữ nhật 17">
            <a:extLst>
              <a:ext uri="{FF2B5EF4-FFF2-40B4-BE49-F238E27FC236}">
                <a16:creationId xmlns:a16="http://schemas.microsoft.com/office/drawing/2014/main" id="{849BBC5D-15CE-4B70-B1E3-0FBDC535456A}"/>
              </a:ext>
            </a:extLst>
          </p:cNvPr>
          <p:cNvSpPr>
            <a:spLocks noGrp="1"/>
          </p:cNvSpPr>
          <p:nvPr/>
        </p:nvSpPr>
        <p:spPr>
          <a:xfrm>
            <a:off x="9220200" y="6438900"/>
            <a:ext cx="8248650" cy="400050"/>
          </a:xfrm>
          <a:prstGeom prst="rect">
            <a:avLst/>
          </a:prstGeom>
        </p:spPr>
        <p:txBody>
          <a:bodyPr lIns="0" tIns="0" rIns="0" bIns="0"/>
          <a:lstStyle/>
          <a:p>
            <a:pPr>
              <a:lnSpc>
                <a:spcPct val="125000"/>
              </a:lnSpc>
              <a:buNone/>
              <a:defRPr sz="2100" b="1">
                <a:solidFill>
                  <a:srgbClr val="151515"/>
                </a:solidFill>
              </a:defRPr>
            </a:pPr>
            <a:r>
              <a:rPr sz="2100" b="1">
                <a:solidFill>
                  <a:srgbClr val="151515"/>
                </a:solidFill>
              </a:rPr>
              <a:t>Vận hành được</a:t>
            </a:r>
          </a:p>
        </p:txBody>
      </p:sp>
      <p:sp>
        <p:nvSpPr>
          <p:cNvPr id="19" name="Hình chữ nhật 18">
            <a:extLst>
              <a:ext uri="{FF2B5EF4-FFF2-40B4-BE49-F238E27FC236}">
                <a16:creationId xmlns:a16="http://schemas.microsoft.com/office/drawing/2014/main" id="{3AB59F55-EBA1-4811-A62F-B81D3F05B1A1}"/>
              </a:ext>
            </a:extLst>
          </p:cNvPr>
          <p:cNvSpPr>
            <a:spLocks noGrp="1"/>
          </p:cNvSpPr>
          <p:nvPr/>
        </p:nvSpPr>
        <p:spPr>
          <a:xfrm>
            <a:off x="9220200" y="6896100"/>
            <a:ext cx="8248650" cy="304800"/>
          </a:xfrm>
          <a:prstGeom prst="rect">
            <a:avLst/>
          </a:prstGeom>
        </p:spPr>
        <p:txBody>
          <a:bodyPr lIns="0" tIns="0" rIns="0" bIns="0"/>
          <a:lstStyle/>
          <a:p>
            <a:pPr>
              <a:lnSpc>
                <a:spcPct val="122000"/>
              </a:lnSpc>
              <a:buNone/>
              <a:defRPr sz="1575">
                <a:solidFill>
                  <a:srgbClr val="647067"/>
                </a:solidFill>
              </a:defRPr>
            </a:pPr>
            <a:r>
              <a:rPr sz="1575">
                <a:solidFill>
                  <a:srgbClr val="647067"/>
                </a:solidFill>
              </a:rPr>
              <a:t>Admin quản lý catalog, content, coupon, chat và setting trong cùng hệ thống.</a:t>
            </a:r>
          </a:p>
        </p:txBody>
      </p:sp>
    </p:spTree>
    <p:extLst>
      <p:ext uri="{BB962C8B-B14F-4D97-AF65-F5344CB8AC3E}">
        <p14:creationId xmlns:p14="http://schemas.microsoft.com/office/powerpoint/2010/main" val="170835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background">
            <a:extLst>
              <a:ext uri="{FF2B5EF4-FFF2-40B4-BE49-F238E27FC236}">
                <a16:creationId xmlns:a16="http://schemas.microsoft.com/office/drawing/2014/main" id="{6AACF5E1-735C-4377-880B-D28FE04778B0}"/>
              </a:ext>
            </a:extLst>
          </p:cNvPr>
          <p:cNvSpPr>
            <a:spLocks noGrp="1"/>
          </p:cNvSpPr>
          <p:nvPr/>
        </p:nvSpPr>
        <p:spPr>
          <a:xfrm>
            <a:off x="0" y="0"/>
            <a:ext cx="18288000" cy="10287000"/>
          </a:xfrm>
          <a:prstGeom prst="rect">
            <a:avLst/>
          </a:prstGeom>
          <a:solidFill>
            <a:srgbClr val="FFFDF8"/>
          </a:solidFill>
        </p:spPr>
      </p:sp>
      <p:sp>
        <p:nvSpPr>
          <p:cNvPr id="2" name="top-band">
            <a:extLst>
              <a:ext uri="{FF2B5EF4-FFF2-40B4-BE49-F238E27FC236}">
                <a16:creationId xmlns:a16="http://schemas.microsoft.com/office/drawing/2014/main" id="{8E9B24CC-20CE-4B97-BFBD-D7E82C3CA1CF}"/>
              </a:ext>
            </a:extLst>
          </p:cNvPr>
          <p:cNvSpPr>
            <a:spLocks noGrp="1"/>
          </p:cNvSpPr>
          <p:nvPr/>
        </p:nvSpPr>
        <p:spPr>
          <a:xfrm>
            <a:off x="0" y="0"/>
            <a:ext cx="18288000" cy="152400"/>
          </a:xfrm>
          <a:prstGeom prst="rect">
            <a:avLst/>
          </a:prstGeom>
          <a:solidFill>
            <a:srgbClr val="77B8A4"/>
          </a:solidFill>
        </p:spPr>
      </p:sp>
      <p:sp>
        <p:nvSpPr>
          <p:cNvPr id="3" name="bottom-band">
            <a:extLst>
              <a:ext uri="{FF2B5EF4-FFF2-40B4-BE49-F238E27FC236}">
                <a16:creationId xmlns:a16="http://schemas.microsoft.com/office/drawing/2014/main" id="{2C8113FC-9A94-4ACA-BBC6-3F93C7260737}"/>
              </a:ext>
            </a:extLst>
          </p:cNvPr>
          <p:cNvSpPr>
            <a:spLocks noGrp="1"/>
          </p:cNvSpPr>
          <p:nvPr/>
        </p:nvSpPr>
        <p:spPr>
          <a:xfrm>
            <a:off x="0" y="0"/>
            <a:ext cx="18288000" cy="76200"/>
          </a:xfrm>
          <a:prstGeom prst="rect">
            <a:avLst/>
          </a:prstGeom>
          <a:solidFill>
            <a:srgbClr val="D9B760"/>
          </a:solidFill>
        </p:spPr>
      </p:sp>
      <p:sp>
        <p:nvSpPr>
          <p:cNvPr id="4" name="Hình chữ nhật: Góc Tròn 3">
            <a:extLst>
              <a:ext uri="{FF2B5EF4-FFF2-40B4-BE49-F238E27FC236}">
                <a16:creationId xmlns:a16="http://schemas.microsoft.com/office/drawing/2014/main" id="{65BB4063-1CC9-4F0F-9C18-7058516988A4}"/>
              </a:ext>
            </a:extLst>
          </p:cNvPr>
          <p:cNvSpPr>
            <a:spLocks noGrp="1"/>
          </p:cNvSpPr>
          <p:nvPr/>
        </p:nvSpPr>
        <p:spPr>
          <a:xfrm>
            <a:off x="838200" y="647700"/>
            <a:ext cx="400050" cy="95250"/>
          </a:xfrm>
          <a:prstGeom prst="roundRect">
            <a:avLst>
              <a:gd name="adj" fmla="val 50000"/>
            </a:avLst>
          </a:prstGeom>
          <a:solidFill>
            <a:srgbClr val="77B8A4"/>
          </a:solidFill>
        </p:spPr>
      </p:sp>
      <p:sp>
        <p:nvSpPr>
          <p:cNvPr id="5" name="Hình chữ nhật 4">
            <a:extLst>
              <a:ext uri="{FF2B5EF4-FFF2-40B4-BE49-F238E27FC236}">
                <a16:creationId xmlns:a16="http://schemas.microsoft.com/office/drawing/2014/main" id="{89D3E15A-5B38-44DA-9C4B-5E21CDE3D731}"/>
              </a:ext>
            </a:extLst>
          </p:cNvPr>
          <p:cNvSpPr>
            <a:spLocks noGrp="1"/>
          </p:cNvSpPr>
          <p:nvPr/>
        </p:nvSpPr>
        <p:spPr>
          <a:xfrm>
            <a:off x="1371600" y="571500"/>
            <a:ext cx="15544800" cy="228600"/>
          </a:xfrm>
          <a:prstGeom prst="rect">
            <a:avLst/>
          </a:prstGeom>
        </p:spPr>
        <p:txBody>
          <a:bodyPr lIns="0" tIns="0" rIns="0" bIns="0"/>
          <a:lstStyle/>
          <a:p>
            <a:pPr>
              <a:lnSpc>
                <a:spcPct val="125000"/>
              </a:lnSpc>
              <a:buNone/>
              <a:defRPr sz="1200" b="1">
                <a:solidFill>
                  <a:srgbClr val="7E3D4A"/>
                </a:solidFill>
              </a:defRPr>
            </a:pPr>
            <a:r>
              <a:rPr sz="1200" b="1">
                <a:solidFill>
                  <a:srgbClr val="7E3D4A"/>
                </a:solidFill>
              </a:rPr>
              <a:t>ACTOR</a:t>
            </a:r>
          </a:p>
        </p:txBody>
      </p:sp>
      <p:sp>
        <p:nvSpPr>
          <p:cNvPr id="6" name="Hình chữ nhật 5">
            <a:extLst>
              <a:ext uri="{FF2B5EF4-FFF2-40B4-BE49-F238E27FC236}">
                <a16:creationId xmlns:a16="http://schemas.microsoft.com/office/drawing/2014/main" id="{17F7CEFF-AB6F-402D-A820-FC9B90E3DC3F}"/>
              </a:ext>
            </a:extLst>
          </p:cNvPr>
          <p:cNvSpPr>
            <a:spLocks noGrp="1"/>
          </p:cNvSpPr>
          <p:nvPr/>
        </p:nvSpPr>
        <p:spPr>
          <a:xfrm>
            <a:off x="17068800" y="571500"/>
            <a:ext cx="400050" cy="228600"/>
          </a:xfrm>
          <a:prstGeom prst="rect">
            <a:avLst/>
          </a:prstGeom>
        </p:spPr>
        <p:txBody>
          <a:bodyPr lIns="0" tIns="0" rIns="0" bIns="0"/>
          <a:lstStyle/>
          <a:p>
            <a:pPr>
              <a:lnSpc>
                <a:spcPct val="120000"/>
              </a:lnSpc>
              <a:buNone/>
              <a:defRPr sz="1275" b="1">
                <a:solidFill>
                  <a:srgbClr val="7E3D4A"/>
                </a:solidFill>
              </a:defRPr>
            </a:pPr>
            <a:r>
              <a:rPr sz="1275" b="1">
                <a:solidFill>
                  <a:srgbClr val="7E3D4A"/>
                </a:solidFill>
              </a:rPr>
              <a:t>07/30</a:t>
            </a:r>
          </a:p>
        </p:txBody>
      </p:sp>
      <p:sp>
        <p:nvSpPr>
          <p:cNvPr id="7" name="slide-title">
            <a:extLst>
              <a:ext uri="{FF2B5EF4-FFF2-40B4-BE49-F238E27FC236}">
                <a16:creationId xmlns:a16="http://schemas.microsoft.com/office/drawing/2014/main" id="{E022EC17-D598-48DC-AF85-78FE67CE5EC9}"/>
              </a:ext>
            </a:extLst>
          </p:cNvPr>
          <p:cNvSpPr>
            <a:spLocks noGrp="1"/>
          </p:cNvSpPr>
          <p:nvPr/>
        </p:nvSpPr>
        <p:spPr>
          <a:xfrm>
            <a:off x="819150" y="933450"/>
            <a:ext cx="16649700" cy="590550"/>
          </a:xfrm>
          <a:prstGeom prst="rect">
            <a:avLst/>
          </a:prstGeom>
        </p:spPr>
        <p:txBody>
          <a:bodyPr lIns="0" tIns="0" rIns="0" bIns="0"/>
          <a:lstStyle/>
          <a:p>
            <a:pPr>
              <a:lnSpc>
                <a:spcPct val="105000"/>
              </a:lnSpc>
              <a:buNone/>
              <a:defRPr sz="3600" b="1">
                <a:solidFill>
                  <a:srgbClr val="151515"/>
                </a:solidFill>
              </a:defRPr>
            </a:pPr>
            <a:r>
              <a:rPr sz="3600" b="1">
                <a:solidFill>
                  <a:srgbClr val="151515"/>
                </a:solidFill>
              </a:rPr>
              <a:t>Các nhóm người dùng và nhu cầu chính</a:t>
            </a:r>
          </a:p>
        </p:txBody>
      </p:sp>
      <p:sp>
        <p:nvSpPr>
          <p:cNvPr id="8" name="title-rule">
            <a:extLst>
              <a:ext uri="{FF2B5EF4-FFF2-40B4-BE49-F238E27FC236}">
                <a16:creationId xmlns:a16="http://schemas.microsoft.com/office/drawing/2014/main" id="{85A2BCA8-06ED-4129-9D48-371BF050ED0E}"/>
              </a:ext>
            </a:extLst>
          </p:cNvPr>
          <p:cNvSpPr>
            <a:spLocks noGrp="1"/>
          </p:cNvSpPr>
          <p:nvPr/>
        </p:nvSpPr>
        <p:spPr>
          <a:xfrm>
            <a:off x="819150" y="1619250"/>
            <a:ext cx="1905000" cy="38100"/>
          </a:xfrm>
          <a:prstGeom prst="rect">
            <a:avLst/>
          </a:prstGeom>
          <a:solidFill>
            <a:srgbClr val="77B8A4"/>
          </a:solidFill>
          <a:ln w="0">
            <a:solidFill>
              <a:srgbClr val="77B8A4"/>
            </a:solidFill>
            <a:prstDash val="solid"/>
          </a:ln>
        </p:spPr>
      </p:sp>
      <p:sp>
        <p:nvSpPr>
          <p:cNvPr id="9" name="Hình chữ nhật 8">
            <a:extLst>
              <a:ext uri="{FF2B5EF4-FFF2-40B4-BE49-F238E27FC236}">
                <a16:creationId xmlns:a16="http://schemas.microsoft.com/office/drawing/2014/main" id="{AE3DE1A9-D00D-408E-B77D-C60763F83408}"/>
              </a:ext>
            </a:extLst>
          </p:cNvPr>
          <p:cNvSpPr>
            <a:spLocks noGrp="1"/>
          </p:cNvSpPr>
          <p:nvPr/>
        </p:nvSpPr>
        <p:spPr>
          <a:xfrm>
            <a:off x="819150" y="1933194"/>
            <a:ext cx="3052445" cy="463639"/>
          </a:xfrm>
          <a:prstGeom prst="rect">
            <a:avLst/>
          </a:prstGeom>
          <a:solidFill>
            <a:srgbClr val="DDF4EB"/>
          </a:solidFill>
          <a:ln w="9525">
            <a:solidFill>
              <a:srgbClr val="E8DDCF"/>
            </a:solidFill>
            <a:prstDash val="solid"/>
          </a:ln>
        </p:spPr>
      </p:sp>
      <p:sp>
        <p:nvSpPr>
          <p:cNvPr id="10" name="Hình chữ nhật 9">
            <a:extLst>
              <a:ext uri="{FF2B5EF4-FFF2-40B4-BE49-F238E27FC236}">
                <a16:creationId xmlns:a16="http://schemas.microsoft.com/office/drawing/2014/main" id="{A9A29189-6A86-4B75-97E0-763DB209BF15}"/>
              </a:ext>
            </a:extLst>
          </p:cNvPr>
          <p:cNvSpPr>
            <a:spLocks noGrp="1"/>
          </p:cNvSpPr>
          <p:nvPr/>
        </p:nvSpPr>
        <p:spPr>
          <a:xfrm>
            <a:off x="952500" y="2038350"/>
            <a:ext cx="2800350" cy="266700"/>
          </a:xfrm>
          <a:prstGeom prst="rect">
            <a:avLst/>
          </a:prstGeom>
        </p:spPr>
        <p:txBody>
          <a:bodyPr lIns="0" tIns="0" rIns="0" bIns="0"/>
          <a:lstStyle/>
          <a:p>
            <a:pPr>
              <a:lnSpc>
                <a:spcPct val="117000"/>
              </a:lnSpc>
              <a:buNone/>
              <a:defRPr sz="1425" b="1">
                <a:solidFill>
                  <a:srgbClr val="25384A"/>
                </a:solidFill>
              </a:defRPr>
            </a:pPr>
            <a:r>
              <a:rPr sz="1425" b="1">
                <a:solidFill>
                  <a:srgbClr val="25384A"/>
                </a:solidFill>
              </a:rPr>
              <a:t>Actor</a:t>
            </a:r>
          </a:p>
        </p:txBody>
      </p:sp>
      <p:sp>
        <p:nvSpPr>
          <p:cNvPr id="11" name="Hình chữ nhật 10">
            <a:extLst>
              <a:ext uri="{FF2B5EF4-FFF2-40B4-BE49-F238E27FC236}">
                <a16:creationId xmlns:a16="http://schemas.microsoft.com/office/drawing/2014/main" id="{D220EB8F-1937-4AF8-87B5-48F080DC1E9A}"/>
              </a:ext>
            </a:extLst>
          </p:cNvPr>
          <p:cNvSpPr>
            <a:spLocks noGrp="1"/>
          </p:cNvSpPr>
          <p:nvPr/>
        </p:nvSpPr>
        <p:spPr>
          <a:xfrm>
            <a:off x="3871595" y="1933194"/>
            <a:ext cx="4994910" cy="463639"/>
          </a:xfrm>
          <a:prstGeom prst="rect">
            <a:avLst/>
          </a:prstGeom>
          <a:solidFill>
            <a:srgbClr val="DDF4EB"/>
          </a:solidFill>
          <a:ln w="9525">
            <a:solidFill>
              <a:srgbClr val="E8DDCF"/>
            </a:solidFill>
            <a:prstDash val="solid"/>
          </a:ln>
        </p:spPr>
      </p:sp>
      <p:sp>
        <p:nvSpPr>
          <p:cNvPr id="12" name="Hình chữ nhật 11">
            <a:extLst>
              <a:ext uri="{FF2B5EF4-FFF2-40B4-BE49-F238E27FC236}">
                <a16:creationId xmlns:a16="http://schemas.microsoft.com/office/drawing/2014/main" id="{6FFF2E2E-9AA2-40D5-8796-FE8ACC9D3A15}"/>
              </a:ext>
            </a:extLst>
          </p:cNvPr>
          <p:cNvSpPr>
            <a:spLocks noGrp="1"/>
          </p:cNvSpPr>
          <p:nvPr/>
        </p:nvSpPr>
        <p:spPr>
          <a:xfrm>
            <a:off x="4000500" y="2038350"/>
            <a:ext cx="4743450" cy="266700"/>
          </a:xfrm>
          <a:prstGeom prst="rect">
            <a:avLst/>
          </a:prstGeom>
        </p:spPr>
        <p:txBody>
          <a:bodyPr lIns="0" tIns="0" rIns="0" bIns="0"/>
          <a:lstStyle/>
          <a:p>
            <a:pPr>
              <a:lnSpc>
                <a:spcPct val="117000"/>
              </a:lnSpc>
              <a:buNone/>
              <a:defRPr sz="1425" b="1">
                <a:solidFill>
                  <a:srgbClr val="25384A"/>
                </a:solidFill>
              </a:defRPr>
            </a:pPr>
            <a:r>
              <a:rPr sz="1425" b="1">
                <a:solidFill>
                  <a:srgbClr val="25384A"/>
                </a:solidFill>
              </a:rPr>
              <a:t>Vai trò</a:t>
            </a:r>
          </a:p>
        </p:txBody>
      </p:sp>
      <p:sp>
        <p:nvSpPr>
          <p:cNvPr id="13" name="Hình chữ nhật 12">
            <a:extLst>
              <a:ext uri="{FF2B5EF4-FFF2-40B4-BE49-F238E27FC236}">
                <a16:creationId xmlns:a16="http://schemas.microsoft.com/office/drawing/2014/main" id="{4EDCCEDD-3085-44BC-B1F3-340010B408F7}"/>
              </a:ext>
            </a:extLst>
          </p:cNvPr>
          <p:cNvSpPr>
            <a:spLocks noGrp="1"/>
          </p:cNvSpPr>
          <p:nvPr/>
        </p:nvSpPr>
        <p:spPr>
          <a:xfrm>
            <a:off x="8866505" y="1933194"/>
            <a:ext cx="8602345" cy="463639"/>
          </a:xfrm>
          <a:prstGeom prst="rect">
            <a:avLst/>
          </a:prstGeom>
          <a:solidFill>
            <a:srgbClr val="DDF4EB"/>
          </a:solidFill>
          <a:ln w="9525">
            <a:solidFill>
              <a:srgbClr val="E8DDCF"/>
            </a:solidFill>
            <a:prstDash val="solid"/>
          </a:ln>
        </p:spPr>
      </p:sp>
      <p:sp>
        <p:nvSpPr>
          <p:cNvPr id="14" name="Hình chữ nhật 13">
            <a:extLst>
              <a:ext uri="{FF2B5EF4-FFF2-40B4-BE49-F238E27FC236}">
                <a16:creationId xmlns:a16="http://schemas.microsoft.com/office/drawing/2014/main" id="{B789FE95-0894-45C2-AB7D-0AD8790A30A8}"/>
              </a:ext>
            </a:extLst>
          </p:cNvPr>
          <p:cNvSpPr>
            <a:spLocks noGrp="1"/>
          </p:cNvSpPr>
          <p:nvPr/>
        </p:nvSpPr>
        <p:spPr>
          <a:xfrm>
            <a:off x="8991600" y="2038350"/>
            <a:ext cx="8362950" cy="266700"/>
          </a:xfrm>
          <a:prstGeom prst="rect">
            <a:avLst/>
          </a:prstGeom>
        </p:spPr>
        <p:txBody>
          <a:bodyPr lIns="0" tIns="0" rIns="0" bIns="0"/>
          <a:lstStyle/>
          <a:p>
            <a:pPr>
              <a:lnSpc>
                <a:spcPct val="117000"/>
              </a:lnSpc>
              <a:buNone/>
              <a:defRPr sz="1425" b="1">
                <a:solidFill>
                  <a:srgbClr val="25384A"/>
                </a:solidFill>
              </a:defRPr>
            </a:pPr>
            <a:r>
              <a:rPr sz="1425" b="1">
                <a:solidFill>
                  <a:srgbClr val="25384A"/>
                </a:solidFill>
              </a:rPr>
              <a:t>Nhu cầu chính</a:t>
            </a:r>
          </a:p>
        </p:txBody>
      </p:sp>
      <p:sp>
        <p:nvSpPr>
          <p:cNvPr id="15" name="Hình chữ nhật 14">
            <a:extLst>
              <a:ext uri="{FF2B5EF4-FFF2-40B4-BE49-F238E27FC236}">
                <a16:creationId xmlns:a16="http://schemas.microsoft.com/office/drawing/2014/main" id="{8883035D-A768-4D9C-BBD1-34054C207DAB}"/>
              </a:ext>
            </a:extLst>
          </p:cNvPr>
          <p:cNvSpPr>
            <a:spLocks noGrp="1"/>
          </p:cNvSpPr>
          <p:nvPr/>
        </p:nvSpPr>
        <p:spPr>
          <a:xfrm>
            <a:off x="819150" y="2396833"/>
            <a:ext cx="3052445" cy="463639"/>
          </a:xfrm>
          <a:prstGeom prst="rect">
            <a:avLst/>
          </a:prstGeom>
          <a:solidFill>
            <a:srgbClr val="FFFFFF"/>
          </a:solidFill>
          <a:ln w="9525">
            <a:solidFill>
              <a:srgbClr val="E8DDCF"/>
            </a:solidFill>
            <a:prstDash val="solid"/>
          </a:ln>
        </p:spPr>
      </p:sp>
      <p:sp>
        <p:nvSpPr>
          <p:cNvPr id="16" name="Hình chữ nhật 15">
            <a:extLst>
              <a:ext uri="{FF2B5EF4-FFF2-40B4-BE49-F238E27FC236}">
                <a16:creationId xmlns:a16="http://schemas.microsoft.com/office/drawing/2014/main" id="{86028480-93A5-4E7F-9A4E-8C1B76BAA422}"/>
              </a:ext>
            </a:extLst>
          </p:cNvPr>
          <p:cNvSpPr>
            <a:spLocks noGrp="1"/>
          </p:cNvSpPr>
          <p:nvPr/>
        </p:nvSpPr>
        <p:spPr>
          <a:xfrm>
            <a:off x="952500" y="2495550"/>
            <a:ext cx="2800350" cy="266700"/>
          </a:xfrm>
          <a:prstGeom prst="rect">
            <a:avLst/>
          </a:prstGeom>
        </p:spPr>
        <p:txBody>
          <a:bodyPr lIns="0" tIns="0" rIns="0" bIns="0"/>
          <a:lstStyle/>
          <a:p>
            <a:pPr>
              <a:lnSpc>
                <a:spcPct val="117000"/>
              </a:lnSpc>
              <a:buNone/>
              <a:defRPr sz="1425" b="0">
                <a:solidFill>
                  <a:srgbClr val="151515"/>
                </a:solidFill>
              </a:defRPr>
            </a:pPr>
            <a:r>
              <a:rPr sz="1425" b="0">
                <a:solidFill>
                  <a:srgbClr val="151515"/>
                </a:solidFill>
              </a:rPr>
              <a:t>Guest</a:t>
            </a:r>
          </a:p>
        </p:txBody>
      </p:sp>
      <p:sp>
        <p:nvSpPr>
          <p:cNvPr id="17" name="Hình chữ nhật 16">
            <a:extLst>
              <a:ext uri="{FF2B5EF4-FFF2-40B4-BE49-F238E27FC236}">
                <a16:creationId xmlns:a16="http://schemas.microsoft.com/office/drawing/2014/main" id="{45FAAA74-F21F-4E95-83E6-B6281BC80F30}"/>
              </a:ext>
            </a:extLst>
          </p:cNvPr>
          <p:cNvSpPr>
            <a:spLocks noGrp="1"/>
          </p:cNvSpPr>
          <p:nvPr/>
        </p:nvSpPr>
        <p:spPr>
          <a:xfrm>
            <a:off x="3871595" y="2396833"/>
            <a:ext cx="4994910" cy="463639"/>
          </a:xfrm>
          <a:prstGeom prst="rect">
            <a:avLst/>
          </a:prstGeom>
          <a:solidFill>
            <a:srgbClr val="FFFFFF"/>
          </a:solidFill>
          <a:ln w="9525">
            <a:solidFill>
              <a:srgbClr val="E8DDCF"/>
            </a:solidFill>
            <a:prstDash val="solid"/>
          </a:ln>
        </p:spPr>
      </p:sp>
      <p:sp>
        <p:nvSpPr>
          <p:cNvPr id="18" name="Hình chữ nhật 17">
            <a:extLst>
              <a:ext uri="{FF2B5EF4-FFF2-40B4-BE49-F238E27FC236}">
                <a16:creationId xmlns:a16="http://schemas.microsoft.com/office/drawing/2014/main" id="{03B45EFA-53BF-423E-BBEB-39D075E30341}"/>
              </a:ext>
            </a:extLst>
          </p:cNvPr>
          <p:cNvSpPr>
            <a:spLocks noGrp="1"/>
          </p:cNvSpPr>
          <p:nvPr/>
        </p:nvSpPr>
        <p:spPr>
          <a:xfrm>
            <a:off x="4000500" y="2495550"/>
            <a:ext cx="4743450" cy="266700"/>
          </a:xfrm>
          <a:prstGeom prst="rect">
            <a:avLst/>
          </a:prstGeom>
        </p:spPr>
        <p:txBody>
          <a:bodyPr lIns="0" tIns="0" rIns="0" bIns="0"/>
          <a:lstStyle/>
          <a:p>
            <a:pPr>
              <a:lnSpc>
                <a:spcPct val="117000"/>
              </a:lnSpc>
              <a:buNone/>
              <a:defRPr sz="1425" b="0">
                <a:solidFill>
                  <a:srgbClr val="151515"/>
                </a:solidFill>
              </a:defRPr>
            </a:pPr>
            <a:r>
              <a:rPr sz="1425" b="0">
                <a:solidFill>
                  <a:srgbClr val="151515"/>
                </a:solidFill>
              </a:rPr>
              <a:t>Khách chưa đăng nhập</a:t>
            </a:r>
          </a:p>
        </p:txBody>
      </p:sp>
      <p:sp>
        <p:nvSpPr>
          <p:cNvPr id="19" name="Hình chữ nhật 18">
            <a:extLst>
              <a:ext uri="{FF2B5EF4-FFF2-40B4-BE49-F238E27FC236}">
                <a16:creationId xmlns:a16="http://schemas.microsoft.com/office/drawing/2014/main" id="{59C77745-2191-478C-944E-A368EC4615D3}"/>
              </a:ext>
            </a:extLst>
          </p:cNvPr>
          <p:cNvSpPr>
            <a:spLocks noGrp="1"/>
          </p:cNvSpPr>
          <p:nvPr/>
        </p:nvSpPr>
        <p:spPr>
          <a:xfrm>
            <a:off x="8866505" y="2396833"/>
            <a:ext cx="8602345" cy="463639"/>
          </a:xfrm>
          <a:prstGeom prst="rect">
            <a:avLst/>
          </a:prstGeom>
          <a:solidFill>
            <a:srgbClr val="FFFFFF"/>
          </a:solidFill>
          <a:ln w="9525">
            <a:solidFill>
              <a:srgbClr val="E8DDCF"/>
            </a:solidFill>
            <a:prstDash val="solid"/>
          </a:ln>
        </p:spPr>
      </p:sp>
      <p:sp>
        <p:nvSpPr>
          <p:cNvPr id="20" name="Hình chữ nhật 19">
            <a:extLst>
              <a:ext uri="{FF2B5EF4-FFF2-40B4-BE49-F238E27FC236}">
                <a16:creationId xmlns:a16="http://schemas.microsoft.com/office/drawing/2014/main" id="{8765C784-44D0-4680-A699-559F17D48AD4}"/>
              </a:ext>
            </a:extLst>
          </p:cNvPr>
          <p:cNvSpPr>
            <a:spLocks noGrp="1"/>
          </p:cNvSpPr>
          <p:nvPr/>
        </p:nvSpPr>
        <p:spPr>
          <a:xfrm>
            <a:off x="8991600" y="2495550"/>
            <a:ext cx="8362950" cy="266700"/>
          </a:xfrm>
          <a:prstGeom prst="rect">
            <a:avLst/>
          </a:prstGeom>
        </p:spPr>
        <p:txBody>
          <a:bodyPr lIns="0" tIns="0" rIns="0" bIns="0"/>
          <a:lstStyle/>
          <a:p>
            <a:pPr>
              <a:lnSpc>
                <a:spcPct val="117000"/>
              </a:lnSpc>
              <a:buNone/>
              <a:defRPr sz="1425" b="0">
                <a:solidFill>
                  <a:srgbClr val="151515"/>
                </a:solidFill>
              </a:defRPr>
            </a:pPr>
            <a:r>
              <a:rPr sz="1425" b="0">
                <a:solidFill>
                  <a:srgbClr val="151515"/>
                </a:solidFill>
              </a:rPr>
              <a:t>Xem sản phẩm, tìm kiếm, đọc blog, chat AI, đăng ký/đăng nhập</a:t>
            </a:r>
          </a:p>
        </p:txBody>
      </p:sp>
      <p:sp>
        <p:nvSpPr>
          <p:cNvPr id="21" name="Hình chữ nhật 20">
            <a:extLst>
              <a:ext uri="{FF2B5EF4-FFF2-40B4-BE49-F238E27FC236}">
                <a16:creationId xmlns:a16="http://schemas.microsoft.com/office/drawing/2014/main" id="{5A53936E-210A-4B15-A3C1-1B481BD94B4E}"/>
              </a:ext>
            </a:extLst>
          </p:cNvPr>
          <p:cNvSpPr>
            <a:spLocks noGrp="1"/>
          </p:cNvSpPr>
          <p:nvPr/>
        </p:nvSpPr>
        <p:spPr>
          <a:xfrm>
            <a:off x="819150" y="2860472"/>
            <a:ext cx="3052445" cy="463639"/>
          </a:xfrm>
          <a:prstGeom prst="rect">
            <a:avLst/>
          </a:prstGeom>
          <a:solidFill>
            <a:srgbClr val="FBF6EE"/>
          </a:solidFill>
          <a:ln w="9525">
            <a:solidFill>
              <a:srgbClr val="E8DDCF"/>
            </a:solidFill>
            <a:prstDash val="solid"/>
          </a:ln>
        </p:spPr>
      </p:sp>
      <p:sp>
        <p:nvSpPr>
          <p:cNvPr id="22" name="Hình chữ nhật 21">
            <a:extLst>
              <a:ext uri="{FF2B5EF4-FFF2-40B4-BE49-F238E27FC236}">
                <a16:creationId xmlns:a16="http://schemas.microsoft.com/office/drawing/2014/main" id="{74F652F9-0792-4BF2-A94B-47C68EB50E2B}"/>
              </a:ext>
            </a:extLst>
          </p:cNvPr>
          <p:cNvSpPr>
            <a:spLocks noGrp="1"/>
          </p:cNvSpPr>
          <p:nvPr/>
        </p:nvSpPr>
        <p:spPr>
          <a:xfrm>
            <a:off x="952500" y="2971800"/>
            <a:ext cx="2800350" cy="266700"/>
          </a:xfrm>
          <a:prstGeom prst="rect">
            <a:avLst/>
          </a:prstGeom>
        </p:spPr>
        <p:txBody>
          <a:bodyPr lIns="0" tIns="0" rIns="0" bIns="0"/>
          <a:lstStyle/>
          <a:p>
            <a:pPr>
              <a:lnSpc>
                <a:spcPct val="117000"/>
              </a:lnSpc>
              <a:buNone/>
              <a:defRPr sz="1425" b="0">
                <a:solidFill>
                  <a:srgbClr val="151515"/>
                </a:solidFill>
              </a:defRPr>
            </a:pPr>
            <a:r>
              <a:rPr sz="1425" b="0">
                <a:solidFill>
                  <a:srgbClr val="151515"/>
                </a:solidFill>
              </a:rPr>
              <a:t>Customer</a:t>
            </a:r>
          </a:p>
        </p:txBody>
      </p:sp>
      <p:sp>
        <p:nvSpPr>
          <p:cNvPr id="23" name="Hình chữ nhật 22">
            <a:extLst>
              <a:ext uri="{FF2B5EF4-FFF2-40B4-BE49-F238E27FC236}">
                <a16:creationId xmlns:a16="http://schemas.microsoft.com/office/drawing/2014/main" id="{4C144A03-8E05-4898-BE0E-84307EEB71B0}"/>
              </a:ext>
            </a:extLst>
          </p:cNvPr>
          <p:cNvSpPr>
            <a:spLocks noGrp="1"/>
          </p:cNvSpPr>
          <p:nvPr/>
        </p:nvSpPr>
        <p:spPr>
          <a:xfrm>
            <a:off x="3871595" y="2860472"/>
            <a:ext cx="4994910" cy="463639"/>
          </a:xfrm>
          <a:prstGeom prst="rect">
            <a:avLst/>
          </a:prstGeom>
          <a:solidFill>
            <a:srgbClr val="FBF6EE"/>
          </a:solidFill>
          <a:ln w="9525">
            <a:solidFill>
              <a:srgbClr val="E8DDCF"/>
            </a:solidFill>
            <a:prstDash val="solid"/>
          </a:ln>
        </p:spPr>
      </p:sp>
      <p:sp>
        <p:nvSpPr>
          <p:cNvPr id="24" name="Hình chữ nhật 23">
            <a:extLst>
              <a:ext uri="{FF2B5EF4-FFF2-40B4-BE49-F238E27FC236}">
                <a16:creationId xmlns:a16="http://schemas.microsoft.com/office/drawing/2014/main" id="{CD59C109-3B5E-43EB-A3D2-99208C2FC360}"/>
              </a:ext>
            </a:extLst>
          </p:cNvPr>
          <p:cNvSpPr>
            <a:spLocks noGrp="1"/>
          </p:cNvSpPr>
          <p:nvPr/>
        </p:nvSpPr>
        <p:spPr>
          <a:xfrm>
            <a:off x="4000500" y="2971800"/>
            <a:ext cx="4743450" cy="266700"/>
          </a:xfrm>
          <a:prstGeom prst="rect">
            <a:avLst/>
          </a:prstGeom>
        </p:spPr>
        <p:txBody>
          <a:bodyPr lIns="0" tIns="0" rIns="0" bIns="0"/>
          <a:lstStyle/>
          <a:p>
            <a:pPr>
              <a:lnSpc>
                <a:spcPct val="117000"/>
              </a:lnSpc>
              <a:buNone/>
              <a:defRPr sz="1425" b="0">
                <a:solidFill>
                  <a:srgbClr val="151515"/>
                </a:solidFill>
              </a:defRPr>
            </a:pPr>
            <a:r>
              <a:rPr sz="1425" b="0">
                <a:solidFill>
                  <a:srgbClr val="151515"/>
                </a:solidFill>
              </a:rPr>
              <a:t>Khách có tài khoản</a:t>
            </a:r>
          </a:p>
        </p:txBody>
      </p:sp>
      <p:sp>
        <p:nvSpPr>
          <p:cNvPr id="25" name="Hình chữ nhật 24">
            <a:extLst>
              <a:ext uri="{FF2B5EF4-FFF2-40B4-BE49-F238E27FC236}">
                <a16:creationId xmlns:a16="http://schemas.microsoft.com/office/drawing/2014/main" id="{5314ACCD-77B4-4546-8BA0-24A14E9250E3}"/>
              </a:ext>
            </a:extLst>
          </p:cNvPr>
          <p:cNvSpPr>
            <a:spLocks noGrp="1"/>
          </p:cNvSpPr>
          <p:nvPr/>
        </p:nvSpPr>
        <p:spPr>
          <a:xfrm>
            <a:off x="8866505" y="2860472"/>
            <a:ext cx="8602345" cy="463639"/>
          </a:xfrm>
          <a:prstGeom prst="rect">
            <a:avLst/>
          </a:prstGeom>
          <a:solidFill>
            <a:srgbClr val="FBF6EE"/>
          </a:solidFill>
          <a:ln w="9525">
            <a:solidFill>
              <a:srgbClr val="E8DDCF"/>
            </a:solidFill>
            <a:prstDash val="solid"/>
          </a:ln>
        </p:spPr>
      </p:sp>
      <p:sp>
        <p:nvSpPr>
          <p:cNvPr id="26" name="Hình chữ nhật 25">
            <a:extLst>
              <a:ext uri="{FF2B5EF4-FFF2-40B4-BE49-F238E27FC236}">
                <a16:creationId xmlns:a16="http://schemas.microsoft.com/office/drawing/2014/main" id="{19A4DB89-440D-49EC-9794-056ADC50430C}"/>
              </a:ext>
            </a:extLst>
          </p:cNvPr>
          <p:cNvSpPr>
            <a:spLocks noGrp="1"/>
          </p:cNvSpPr>
          <p:nvPr/>
        </p:nvSpPr>
        <p:spPr>
          <a:xfrm>
            <a:off x="8991600" y="2971800"/>
            <a:ext cx="8362950" cy="266700"/>
          </a:xfrm>
          <a:prstGeom prst="rect">
            <a:avLst/>
          </a:prstGeom>
        </p:spPr>
        <p:txBody>
          <a:bodyPr lIns="0" tIns="0" rIns="0" bIns="0"/>
          <a:lstStyle/>
          <a:p>
            <a:pPr>
              <a:lnSpc>
                <a:spcPct val="117000"/>
              </a:lnSpc>
              <a:buNone/>
              <a:defRPr sz="1425" b="0">
                <a:solidFill>
                  <a:srgbClr val="151515"/>
                </a:solidFill>
              </a:defRPr>
            </a:pPr>
            <a:r>
              <a:rPr sz="1425" b="0">
                <a:solidFill>
                  <a:srgbClr val="151515"/>
                </a:solidFill>
              </a:rPr>
              <a:t>Mua hàng, wishlist, địa chỉ, đơn hàng, review và hồ sơ cá nhân</a:t>
            </a:r>
          </a:p>
        </p:txBody>
      </p:sp>
      <p:sp>
        <p:nvSpPr>
          <p:cNvPr id="27" name="Hình chữ nhật 26">
            <a:extLst>
              <a:ext uri="{FF2B5EF4-FFF2-40B4-BE49-F238E27FC236}">
                <a16:creationId xmlns:a16="http://schemas.microsoft.com/office/drawing/2014/main" id="{103892AC-0D84-46CA-BB34-83284947716A}"/>
              </a:ext>
            </a:extLst>
          </p:cNvPr>
          <p:cNvSpPr>
            <a:spLocks noGrp="1"/>
          </p:cNvSpPr>
          <p:nvPr/>
        </p:nvSpPr>
        <p:spPr>
          <a:xfrm>
            <a:off x="819150" y="3324111"/>
            <a:ext cx="3052445" cy="463639"/>
          </a:xfrm>
          <a:prstGeom prst="rect">
            <a:avLst/>
          </a:prstGeom>
          <a:solidFill>
            <a:srgbClr val="FFFFFF"/>
          </a:solidFill>
          <a:ln w="9525">
            <a:solidFill>
              <a:srgbClr val="E8DDCF"/>
            </a:solidFill>
            <a:prstDash val="solid"/>
          </a:ln>
        </p:spPr>
      </p:sp>
      <p:sp>
        <p:nvSpPr>
          <p:cNvPr id="28" name="Hình chữ nhật 27">
            <a:extLst>
              <a:ext uri="{FF2B5EF4-FFF2-40B4-BE49-F238E27FC236}">
                <a16:creationId xmlns:a16="http://schemas.microsoft.com/office/drawing/2014/main" id="{92A43CFC-9E5A-4E7F-AD72-81D47F2F2341}"/>
              </a:ext>
            </a:extLst>
          </p:cNvPr>
          <p:cNvSpPr>
            <a:spLocks noGrp="1"/>
          </p:cNvSpPr>
          <p:nvPr/>
        </p:nvSpPr>
        <p:spPr>
          <a:xfrm>
            <a:off x="952500" y="3429000"/>
            <a:ext cx="2800350" cy="266700"/>
          </a:xfrm>
          <a:prstGeom prst="rect">
            <a:avLst/>
          </a:prstGeom>
        </p:spPr>
        <p:txBody>
          <a:bodyPr lIns="0" tIns="0" rIns="0" bIns="0"/>
          <a:lstStyle/>
          <a:p>
            <a:pPr>
              <a:lnSpc>
                <a:spcPct val="117000"/>
              </a:lnSpc>
              <a:buNone/>
              <a:defRPr sz="1425" b="0">
                <a:solidFill>
                  <a:srgbClr val="151515"/>
                </a:solidFill>
              </a:defRPr>
            </a:pPr>
            <a:r>
              <a:rPr sz="1425" b="0">
                <a:solidFill>
                  <a:srgbClr val="151515"/>
                </a:solidFill>
              </a:rPr>
              <a:t>Admin</a:t>
            </a:r>
          </a:p>
        </p:txBody>
      </p:sp>
      <p:sp>
        <p:nvSpPr>
          <p:cNvPr id="29" name="Hình chữ nhật 28">
            <a:extLst>
              <a:ext uri="{FF2B5EF4-FFF2-40B4-BE49-F238E27FC236}">
                <a16:creationId xmlns:a16="http://schemas.microsoft.com/office/drawing/2014/main" id="{8D1730E6-0444-4FEA-98E9-D02FC9571E7B}"/>
              </a:ext>
            </a:extLst>
          </p:cNvPr>
          <p:cNvSpPr>
            <a:spLocks noGrp="1"/>
          </p:cNvSpPr>
          <p:nvPr/>
        </p:nvSpPr>
        <p:spPr>
          <a:xfrm>
            <a:off x="3871595" y="3324111"/>
            <a:ext cx="4994910" cy="463639"/>
          </a:xfrm>
          <a:prstGeom prst="rect">
            <a:avLst/>
          </a:prstGeom>
          <a:solidFill>
            <a:srgbClr val="FFFFFF"/>
          </a:solidFill>
          <a:ln w="9525">
            <a:solidFill>
              <a:srgbClr val="E8DDCF"/>
            </a:solidFill>
            <a:prstDash val="solid"/>
          </a:ln>
        </p:spPr>
      </p:sp>
      <p:sp>
        <p:nvSpPr>
          <p:cNvPr id="30" name="Hình chữ nhật 29">
            <a:extLst>
              <a:ext uri="{FF2B5EF4-FFF2-40B4-BE49-F238E27FC236}">
                <a16:creationId xmlns:a16="http://schemas.microsoft.com/office/drawing/2014/main" id="{68D326B0-78A2-4FB4-B9B5-F74C16FEA24E}"/>
              </a:ext>
            </a:extLst>
          </p:cNvPr>
          <p:cNvSpPr>
            <a:spLocks noGrp="1"/>
          </p:cNvSpPr>
          <p:nvPr/>
        </p:nvSpPr>
        <p:spPr>
          <a:xfrm>
            <a:off x="4000500" y="3429000"/>
            <a:ext cx="4743450" cy="266700"/>
          </a:xfrm>
          <a:prstGeom prst="rect">
            <a:avLst/>
          </a:prstGeom>
        </p:spPr>
        <p:txBody>
          <a:bodyPr lIns="0" tIns="0" rIns="0" bIns="0"/>
          <a:lstStyle/>
          <a:p>
            <a:pPr>
              <a:lnSpc>
                <a:spcPct val="117000"/>
              </a:lnSpc>
              <a:buNone/>
              <a:defRPr sz="1425" b="0">
                <a:solidFill>
                  <a:srgbClr val="151515"/>
                </a:solidFill>
              </a:defRPr>
            </a:pPr>
            <a:r>
              <a:rPr sz="1425" b="0">
                <a:solidFill>
                  <a:srgbClr val="151515"/>
                </a:solidFill>
              </a:rPr>
              <a:t>Quản trị viên</a:t>
            </a:r>
          </a:p>
        </p:txBody>
      </p:sp>
      <p:sp>
        <p:nvSpPr>
          <p:cNvPr id="31" name="Hình chữ nhật 30">
            <a:extLst>
              <a:ext uri="{FF2B5EF4-FFF2-40B4-BE49-F238E27FC236}">
                <a16:creationId xmlns:a16="http://schemas.microsoft.com/office/drawing/2014/main" id="{0D7649CD-3C5F-4748-B9E5-7F6FEC0E4054}"/>
              </a:ext>
            </a:extLst>
          </p:cNvPr>
          <p:cNvSpPr>
            <a:spLocks noGrp="1"/>
          </p:cNvSpPr>
          <p:nvPr/>
        </p:nvSpPr>
        <p:spPr>
          <a:xfrm>
            <a:off x="8866505" y="3324111"/>
            <a:ext cx="8602345" cy="463639"/>
          </a:xfrm>
          <a:prstGeom prst="rect">
            <a:avLst/>
          </a:prstGeom>
          <a:solidFill>
            <a:srgbClr val="FFFFFF"/>
          </a:solidFill>
          <a:ln w="9525">
            <a:solidFill>
              <a:srgbClr val="E8DDCF"/>
            </a:solidFill>
            <a:prstDash val="solid"/>
          </a:ln>
        </p:spPr>
      </p:sp>
      <p:sp>
        <p:nvSpPr>
          <p:cNvPr id="32" name="Hình chữ nhật 31">
            <a:extLst>
              <a:ext uri="{FF2B5EF4-FFF2-40B4-BE49-F238E27FC236}">
                <a16:creationId xmlns:a16="http://schemas.microsoft.com/office/drawing/2014/main" id="{9FCB6693-476C-460A-9CDB-E164B4CED93F}"/>
              </a:ext>
            </a:extLst>
          </p:cNvPr>
          <p:cNvSpPr>
            <a:spLocks noGrp="1"/>
          </p:cNvSpPr>
          <p:nvPr/>
        </p:nvSpPr>
        <p:spPr>
          <a:xfrm>
            <a:off x="8991600" y="3429000"/>
            <a:ext cx="8362950" cy="266700"/>
          </a:xfrm>
          <a:prstGeom prst="rect">
            <a:avLst/>
          </a:prstGeom>
        </p:spPr>
        <p:txBody>
          <a:bodyPr lIns="0" tIns="0" rIns="0" bIns="0"/>
          <a:lstStyle/>
          <a:p>
            <a:pPr>
              <a:lnSpc>
                <a:spcPct val="117000"/>
              </a:lnSpc>
              <a:buNone/>
              <a:defRPr sz="1425" b="0">
                <a:solidFill>
                  <a:srgbClr val="151515"/>
                </a:solidFill>
              </a:defRPr>
            </a:pPr>
            <a:r>
              <a:rPr sz="1425" b="0">
                <a:solidFill>
                  <a:srgbClr val="151515"/>
                </a:solidFill>
              </a:rPr>
              <a:t>Quản lý sản phẩm, đơn hàng, user, coupon, content, AI config và chat</a:t>
            </a:r>
          </a:p>
        </p:txBody>
      </p:sp>
      <p:sp>
        <p:nvSpPr>
          <p:cNvPr id="33" name="Hình chữ nhật 32">
            <a:extLst>
              <a:ext uri="{FF2B5EF4-FFF2-40B4-BE49-F238E27FC236}">
                <a16:creationId xmlns:a16="http://schemas.microsoft.com/office/drawing/2014/main" id="{A51E0F89-D73F-436B-8BCF-ADB6087FA1CA}"/>
              </a:ext>
            </a:extLst>
          </p:cNvPr>
          <p:cNvSpPr>
            <a:spLocks noGrp="1"/>
          </p:cNvSpPr>
          <p:nvPr/>
        </p:nvSpPr>
        <p:spPr>
          <a:xfrm>
            <a:off x="819150" y="3787750"/>
            <a:ext cx="3052445" cy="463639"/>
          </a:xfrm>
          <a:prstGeom prst="rect">
            <a:avLst/>
          </a:prstGeom>
          <a:solidFill>
            <a:srgbClr val="FBF6EE"/>
          </a:solidFill>
          <a:ln w="9525">
            <a:solidFill>
              <a:srgbClr val="E8DDCF"/>
            </a:solidFill>
            <a:prstDash val="solid"/>
          </a:ln>
        </p:spPr>
      </p:sp>
      <p:sp>
        <p:nvSpPr>
          <p:cNvPr id="34" name="Hình chữ nhật 33">
            <a:extLst>
              <a:ext uri="{FF2B5EF4-FFF2-40B4-BE49-F238E27FC236}">
                <a16:creationId xmlns:a16="http://schemas.microsoft.com/office/drawing/2014/main" id="{C8BC81DB-A058-4A75-B277-D013A3F3B509}"/>
              </a:ext>
            </a:extLst>
          </p:cNvPr>
          <p:cNvSpPr>
            <a:spLocks noGrp="1"/>
          </p:cNvSpPr>
          <p:nvPr/>
        </p:nvSpPr>
        <p:spPr>
          <a:xfrm>
            <a:off x="952500" y="3886200"/>
            <a:ext cx="2800350" cy="266700"/>
          </a:xfrm>
          <a:prstGeom prst="rect">
            <a:avLst/>
          </a:prstGeom>
        </p:spPr>
        <p:txBody>
          <a:bodyPr lIns="0" tIns="0" rIns="0" bIns="0"/>
          <a:lstStyle/>
          <a:p>
            <a:pPr>
              <a:lnSpc>
                <a:spcPct val="117000"/>
              </a:lnSpc>
              <a:buNone/>
              <a:defRPr sz="1425" b="0">
                <a:solidFill>
                  <a:srgbClr val="151515"/>
                </a:solidFill>
              </a:defRPr>
            </a:pPr>
            <a:r>
              <a:rPr sz="1425" b="0">
                <a:solidFill>
                  <a:srgbClr val="151515"/>
                </a:solidFill>
              </a:rPr>
              <a:t>Payment Gateway</a:t>
            </a:r>
          </a:p>
        </p:txBody>
      </p:sp>
      <p:sp>
        <p:nvSpPr>
          <p:cNvPr id="35" name="Hình chữ nhật 34">
            <a:extLst>
              <a:ext uri="{FF2B5EF4-FFF2-40B4-BE49-F238E27FC236}">
                <a16:creationId xmlns:a16="http://schemas.microsoft.com/office/drawing/2014/main" id="{755E7E17-BA8F-4FFF-9985-CDD06D977FC0}"/>
              </a:ext>
            </a:extLst>
          </p:cNvPr>
          <p:cNvSpPr>
            <a:spLocks noGrp="1"/>
          </p:cNvSpPr>
          <p:nvPr/>
        </p:nvSpPr>
        <p:spPr>
          <a:xfrm>
            <a:off x="3871595" y="3787750"/>
            <a:ext cx="4994910" cy="463639"/>
          </a:xfrm>
          <a:prstGeom prst="rect">
            <a:avLst/>
          </a:prstGeom>
          <a:solidFill>
            <a:srgbClr val="FBF6EE"/>
          </a:solidFill>
          <a:ln w="9525">
            <a:solidFill>
              <a:srgbClr val="E8DDCF"/>
            </a:solidFill>
            <a:prstDash val="solid"/>
          </a:ln>
        </p:spPr>
      </p:sp>
      <p:sp>
        <p:nvSpPr>
          <p:cNvPr id="36" name="Hình chữ nhật 35">
            <a:extLst>
              <a:ext uri="{FF2B5EF4-FFF2-40B4-BE49-F238E27FC236}">
                <a16:creationId xmlns:a16="http://schemas.microsoft.com/office/drawing/2014/main" id="{6972FD70-1AC1-40A8-82B5-7A1F133239EB}"/>
              </a:ext>
            </a:extLst>
          </p:cNvPr>
          <p:cNvSpPr>
            <a:spLocks noGrp="1"/>
          </p:cNvSpPr>
          <p:nvPr/>
        </p:nvSpPr>
        <p:spPr>
          <a:xfrm>
            <a:off x="4000500" y="3886200"/>
            <a:ext cx="4743450" cy="266700"/>
          </a:xfrm>
          <a:prstGeom prst="rect">
            <a:avLst/>
          </a:prstGeom>
        </p:spPr>
        <p:txBody>
          <a:bodyPr lIns="0" tIns="0" rIns="0" bIns="0"/>
          <a:lstStyle/>
          <a:p>
            <a:pPr>
              <a:lnSpc>
                <a:spcPct val="117000"/>
              </a:lnSpc>
              <a:buNone/>
              <a:defRPr sz="1425" b="0">
                <a:solidFill>
                  <a:srgbClr val="151515"/>
                </a:solidFill>
              </a:defRPr>
            </a:pPr>
            <a:r>
              <a:rPr sz="1425" b="0">
                <a:solidFill>
                  <a:srgbClr val="151515"/>
                </a:solidFill>
              </a:rPr>
              <a:t>Cổng thanh toán</a:t>
            </a:r>
          </a:p>
        </p:txBody>
      </p:sp>
      <p:sp>
        <p:nvSpPr>
          <p:cNvPr id="37" name="Hình chữ nhật 36">
            <a:extLst>
              <a:ext uri="{FF2B5EF4-FFF2-40B4-BE49-F238E27FC236}">
                <a16:creationId xmlns:a16="http://schemas.microsoft.com/office/drawing/2014/main" id="{20212051-2483-4DD6-BA63-FE3A0CCE524E}"/>
              </a:ext>
            </a:extLst>
          </p:cNvPr>
          <p:cNvSpPr>
            <a:spLocks noGrp="1"/>
          </p:cNvSpPr>
          <p:nvPr/>
        </p:nvSpPr>
        <p:spPr>
          <a:xfrm>
            <a:off x="8866505" y="3787750"/>
            <a:ext cx="8602345" cy="463639"/>
          </a:xfrm>
          <a:prstGeom prst="rect">
            <a:avLst/>
          </a:prstGeom>
          <a:solidFill>
            <a:srgbClr val="FBF6EE"/>
          </a:solidFill>
          <a:ln w="9525">
            <a:solidFill>
              <a:srgbClr val="E8DDCF"/>
            </a:solidFill>
            <a:prstDash val="solid"/>
          </a:ln>
        </p:spPr>
      </p:sp>
      <p:sp>
        <p:nvSpPr>
          <p:cNvPr id="38" name="Hình chữ nhật 37">
            <a:extLst>
              <a:ext uri="{FF2B5EF4-FFF2-40B4-BE49-F238E27FC236}">
                <a16:creationId xmlns:a16="http://schemas.microsoft.com/office/drawing/2014/main" id="{E7ED5CB7-1B53-4B04-8C92-5318C727A976}"/>
              </a:ext>
            </a:extLst>
          </p:cNvPr>
          <p:cNvSpPr>
            <a:spLocks noGrp="1"/>
          </p:cNvSpPr>
          <p:nvPr/>
        </p:nvSpPr>
        <p:spPr>
          <a:xfrm>
            <a:off x="8991600" y="3886200"/>
            <a:ext cx="8362950" cy="266700"/>
          </a:xfrm>
          <a:prstGeom prst="rect">
            <a:avLst/>
          </a:prstGeom>
        </p:spPr>
        <p:txBody>
          <a:bodyPr lIns="0" tIns="0" rIns="0" bIns="0"/>
          <a:lstStyle/>
          <a:p>
            <a:pPr>
              <a:lnSpc>
                <a:spcPct val="117000"/>
              </a:lnSpc>
              <a:buNone/>
              <a:defRPr sz="1425" b="0">
                <a:solidFill>
                  <a:srgbClr val="151515"/>
                </a:solidFill>
              </a:defRPr>
            </a:pPr>
            <a:r>
              <a:rPr sz="1425" b="0">
                <a:solidFill>
                  <a:srgbClr val="151515"/>
                </a:solidFill>
              </a:rPr>
              <a:t>Xử lý giao dịch, callback, IPN/webhook</a:t>
            </a:r>
          </a:p>
        </p:txBody>
      </p:sp>
      <p:sp>
        <p:nvSpPr>
          <p:cNvPr id="39" name="Hình chữ nhật 38">
            <a:extLst>
              <a:ext uri="{FF2B5EF4-FFF2-40B4-BE49-F238E27FC236}">
                <a16:creationId xmlns:a16="http://schemas.microsoft.com/office/drawing/2014/main" id="{27E2E511-8A13-47B2-8BD7-B8607513185A}"/>
              </a:ext>
            </a:extLst>
          </p:cNvPr>
          <p:cNvSpPr>
            <a:spLocks noGrp="1"/>
          </p:cNvSpPr>
          <p:nvPr/>
        </p:nvSpPr>
        <p:spPr>
          <a:xfrm>
            <a:off x="819150" y="4251389"/>
            <a:ext cx="3052445" cy="463639"/>
          </a:xfrm>
          <a:prstGeom prst="rect">
            <a:avLst/>
          </a:prstGeom>
          <a:solidFill>
            <a:srgbClr val="FFFFFF"/>
          </a:solidFill>
          <a:ln w="9525">
            <a:solidFill>
              <a:srgbClr val="E8DDCF"/>
            </a:solidFill>
            <a:prstDash val="solid"/>
          </a:ln>
        </p:spPr>
      </p:sp>
      <p:sp>
        <p:nvSpPr>
          <p:cNvPr id="40" name="Hình chữ nhật 39">
            <a:extLst>
              <a:ext uri="{FF2B5EF4-FFF2-40B4-BE49-F238E27FC236}">
                <a16:creationId xmlns:a16="http://schemas.microsoft.com/office/drawing/2014/main" id="{F1FA34ED-F6B8-46ED-AA18-52DBE4B4ECDC}"/>
              </a:ext>
            </a:extLst>
          </p:cNvPr>
          <p:cNvSpPr>
            <a:spLocks noGrp="1"/>
          </p:cNvSpPr>
          <p:nvPr/>
        </p:nvSpPr>
        <p:spPr>
          <a:xfrm>
            <a:off x="952500" y="4362450"/>
            <a:ext cx="2800350" cy="266700"/>
          </a:xfrm>
          <a:prstGeom prst="rect">
            <a:avLst/>
          </a:prstGeom>
        </p:spPr>
        <p:txBody>
          <a:bodyPr lIns="0" tIns="0" rIns="0" bIns="0"/>
          <a:lstStyle/>
          <a:p>
            <a:pPr>
              <a:lnSpc>
                <a:spcPct val="117000"/>
              </a:lnSpc>
              <a:buNone/>
              <a:defRPr sz="1425" b="0">
                <a:solidFill>
                  <a:srgbClr val="151515"/>
                </a:solidFill>
              </a:defRPr>
            </a:pPr>
            <a:r>
              <a:rPr sz="1425" b="0">
                <a:solidFill>
                  <a:srgbClr val="151515"/>
                </a:solidFill>
              </a:rPr>
              <a:t>AI / Email</a:t>
            </a:r>
          </a:p>
        </p:txBody>
      </p:sp>
      <p:sp>
        <p:nvSpPr>
          <p:cNvPr id="41" name="Hình chữ nhật 40">
            <a:extLst>
              <a:ext uri="{FF2B5EF4-FFF2-40B4-BE49-F238E27FC236}">
                <a16:creationId xmlns:a16="http://schemas.microsoft.com/office/drawing/2014/main" id="{824731AD-9DAF-44DF-A261-6483406D54BC}"/>
              </a:ext>
            </a:extLst>
          </p:cNvPr>
          <p:cNvSpPr>
            <a:spLocks noGrp="1"/>
          </p:cNvSpPr>
          <p:nvPr/>
        </p:nvSpPr>
        <p:spPr>
          <a:xfrm>
            <a:off x="3871595" y="4251389"/>
            <a:ext cx="4994910" cy="463639"/>
          </a:xfrm>
          <a:prstGeom prst="rect">
            <a:avLst/>
          </a:prstGeom>
          <a:solidFill>
            <a:srgbClr val="FFFFFF"/>
          </a:solidFill>
          <a:ln w="9525">
            <a:solidFill>
              <a:srgbClr val="E8DDCF"/>
            </a:solidFill>
            <a:prstDash val="solid"/>
          </a:ln>
        </p:spPr>
      </p:sp>
      <p:sp>
        <p:nvSpPr>
          <p:cNvPr id="42" name="Hình chữ nhật 41">
            <a:extLst>
              <a:ext uri="{FF2B5EF4-FFF2-40B4-BE49-F238E27FC236}">
                <a16:creationId xmlns:a16="http://schemas.microsoft.com/office/drawing/2014/main" id="{FF9D88C7-D3D8-413E-AD69-7D35C57B7206}"/>
              </a:ext>
            </a:extLst>
          </p:cNvPr>
          <p:cNvSpPr>
            <a:spLocks noGrp="1"/>
          </p:cNvSpPr>
          <p:nvPr/>
        </p:nvSpPr>
        <p:spPr>
          <a:xfrm>
            <a:off x="4000500" y="4362450"/>
            <a:ext cx="4743450" cy="266700"/>
          </a:xfrm>
          <a:prstGeom prst="rect">
            <a:avLst/>
          </a:prstGeom>
        </p:spPr>
        <p:txBody>
          <a:bodyPr lIns="0" tIns="0" rIns="0" bIns="0"/>
          <a:lstStyle/>
          <a:p>
            <a:pPr>
              <a:lnSpc>
                <a:spcPct val="117000"/>
              </a:lnSpc>
              <a:buNone/>
              <a:defRPr sz="1425" b="0">
                <a:solidFill>
                  <a:srgbClr val="151515"/>
                </a:solidFill>
              </a:defRPr>
            </a:pPr>
            <a:r>
              <a:rPr sz="1425" b="0">
                <a:solidFill>
                  <a:srgbClr val="151515"/>
                </a:solidFill>
              </a:rPr>
              <a:t>Dịch vụ ngoài</a:t>
            </a:r>
          </a:p>
        </p:txBody>
      </p:sp>
      <p:sp>
        <p:nvSpPr>
          <p:cNvPr id="43" name="Hình chữ nhật 42">
            <a:extLst>
              <a:ext uri="{FF2B5EF4-FFF2-40B4-BE49-F238E27FC236}">
                <a16:creationId xmlns:a16="http://schemas.microsoft.com/office/drawing/2014/main" id="{CCA932CA-6AC9-4285-8501-EF27C776FE06}"/>
              </a:ext>
            </a:extLst>
          </p:cNvPr>
          <p:cNvSpPr>
            <a:spLocks noGrp="1"/>
          </p:cNvSpPr>
          <p:nvPr/>
        </p:nvSpPr>
        <p:spPr>
          <a:xfrm>
            <a:off x="8866505" y="4251389"/>
            <a:ext cx="8602345" cy="463639"/>
          </a:xfrm>
          <a:prstGeom prst="rect">
            <a:avLst/>
          </a:prstGeom>
          <a:solidFill>
            <a:srgbClr val="FFFFFF"/>
          </a:solidFill>
          <a:ln w="9525">
            <a:solidFill>
              <a:srgbClr val="E8DDCF"/>
            </a:solidFill>
            <a:prstDash val="solid"/>
          </a:ln>
        </p:spPr>
      </p:sp>
      <p:sp>
        <p:nvSpPr>
          <p:cNvPr id="44" name="Hình chữ nhật 43">
            <a:extLst>
              <a:ext uri="{FF2B5EF4-FFF2-40B4-BE49-F238E27FC236}">
                <a16:creationId xmlns:a16="http://schemas.microsoft.com/office/drawing/2014/main" id="{3B2DC2A3-47D9-4EB9-B2D7-15E416F4F35A}"/>
              </a:ext>
            </a:extLst>
          </p:cNvPr>
          <p:cNvSpPr>
            <a:spLocks noGrp="1"/>
          </p:cNvSpPr>
          <p:nvPr/>
        </p:nvSpPr>
        <p:spPr>
          <a:xfrm>
            <a:off x="8991600" y="4362450"/>
            <a:ext cx="8362950" cy="266700"/>
          </a:xfrm>
          <a:prstGeom prst="rect">
            <a:avLst/>
          </a:prstGeom>
        </p:spPr>
        <p:txBody>
          <a:bodyPr lIns="0" tIns="0" rIns="0" bIns="0"/>
          <a:lstStyle/>
          <a:p>
            <a:pPr>
              <a:lnSpc>
                <a:spcPct val="117000"/>
              </a:lnSpc>
              <a:buNone/>
              <a:defRPr sz="1425" b="0">
                <a:solidFill>
                  <a:srgbClr val="151515"/>
                </a:solidFill>
              </a:defRPr>
            </a:pPr>
            <a:r>
              <a:rPr sz="1425" b="0">
                <a:solidFill>
                  <a:srgbClr val="151515"/>
                </a:solidFill>
              </a:rPr>
              <a:t>Sinh phản hồi tư vấn, gửi OTP, reset password và thông báo</a:t>
            </a:r>
          </a:p>
        </p:txBody>
      </p:sp>
    </p:spTree>
    <p:extLst>
      <p:ext uri="{BB962C8B-B14F-4D97-AF65-F5344CB8AC3E}">
        <p14:creationId xmlns:p14="http://schemas.microsoft.com/office/powerpoint/2010/main" val="394643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background">
            <a:extLst>
              <a:ext uri="{FF2B5EF4-FFF2-40B4-BE49-F238E27FC236}">
                <a16:creationId xmlns:a16="http://schemas.microsoft.com/office/drawing/2014/main" id="{B1DD92A2-7CA5-4F71-A0CE-9F3320F99BB1}"/>
              </a:ext>
            </a:extLst>
          </p:cNvPr>
          <p:cNvSpPr>
            <a:spLocks noGrp="1"/>
          </p:cNvSpPr>
          <p:nvPr/>
        </p:nvSpPr>
        <p:spPr>
          <a:xfrm>
            <a:off x="0" y="0"/>
            <a:ext cx="18288000" cy="10287000"/>
          </a:xfrm>
          <a:prstGeom prst="rect">
            <a:avLst/>
          </a:prstGeom>
          <a:solidFill>
            <a:srgbClr val="FFFDF8"/>
          </a:solidFill>
        </p:spPr>
      </p:sp>
      <p:sp>
        <p:nvSpPr>
          <p:cNvPr id="2" name="top-band">
            <a:extLst>
              <a:ext uri="{FF2B5EF4-FFF2-40B4-BE49-F238E27FC236}">
                <a16:creationId xmlns:a16="http://schemas.microsoft.com/office/drawing/2014/main" id="{3E59A93E-3228-47FD-BD90-51A341BCA861}"/>
              </a:ext>
            </a:extLst>
          </p:cNvPr>
          <p:cNvSpPr>
            <a:spLocks noGrp="1"/>
          </p:cNvSpPr>
          <p:nvPr/>
        </p:nvSpPr>
        <p:spPr>
          <a:xfrm>
            <a:off x="0" y="0"/>
            <a:ext cx="18288000" cy="152400"/>
          </a:xfrm>
          <a:prstGeom prst="rect">
            <a:avLst/>
          </a:prstGeom>
          <a:solidFill>
            <a:srgbClr val="D9B760"/>
          </a:solidFill>
        </p:spPr>
      </p:sp>
      <p:sp>
        <p:nvSpPr>
          <p:cNvPr id="3" name="bottom-band">
            <a:extLst>
              <a:ext uri="{FF2B5EF4-FFF2-40B4-BE49-F238E27FC236}">
                <a16:creationId xmlns:a16="http://schemas.microsoft.com/office/drawing/2014/main" id="{745E980E-DC9B-4DDE-91B5-6B9AFB849E3D}"/>
              </a:ext>
            </a:extLst>
          </p:cNvPr>
          <p:cNvSpPr>
            <a:spLocks noGrp="1"/>
          </p:cNvSpPr>
          <p:nvPr/>
        </p:nvSpPr>
        <p:spPr>
          <a:xfrm>
            <a:off x="0" y="0"/>
            <a:ext cx="18288000" cy="76200"/>
          </a:xfrm>
          <a:prstGeom prst="rect">
            <a:avLst/>
          </a:prstGeom>
          <a:solidFill>
            <a:srgbClr val="D9B760"/>
          </a:solidFill>
        </p:spPr>
      </p:sp>
      <p:sp>
        <p:nvSpPr>
          <p:cNvPr id="4" name="Hình chữ nhật: Góc Tròn 3">
            <a:extLst>
              <a:ext uri="{FF2B5EF4-FFF2-40B4-BE49-F238E27FC236}">
                <a16:creationId xmlns:a16="http://schemas.microsoft.com/office/drawing/2014/main" id="{23BA9BDD-28E7-40B1-B8C2-87B96A390F84}"/>
              </a:ext>
            </a:extLst>
          </p:cNvPr>
          <p:cNvSpPr>
            <a:spLocks noGrp="1"/>
          </p:cNvSpPr>
          <p:nvPr/>
        </p:nvSpPr>
        <p:spPr>
          <a:xfrm>
            <a:off x="838200" y="647700"/>
            <a:ext cx="400050" cy="95250"/>
          </a:xfrm>
          <a:prstGeom prst="roundRect">
            <a:avLst>
              <a:gd name="adj" fmla="val 50000"/>
            </a:avLst>
          </a:prstGeom>
          <a:solidFill>
            <a:srgbClr val="D9B760"/>
          </a:solidFill>
        </p:spPr>
      </p:sp>
      <p:sp>
        <p:nvSpPr>
          <p:cNvPr id="5" name="Hình chữ nhật 4">
            <a:extLst>
              <a:ext uri="{FF2B5EF4-FFF2-40B4-BE49-F238E27FC236}">
                <a16:creationId xmlns:a16="http://schemas.microsoft.com/office/drawing/2014/main" id="{7D5B44D9-DF87-4380-959B-D49A323125FF}"/>
              </a:ext>
            </a:extLst>
          </p:cNvPr>
          <p:cNvSpPr>
            <a:spLocks noGrp="1"/>
          </p:cNvSpPr>
          <p:nvPr/>
        </p:nvSpPr>
        <p:spPr>
          <a:xfrm>
            <a:off x="1371600" y="571500"/>
            <a:ext cx="15544800" cy="228600"/>
          </a:xfrm>
          <a:prstGeom prst="rect">
            <a:avLst/>
          </a:prstGeom>
        </p:spPr>
        <p:txBody>
          <a:bodyPr lIns="0" tIns="0" rIns="0" bIns="0"/>
          <a:lstStyle/>
          <a:p>
            <a:pPr>
              <a:lnSpc>
                <a:spcPct val="125000"/>
              </a:lnSpc>
              <a:buNone/>
              <a:defRPr sz="1200" b="1">
                <a:solidFill>
                  <a:srgbClr val="7E3D4A"/>
                </a:solidFill>
              </a:defRPr>
            </a:pPr>
            <a:r>
              <a:rPr sz="1200" b="1">
                <a:solidFill>
                  <a:srgbClr val="7E3D4A"/>
                </a:solidFill>
              </a:rPr>
              <a:t>KIẾN TRÚC</a:t>
            </a:r>
          </a:p>
        </p:txBody>
      </p:sp>
      <p:sp>
        <p:nvSpPr>
          <p:cNvPr id="6" name="Hình chữ nhật 5">
            <a:extLst>
              <a:ext uri="{FF2B5EF4-FFF2-40B4-BE49-F238E27FC236}">
                <a16:creationId xmlns:a16="http://schemas.microsoft.com/office/drawing/2014/main" id="{DB7B5504-5FDE-4E7F-840D-FCCB687B69E2}"/>
              </a:ext>
            </a:extLst>
          </p:cNvPr>
          <p:cNvSpPr>
            <a:spLocks noGrp="1"/>
          </p:cNvSpPr>
          <p:nvPr/>
        </p:nvSpPr>
        <p:spPr>
          <a:xfrm>
            <a:off x="17068800" y="571500"/>
            <a:ext cx="400050" cy="228600"/>
          </a:xfrm>
          <a:prstGeom prst="rect">
            <a:avLst/>
          </a:prstGeom>
        </p:spPr>
        <p:txBody>
          <a:bodyPr lIns="0" tIns="0" rIns="0" bIns="0"/>
          <a:lstStyle/>
          <a:p>
            <a:pPr>
              <a:lnSpc>
                <a:spcPct val="120000"/>
              </a:lnSpc>
              <a:buNone/>
              <a:defRPr sz="1275" b="1">
                <a:solidFill>
                  <a:srgbClr val="7E3D4A"/>
                </a:solidFill>
              </a:defRPr>
            </a:pPr>
            <a:r>
              <a:rPr sz="1275" b="1">
                <a:solidFill>
                  <a:srgbClr val="7E3D4A"/>
                </a:solidFill>
              </a:rPr>
              <a:t>08/30</a:t>
            </a:r>
          </a:p>
        </p:txBody>
      </p:sp>
      <p:sp>
        <p:nvSpPr>
          <p:cNvPr id="7" name="slide-title">
            <a:extLst>
              <a:ext uri="{FF2B5EF4-FFF2-40B4-BE49-F238E27FC236}">
                <a16:creationId xmlns:a16="http://schemas.microsoft.com/office/drawing/2014/main" id="{F253B85E-8E28-4952-B3ED-23CC800AA340}"/>
              </a:ext>
            </a:extLst>
          </p:cNvPr>
          <p:cNvSpPr>
            <a:spLocks noGrp="1"/>
          </p:cNvSpPr>
          <p:nvPr/>
        </p:nvSpPr>
        <p:spPr>
          <a:xfrm>
            <a:off x="819150" y="933450"/>
            <a:ext cx="16649700" cy="590550"/>
          </a:xfrm>
          <a:prstGeom prst="rect">
            <a:avLst/>
          </a:prstGeom>
        </p:spPr>
        <p:txBody>
          <a:bodyPr lIns="0" tIns="0" rIns="0" bIns="0"/>
          <a:lstStyle/>
          <a:p>
            <a:pPr>
              <a:lnSpc>
                <a:spcPct val="105000"/>
              </a:lnSpc>
              <a:buNone/>
              <a:defRPr sz="3600" b="1">
                <a:solidFill>
                  <a:srgbClr val="151515"/>
                </a:solidFill>
              </a:defRPr>
            </a:pPr>
            <a:r>
              <a:rPr sz="3600" b="1">
                <a:solidFill>
                  <a:srgbClr val="151515"/>
                </a:solidFill>
              </a:rPr>
              <a:t>Luồng hệ thống tổng quan</a:t>
            </a:r>
          </a:p>
        </p:txBody>
      </p:sp>
      <p:sp>
        <p:nvSpPr>
          <p:cNvPr id="8" name="title-rule">
            <a:extLst>
              <a:ext uri="{FF2B5EF4-FFF2-40B4-BE49-F238E27FC236}">
                <a16:creationId xmlns:a16="http://schemas.microsoft.com/office/drawing/2014/main" id="{DCF10FDA-12A3-4603-BBDF-90CE4A9A99F6}"/>
              </a:ext>
            </a:extLst>
          </p:cNvPr>
          <p:cNvSpPr>
            <a:spLocks noGrp="1"/>
          </p:cNvSpPr>
          <p:nvPr/>
        </p:nvSpPr>
        <p:spPr>
          <a:xfrm>
            <a:off x="819150" y="1619250"/>
            <a:ext cx="1905000" cy="38100"/>
          </a:xfrm>
          <a:prstGeom prst="rect">
            <a:avLst/>
          </a:prstGeom>
          <a:solidFill>
            <a:srgbClr val="D9B760"/>
          </a:solidFill>
          <a:ln w="0">
            <a:solidFill>
              <a:srgbClr val="D9B760"/>
            </a:solidFill>
            <a:prstDash val="solid"/>
          </a:ln>
        </p:spPr>
      </p:sp>
      <p:sp>
        <p:nvSpPr>
          <p:cNvPr id="9" name="Hình chữ nhật: Góc Tròn 8">
            <a:extLst>
              <a:ext uri="{FF2B5EF4-FFF2-40B4-BE49-F238E27FC236}">
                <a16:creationId xmlns:a16="http://schemas.microsoft.com/office/drawing/2014/main" id="{88069036-62D8-476C-AD53-758DA8A6C5E8}"/>
              </a:ext>
            </a:extLst>
          </p:cNvPr>
          <p:cNvSpPr>
            <a:spLocks noGrp="1"/>
          </p:cNvSpPr>
          <p:nvPr/>
        </p:nvSpPr>
        <p:spPr>
          <a:xfrm>
            <a:off x="3667125" y="4267200"/>
            <a:ext cx="2000250" cy="1047750"/>
          </a:xfrm>
          <a:prstGeom prst="roundRect">
            <a:avLst>
              <a:gd name="adj" fmla="val 7273"/>
            </a:avLst>
          </a:prstGeom>
          <a:solidFill>
            <a:srgbClr val="FFFFFF"/>
          </a:solidFill>
          <a:ln w="9525">
            <a:solidFill>
              <a:srgbClr val="D9B760"/>
            </a:solidFill>
            <a:prstDash val="solid"/>
          </a:ln>
        </p:spPr>
      </p:sp>
      <p:sp>
        <p:nvSpPr>
          <p:cNvPr id="10" name="Hình chữ nhật 9">
            <a:extLst>
              <a:ext uri="{FF2B5EF4-FFF2-40B4-BE49-F238E27FC236}">
                <a16:creationId xmlns:a16="http://schemas.microsoft.com/office/drawing/2014/main" id="{0581008D-9D59-4822-AC2A-BD7B306EC2B3}"/>
              </a:ext>
            </a:extLst>
          </p:cNvPr>
          <p:cNvSpPr>
            <a:spLocks noGrp="1"/>
          </p:cNvSpPr>
          <p:nvPr/>
        </p:nvSpPr>
        <p:spPr>
          <a:xfrm>
            <a:off x="3848100" y="4514850"/>
            <a:ext cx="165735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User / Admin</a:t>
            </a:r>
          </a:p>
        </p:txBody>
      </p:sp>
      <p:sp>
        <p:nvSpPr>
          <p:cNvPr id="11" name="Hình chữ nhật 10">
            <a:extLst>
              <a:ext uri="{FF2B5EF4-FFF2-40B4-BE49-F238E27FC236}">
                <a16:creationId xmlns:a16="http://schemas.microsoft.com/office/drawing/2014/main" id="{97E99491-AF69-4AFE-8E2F-32696F552ED5}"/>
              </a:ext>
            </a:extLst>
          </p:cNvPr>
          <p:cNvSpPr>
            <a:spLocks noGrp="1"/>
          </p:cNvSpPr>
          <p:nvPr/>
        </p:nvSpPr>
        <p:spPr>
          <a:xfrm>
            <a:off x="3848100" y="4876800"/>
            <a:ext cx="1657350" cy="2095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Trình duyệt</a:t>
            </a:r>
          </a:p>
        </p:txBody>
      </p:sp>
      <p:sp>
        <p:nvSpPr>
          <p:cNvPr id="12" name="Hình chữ nhật 11">
            <a:extLst>
              <a:ext uri="{FF2B5EF4-FFF2-40B4-BE49-F238E27FC236}">
                <a16:creationId xmlns:a16="http://schemas.microsoft.com/office/drawing/2014/main" id="{6D7B004B-E879-49A2-B37A-B26BAA6E731C}"/>
              </a:ext>
            </a:extLst>
          </p:cNvPr>
          <p:cNvSpPr>
            <a:spLocks noGrp="1"/>
          </p:cNvSpPr>
          <p:nvPr/>
        </p:nvSpPr>
        <p:spPr>
          <a:xfrm>
            <a:off x="5810250" y="4533900"/>
            <a:ext cx="400050" cy="495300"/>
          </a:xfrm>
          <a:prstGeom prst="rect">
            <a:avLst/>
          </a:prstGeom>
        </p:spPr>
        <p:txBody>
          <a:bodyPr lIns="0" tIns="0" rIns="0" bIns="0"/>
          <a:lstStyle/>
          <a:p>
            <a:pPr algn="ctr">
              <a:lnSpc>
                <a:spcPct val="125000"/>
              </a:lnSpc>
              <a:buNone/>
              <a:defRPr sz="2625" b="1">
                <a:solidFill>
                  <a:srgbClr val="D9B760"/>
                </a:solidFill>
              </a:defRPr>
            </a:pPr>
            <a:r>
              <a:rPr sz="2625" b="1">
                <a:solidFill>
                  <a:srgbClr val="D9B760"/>
                </a:solidFill>
              </a:rPr>
              <a:t>→</a:t>
            </a:r>
          </a:p>
        </p:txBody>
      </p:sp>
      <p:sp>
        <p:nvSpPr>
          <p:cNvPr id="13" name="Hình chữ nhật: Góc Tròn 12">
            <a:extLst>
              <a:ext uri="{FF2B5EF4-FFF2-40B4-BE49-F238E27FC236}">
                <a16:creationId xmlns:a16="http://schemas.microsoft.com/office/drawing/2014/main" id="{DF42963E-AD0C-44E3-A8C9-FA289684AED3}"/>
              </a:ext>
            </a:extLst>
          </p:cNvPr>
          <p:cNvSpPr>
            <a:spLocks noGrp="1"/>
          </p:cNvSpPr>
          <p:nvPr/>
        </p:nvSpPr>
        <p:spPr>
          <a:xfrm>
            <a:off x="6334125" y="4267200"/>
            <a:ext cx="2381250" cy="1047750"/>
          </a:xfrm>
          <a:prstGeom prst="roundRect">
            <a:avLst>
              <a:gd name="adj" fmla="val 7273"/>
            </a:avLst>
          </a:prstGeom>
          <a:solidFill>
            <a:srgbClr val="FFFFFF"/>
          </a:solidFill>
          <a:ln w="9525">
            <a:solidFill>
              <a:srgbClr val="77B8A4"/>
            </a:solidFill>
            <a:prstDash val="solid"/>
          </a:ln>
        </p:spPr>
      </p:sp>
      <p:sp>
        <p:nvSpPr>
          <p:cNvPr id="14" name="Hình chữ nhật 13">
            <a:extLst>
              <a:ext uri="{FF2B5EF4-FFF2-40B4-BE49-F238E27FC236}">
                <a16:creationId xmlns:a16="http://schemas.microsoft.com/office/drawing/2014/main" id="{777BF021-9FDB-4034-B3FB-D1E39C765317}"/>
              </a:ext>
            </a:extLst>
          </p:cNvPr>
          <p:cNvSpPr>
            <a:spLocks noGrp="1"/>
          </p:cNvSpPr>
          <p:nvPr/>
        </p:nvSpPr>
        <p:spPr>
          <a:xfrm>
            <a:off x="6515100" y="4514850"/>
            <a:ext cx="203835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Nuxt Client</a:t>
            </a:r>
          </a:p>
        </p:txBody>
      </p:sp>
      <p:sp>
        <p:nvSpPr>
          <p:cNvPr id="15" name="Hình chữ nhật 14">
            <a:extLst>
              <a:ext uri="{FF2B5EF4-FFF2-40B4-BE49-F238E27FC236}">
                <a16:creationId xmlns:a16="http://schemas.microsoft.com/office/drawing/2014/main" id="{2CDC9CA9-AB56-442D-B5BA-78D885A80BA6}"/>
              </a:ext>
            </a:extLst>
          </p:cNvPr>
          <p:cNvSpPr>
            <a:spLocks noGrp="1"/>
          </p:cNvSpPr>
          <p:nvPr/>
        </p:nvSpPr>
        <p:spPr>
          <a:xfrm>
            <a:off x="6515100" y="4876800"/>
            <a:ext cx="2038350" cy="2095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Vue 3, Pinia, i18n</a:t>
            </a:r>
          </a:p>
        </p:txBody>
      </p:sp>
      <p:sp>
        <p:nvSpPr>
          <p:cNvPr id="16" name="Hình chữ nhật 15">
            <a:extLst>
              <a:ext uri="{FF2B5EF4-FFF2-40B4-BE49-F238E27FC236}">
                <a16:creationId xmlns:a16="http://schemas.microsoft.com/office/drawing/2014/main" id="{CDF7C710-5FEA-485A-8042-6ADD9641ADD7}"/>
              </a:ext>
            </a:extLst>
          </p:cNvPr>
          <p:cNvSpPr>
            <a:spLocks noGrp="1"/>
          </p:cNvSpPr>
          <p:nvPr/>
        </p:nvSpPr>
        <p:spPr>
          <a:xfrm>
            <a:off x="8858250" y="4533900"/>
            <a:ext cx="400050" cy="495300"/>
          </a:xfrm>
          <a:prstGeom prst="rect">
            <a:avLst/>
          </a:prstGeom>
        </p:spPr>
        <p:txBody>
          <a:bodyPr lIns="0" tIns="0" rIns="0" bIns="0"/>
          <a:lstStyle/>
          <a:p>
            <a:pPr algn="ctr">
              <a:lnSpc>
                <a:spcPct val="125000"/>
              </a:lnSpc>
              <a:buNone/>
              <a:defRPr sz="2625" b="1">
                <a:solidFill>
                  <a:srgbClr val="D9B760"/>
                </a:solidFill>
              </a:defRPr>
            </a:pPr>
            <a:r>
              <a:rPr sz="2625" b="1">
                <a:solidFill>
                  <a:srgbClr val="D9B760"/>
                </a:solidFill>
              </a:rPr>
              <a:t>→</a:t>
            </a:r>
          </a:p>
        </p:txBody>
      </p:sp>
      <p:sp>
        <p:nvSpPr>
          <p:cNvPr id="17" name="Hình chữ nhật: Góc Tròn 16">
            <a:extLst>
              <a:ext uri="{FF2B5EF4-FFF2-40B4-BE49-F238E27FC236}">
                <a16:creationId xmlns:a16="http://schemas.microsoft.com/office/drawing/2014/main" id="{BD163990-FE14-4714-A8DC-4B9B2B81C972}"/>
              </a:ext>
            </a:extLst>
          </p:cNvPr>
          <p:cNvSpPr>
            <a:spLocks noGrp="1"/>
          </p:cNvSpPr>
          <p:nvPr/>
        </p:nvSpPr>
        <p:spPr>
          <a:xfrm>
            <a:off x="9382125" y="4267200"/>
            <a:ext cx="2381250" cy="1047750"/>
          </a:xfrm>
          <a:prstGeom prst="roundRect">
            <a:avLst>
              <a:gd name="adj" fmla="val 7273"/>
            </a:avLst>
          </a:prstGeom>
          <a:solidFill>
            <a:srgbClr val="FFFFFF"/>
          </a:solidFill>
          <a:ln w="9525">
            <a:solidFill>
              <a:srgbClr val="87B8D6"/>
            </a:solidFill>
            <a:prstDash val="solid"/>
          </a:ln>
        </p:spPr>
      </p:sp>
      <p:sp>
        <p:nvSpPr>
          <p:cNvPr id="18" name="Hình chữ nhật 17">
            <a:extLst>
              <a:ext uri="{FF2B5EF4-FFF2-40B4-BE49-F238E27FC236}">
                <a16:creationId xmlns:a16="http://schemas.microsoft.com/office/drawing/2014/main" id="{E3790500-4358-4815-A32A-9426C5A44416}"/>
              </a:ext>
            </a:extLst>
          </p:cNvPr>
          <p:cNvSpPr>
            <a:spLocks noGrp="1"/>
          </p:cNvSpPr>
          <p:nvPr/>
        </p:nvSpPr>
        <p:spPr>
          <a:xfrm>
            <a:off x="9563100" y="4514850"/>
            <a:ext cx="203835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Express API</a:t>
            </a:r>
          </a:p>
        </p:txBody>
      </p:sp>
      <p:sp>
        <p:nvSpPr>
          <p:cNvPr id="19" name="Hình chữ nhật 18">
            <a:extLst>
              <a:ext uri="{FF2B5EF4-FFF2-40B4-BE49-F238E27FC236}">
                <a16:creationId xmlns:a16="http://schemas.microsoft.com/office/drawing/2014/main" id="{F1D92C88-958F-4D12-9ABE-6D44308B1162}"/>
              </a:ext>
            </a:extLst>
          </p:cNvPr>
          <p:cNvSpPr>
            <a:spLocks noGrp="1"/>
          </p:cNvSpPr>
          <p:nvPr/>
        </p:nvSpPr>
        <p:spPr>
          <a:xfrm>
            <a:off x="9563100" y="4876800"/>
            <a:ext cx="2038350" cy="2095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REST, auth, business</a:t>
            </a:r>
          </a:p>
        </p:txBody>
      </p:sp>
      <p:sp>
        <p:nvSpPr>
          <p:cNvPr id="20" name="Hình chữ nhật 19">
            <a:extLst>
              <a:ext uri="{FF2B5EF4-FFF2-40B4-BE49-F238E27FC236}">
                <a16:creationId xmlns:a16="http://schemas.microsoft.com/office/drawing/2014/main" id="{0471F6D4-4BCB-4E01-B9F5-653693C637AC}"/>
              </a:ext>
            </a:extLst>
          </p:cNvPr>
          <p:cNvSpPr>
            <a:spLocks noGrp="1"/>
          </p:cNvSpPr>
          <p:nvPr/>
        </p:nvSpPr>
        <p:spPr>
          <a:xfrm>
            <a:off x="11906250" y="4533900"/>
            <a:ext cx="400050" cy="495300"/>
          </a:xfrm>
          <a:prstGeom prst="rect">
            <a:avLst/>
          </a:prstGeom>
        </p:spPr>
        <p:txBody>
          <a:bodyPr lIns="0" tIns="0" rIns="0" bIns="0"/>
          <a:lstStyle/>
          <a:p>
            <a:pPr algn="ctr">
              <a:lnSpc>
                <a:spcPct val="125000"/>
              </a:lnSpc>
              <a:buNone/>
              <a:defRPr sz="2625" b="1">
                <a:solidFill>
                  <a:srgbClr val="D9B760"/>
                </a:solidFill>
              </a:defRPr>
            </a:pPr>
            <a:r>
              <a:rPr sz="2625" b="1">
                <a:solidFill>
                  <a:srgbClr val="D9B760"/>
                </a:solidFill>
              </a:rPr>
              <a:t>→</a:t>
            </a:r>
          </a:p>
        </p:txBody>
      </p:sp>
      <p:sp>
        <p:nvSpPr>
          <p:cNvPr id="21" name="Hình chữ nhật: Góc Tròn 20">
            <a:extLst>
              <a:ext uri="{FF2B5EF4-FFF2-40B4-BE49-F238E27FC236}">
                <a16:creationId xmlns:a16="http://schemas.microsoft.com/office/drawing/2014/main" id="{68B8FE05-E3DA-4873-94A2-D4AB125709C4}"/>
              </a:ext>
            </a:extLst>
          </p:cNvPr>
          <p:cNvSpPr>
            <a:spLocks noGrp="1"/>
          </p:cNvSpPr>
          <p:nvPr/>
        </p:nvSpPr>
        <p:spPr>
          <a:xfrm>
            <a:off x="12430125" y="4267200"/>
            <a:ext cx="2190750" cy="1047750"/>
          </a:xfrm>
          <a:prstGeom prst="roundRect">
            <a:avLst>
              <a:gd name="adj" fmla="val 7273"/>
            </a:avLst>
          </a:prstGeom>
          <a:solidFill>
            <a:srgbClr val="FFFFFF"/>
          </a:solidFill>
          <a:ln w="9525">
            <a:solidFill>
              <a:srgbClr val="7E3D4A"/>
            </a:solidFill>
            <a:prstDash val="solid"/>
          </a:ln>
        </p:spPr>
      </p:sp>
      <p:sp>
        <p:nvSpPr>
          <p:cNvPr id="22" name="Hình chữ nhật 21">
            <a:extLst>
              <a:ext uri="{FF2B5EF4-FFF2-40B4-BE49-F238E27FC236}">
                <a16:creationId xmlns:a16="http://schemas.microsoft.com/office/drawing/2014/main" id="{5A010DF6-ABC2-40B8-AC5F-404F39A96187}"/>
              </a:ext>
            </a:extLst>
          </p:cNvPr>
          <p:cNvSpPr>
            <a:spLocks noGrp="1"/>
          </p:cNvSpPr>
          <p:nvPr/>
        </p:nvSpPr>
        <p:spPr>
          <a:xfrm>
            <a:off x="12611100" y="4514850"/>
            <a:ext cx="184785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PostgreSQL</a:t>
            </a:r>
          </a:p>
        </p:txBody>
      </p:sp>
      <p:sp>
        <p:nvSpPr>
          <p:cNvPr id="23" name="Hình chữ nhật 22">
            <a:extLst>
              <a:ext uri="{FF2B5EF4-FFF2-40B4-BE49-F238E27FC236}">
                <a16:creationId xmlns:a16="http://schemas.microsoft.com/office/drawing/2014/main" id="{E1AFB474-29DA-4EA0-BC5E-0FA81FF90C3F}"/>
              </a:ext>
            </a:extLst>
          </p:cNvPr>
          <p:cNvSpPr>
            <a:spLocks noGrp="1"/>
          </p:cNvSpPr>
          <p:nvPr/>
        </p:nvSpPr>
        <p:spPr>
          <a:xfrm>
            <a:off x="12611100" y="4876800"/>
            <a:ext cx="1847850" cy="2095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Data store</a:t>
            </a:r>
          </a:p>
        </p:txBody>
      </p:sp>
      <p:sp>
        <p:nvSpPr>
          <p:cNvPr id="24" name="Hình chữ nhật: Góc Tròn 23">
            <a:extLst>
              <a:ext uri="{FF2B5EF4-FFF2-40B4-BE49-F238E27FC236}">
                <a16:creationId xmlns:a16="http://schemas.microsoft.com/office/drawing/2014/main" id="{9C7DC31E-22D7-4908-A3F2-E23C8C5D1515}"/>
              </a:ext>
            </a:extLst>
          </p:cNvPr>
          <p:cNvSpPr>
            <a:spLocks noGrp="1"/>
          </p:cNvSpPr>
          <p:nvPr/>
        </p:nvSpPr>
        <p:spPr>
          <a:xfrm>
            <a:off x="3429000" y="5638800"/>
            <a:ext cx="2000250" cy="1047750"/>
          </a:xfrm>
          <a:prstGeom prst="roundRect">
            <a:avLst>
              <a:gd name="adj" fmla="val 7273"/>
            </a:avLst>
          </a:prstGeom>
          <a:solidFill>
            <a:srgbClr val="FFFFFF"/>
          </a:solidFill>
          <a:ln w="9525">
            <a:solidFill>
              <a:srgbClr val="25384A"/>
            </a:solidFill>
            <a:prstDash val="solid"/>
          </a:ln>
        </p:spPr>
      </p:sp>
      <p:sp>
        <p:nvSpPr>
          <p:cNvPr id="25" name="Hình chữ nhật 24">
            <a:extLst>
              <a:ext uri="{FF2B5EF4-FFF2-40B4-BE49-F238E27FC236}">
                <a16:creationId xmlns:a16="http://schemas.microsoft.com/office/drawing/2014/main" id="{937C1501-8323-4E45-9532-F38036726CC8}"/>
              </a:ext>
            </a:extLst>
          </p:cNvPr>
          <p:cNvSpPr>
            <a:spLocks noGrp="1"/>
          </p:cNvSpPr>
          <p:nvPr/>
        </p:nvSpPr>
        <p:spPr>
          <a:xfrm>
            <a:off x="3600450" y="5886450"/>
            <a:ext cx="165735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Nginx</a:t>
            </a:r>
          </a:p>
        </p:txBody>
      </p:sp>
      <p:sp>
        <p:nvSpPr>
          <p:cNvPr id="26" name="Hình chữ nhật 25">
            <a:extLst>
              <a:ext uri="{FF2B5EF4-FFF2-40B4-BE49-F238E27FC236}">
                <a16:creationId xmlns:a16="http://schemas.microsoft.com/office/drawing/2014/main" id="{06AE5E30-CEE0-4CF5-A78A-CD0825D51DF6}"/>
              </a:ext>
            </a:extLst>
          </p:cNvPr>
          <p:cNvSpPr>
            <a:spLocks noGrp="1"/>
          </p:cNvSpPr>
          <p:nvPr/>
        </p:nvSpPr>
        <p:spPr>
          <a:xfrm>
            <a:off x="3600450" y="6248400"/>
            <a:ext cx="1657350" cy="2095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Reverse proxy</a:t>
            </a:r>
          </a:p>
        </p:txBody>
      </p:sp>
      <p:sp>
        <p:nvSpPr>
          <p:cNvPr id="27" name="Hình chữ nhật 26">
            <a:extLst>
              <a:ext uri="{FF2B5EF4-FFF2-40B4-BE49-F238E27FC236}">
                <a16:creationId xmlns:a16="http://schemas.microsoft.com/office/drawing/2014/main" id="{FF32F156-B73C-4D65-AD83-9D8AB983FD01}"/>
              </a:ext>
            </a:extLst>
          </p:cNvPr>
          <p:cNvSpPr>
            <a:spLocks noGrp="1"/>
          </p:cNvSpPr>
          <p:nvPr/>
        </p:nvSpPr>
        <p:spPr>
          <a:xfrm>
            <a:off x="5562600" y="5905500"/>
            <a:ext cx="400050" cy="495300"/>
          </a:xfrm>
          <a:prstGeom prst="rect">
            <a:avLst/>
          </a:prstGeom>
        </p:spPr>
        <p:txBody>
          <a:bodyPr lIns="0" tIns="0" rIns="0" bIns="0"/>
          <a:lstStyle/>
          <a:p>
            <a:pPr algn="ctr">
              <a:lnSpc>
                <a:spcPct val="125000"/>
              </a:lnSpc>
              <a:buNone/>
              <a:defRPr sz="2625" b="1">
                <a:solidFill>
                  <a:srgbClr val="77B8A4"/>
                </a:solidFill>
              </a:defRPr>
            </a:pPr>
            <a:r>
              <a:rPr sz="2625" b="1">
                <a:solidFill>
                  <a:srgbClr val="77B8A4"/>
                </a:solidFill>
              </a:rPr>
              <a:t>→</a:t>
            </a:r>
          </a:p>
        </p:txBody>
      </p:sp>
      <p:sp>
        <p:nvSpPr>
          <p:cNvPr id="28" name="Hình chữ nhật: Góc Tròn 27">
            <a:extLst>
              <a:ext uri="{FF2B5EF4-FFF2-40B4-BE49-F238E27FC236}">
                <a16:creationId xmlns:a16="http://schemas.microsoft.com/office/drawing/2014/main" id="{4712E7DB-5FD7-4100-827C-82F816C87E34}"/>
              </a:ext>
            </a:extLst>
          </p:cNvPr>
          <p:cNvSpPr>
            <a:spLocks noGrp="1"/>
          </p:cNvSpPr>
          <p:nvPr/>
        </p:nvSpPr>
        <p:spPr>
          <a:xfrm>
            <a:off x="6096000" y="5638800"/>
            <a:ext cx="2190750" cy="1047750"/>
          </a:xfrm>
          <a:prstGeom prst="roundRect">
            <a:avLst>
              <a:gd name="adj" fmla="val 7273"/>
            </a:avLst>
          </a:prstGeom>
          <a:solidFill>
            <a:srgbClr val="FFFFFF"/>
          </a:solidFill>
          <a:ln w="9525">
            <a:solidFill>
              <a:srgbClr val="F39A8A"/>
            </a:solidFill>
            <a:prstDash val="solid"/>
          </a:ln>
        </p:spPr>
      </p:sp>
      <p:sp>
        <p:nvSpPr>
          <p:cNvPr id="29" name="Hình chữ nhật 28">
            <a:extLst>
              <a:ext uri="{FF2B5EF4-FFF2-40B4-BE49-F238E27FC236}">
                <a16:creationId xmlns:a16="http://schemas.microsoft.com/office/drawing/2014/main" id="{798342A5-5B30-4654-88E9-B7CFA7C1CA73}"/>
              </a:ext>
            </a:extLst>
          </p:cNvPr>
          <p:cNvSpPr>
            <a:spLocks noGrp="1"/>
          </p:cNvSpPr>
          <p:nvPr/>
        </p:nvSpPr>
        <p:spPr>
          <a:xfrm>
            <a:off x="6267450" y="5886450"/>
            <a:ext cx="184785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Socket.IO</a:t>
            </a:r>
          </a:p>
        </p:txBody>
      </p:sp>
      <p:sp>
        <p:nvSpPr>
          <p:cNvPr id="30" name="Hình chữ nhật 29">
            <a:extLst>
              <a:ext uri="{FF2B5EF4-FFF2-40B4-BE49-F238E27FC236}">
                <a16:creationId xmlns:a16="http://schemas.microsoft.com/office/drawing/2014/main" id="{09ABD7BE-8947-43C4-B99B-2BE2766EBF2B}"/>
              </a:ext>
            </a:extLst>
          </p:cNvPr>
          <p:cNvSpPr>
            <a:spLocks noGrp="1"/>
          </p:cNvSpPr>
          <p:nvPr/>
        </p:nvSpPr>
        <p:spPr>
          <a:xfrm>
            <a:off x="6267450" y="6248400"/>
            <a:ext cx="1847850" cy="2095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Realtime chat</a:t>
            </a:r>
          </a:p>
        </p:txBody>
      </p:sp>
      <p:sp>
        <p:nvSpPr>
          <p:cNvPr id="31" name="Hình chữ nhật 30">
            <a:extLst>
              <a:ext uri="{FF2B5EF4-FFF2-40B4-BE49-F238E27FC236}">
                <a16:creationId xmlns:a16="http://schemas.microsoft.com/office/drawing/2014/main" id="{BA391CA7-72F5-4607-A21D-819C780B98DF}"/>
              </a:ext>
            </a:extLst>
          </p:cNvPr>
          <p:cNvSpPr>
            <a:spLocks noGrp="1"/>
          </p:cNvSpPr>
          <p:nvPr/>
        </p:nvSpPr>
        <p:spPr>
          <a:xfrm>
            <a:off x="8420100" y="5905500"/>
            <a:ext cx="400050" cy="495300"/>
          </a:xfrm>
          <a:prstGeom prst="rect">
            <a:avLst/>
          </a:prstGeom>
        </p:spPr>
        <p:txBody>
          <a:bodyPr lIns="0" tIns="0" rIns="0" bIns="0"/>
          <a:lstStyle/>
          <a:p>
            <a:pPr algn="ctr">
              <a:lnSpc>
                <a:spcPct val="125000"/>
              </a:lnSpc>
              <a:buNone/>
              <a:defRPr sz="2625" b="1">
                <a:solidFill>
                  <a:srgbClr val="77B8A4"/>
                </a:solidFill>
              </a:defRPr>
            </a:pPr>
            <a:r>
              <a:rPr sz="2625" b="1">
                <a:solidFill>
                  <a:srgbClr val="77B8A4"/>
                </a:solidFill>
              </a:rPr>
              <a:t>→</a:t>
            </a:r>
          </a:p>
        </p:txBody>
      </p:sp>
      <p:sp>
        <p:nvSpPr>
          <p:cNvPr id="32" name="Hình chữ nhật: Góc Tròn 31">
            <a:extLst>
              <a:ext uri="{FF2B5EF4-FFF2-40B4-BE49-F238E27FC236}">
                <a16:creationId xmlns:a16="http://schemas.microsoft.com/office/drawing/2014/main" id="{6C367F7D-13DA-4308-8FC3-508EB1BDD9F8}"/>
              </a:ext>
            </a:extLst>
          </p:cNvPr>
          <p:cNvSpPr>
            <a:spLocks noGrp="1"/>
          </p:cNvSpPr>
          <p:nvPr/>
        </p:nvSpPr>
        <p:spPr>
          <a:xfrm>
            <a:off x="8953500" y="5638800"/>
            <a:ext cx="2571750" cy="1047750"/>
          </a:xfrm>
          <a:prstGeom prst="roundRect">
            <a:avLst>
              <a:gd name="adj" fmla="val 7273"/>
            </a:avLst>
          </a:prstGeom>
          <a:solidFill>
            <a:srgbClr val="FFFFFF"/>
          </a:solidFill>
          <a:ln w="9525">
            <a:solidFill>
              <a:srgbClr val="D9B760"/>
            </a:solidFill>
            <a:prstDash val="solid"/>
          </a:ln>
        </p:spPr>
      </p:sp>
      <p:sp>
        <p:nvSpPr>
          <p:cNvPr id="33" name="Hình chữ nhật 32">
            <a:extLst>
              <a:ext uri="{FF2B5EF4-FFF2-40B4-BE49-F238E27FC236}">
                <a16:creationId xmlns:a16="http://schemas.microsoft.com/office/drawing/2014/main" id="{1D0A7481-6701-41C4-9B34-E568F520E30E}"/>
              </a:ext>
            </a:extLst>
          </p:cNvPr>
          <p:cNvSpPr>
            <a:spLocks noGrp="1"/>
          </p:cNvSpPr>
          <p:nvPr/>
        </p:nvSpPr>
        <p:spPr>
          <a:xfrm>
            <a:off x="9124950" y="5886450"/>
            <a:ext cx="222885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AI Stylist</a:t>
            </a:r>
          </a:p>
        </p:txBody>
      </p:sp>
      <p:sp>
        <p:nvSpPr>
          <p:cNvPr id="34" name="Hình chữ nhật 33">
            <a:extLst>
              <a:ext uri="{FF2B5EF4-FFF2-40B4-BE49-F238E27FC236}">
                <a16:creationId xmlns:a16="http://schemas.microsoft.com/office/drawing/2014/main" id="{02442E50-DD89-4628-BB78-F544BBE96473}"/>
              </a:ext>
            </a:extLst>
          </p:cNvPr>
          <p:cNvSpPr>
            <a:spLocks noGrp="1"/>
          </p:cNvSpPr>
          <p:nvPr/>
        </p:nvSpPr>
        <p:spPr>
          <a:xfrm>
            <a:off x="9124950" y="6248400"/>
            <a:ext cx="2228850" cy="2095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Gemini/OpenAI + rules</a:t>
            </a:r>
          </a:p>
        </p:txBody>
      </p:sp>
      <p:sp>
        <p:nvSpPr>
          <p:cNvPr id="35" name="Hình chữ nhật 34">
            <a:extLst>
              <a:ext uri="{FF2B5EF4-FFF2-40B4-BE49-F238E27FC236}">
                <a16:creationId xmlns:a16="http://schemas.microsoft.com/office/drawing/2014/main" id="{64322C79-46FA-42DB-9652-B2F8C19154CD}"/>
              </a:ext>
            </a:extLst>
          </p:cNvPr>
          <p:cNvSpPr>
            <a:spLocks noGrp="1"/>
          </p:cNvSpPr>
          <p:nvPr/>
        </p:nvSpPr>
        <p:spPr>
          <a:xfrm>
            <a:off x="11658600" y="5905500"/>
            <a:ext cx="400050" cy="495300"/>
          </a:xfrm>
          <a:prstGeom prst="rect">
            <a:avLst/>
          </a:prstGeom>
        </p:spPr>
        <p:txBody>
          <a:bodyPr lIns="0" tIns="0" rIns="0" bIns="0"/>
          <a:lstStyle/>
          <a:p>
            <a:pPr algn="ctr">
              <a:lnSpc>
                <a:spcPct val="125000"/>
              </a:lnSpc>
              <a:buNone/>
              <a:defRPr sz="2625" b="1">
                <a:solidFill>
                  <a:srgbClr val="77B8A4"/>
                </a:solidFill>
              </a:defRPr>
            </a:pPr>
            <a:r>
              <a:rPr sz="2625" b="1">
                <a:solidFill>
                  <a:srgbClr val="77B8A4"/>
                </a:solidFill>
              </a:rPr>
              <a:t>→</a:t>
            </a:r>
          </a:p>
        </p:txBody>
      </p:sp>
      <p:sp>
        <p:nvSpPr>
          <p:cNvPr id="36" name="Hình chữ nhật: Góc Tròn 35">
            <a:extLst>
              <a:ext uri="{FF2B5EF4-FFF2-40B4-BE49-F238E27FC236}">
                <a16:creationId xmlns:a16="http://schemas.microsoft.com/office/drawing/2014/main" id="{B13B3B4F-D51D-49BC-B3F5-ACCA610C0D3D}"/>
              </a:ext>
            </a:extLst>
          </p:cNvPr>
          <p:cNvSpPr>
            <a:spLocks noGrp="1"/>
          </p:cNvSpPr>
          <p:nvPr/>
        </p:nvSpPr>
        <p:spPr>
          <a:xfrm>
            <a:off x="12192000" y="5638800"/>
            <a:ext cx="2667000" cy="1047750"/>
          </a:xfrm>
          <a:prstGeom prst="roundRect">
            <a:avLst>
              <a:gd name="adj" fmla="val 7273"/>
            </a:avLst>
          </a:prstGeom>
          <a:solidFill>
            <a:srgbClr val="FFFFFF"/>
          </a:solidFill>
          <a:ln w="9525">
            <a:solidFill>
              <a:srgbClr val="87B8D6"/>
            </a:solidFill>
            <a:prstDash val="solid"/>
          </a:ln>
        </p:spPr>
      </p:sp>
      <p:sp>
        <p:nvSpPr>
          <p:cNvPr id="37" name="Hình chữ nhật 36">
            <a:extLst>
              <a:ext uri="{FF2B5EF4-FFF2-40B4-BE49-F238E27FC236}">
                <a16:creationId xmlns:a16="http://schemas.microsoft.com/office/drawing/2014/main" id="{27765C85-3CE3-4C9A-9F13-6D3013095621}"/>
              </a:ext>
            </a:extLst>
          </p:cNvPr>
          <p:cNvSpPr>
            <a:spLocks noGrp="1"/>
          </p:cNvSpPr>
          <p:nvPr/>
        </p:nvSpPr>
        <p:spPr>
          <a:xfrm>
            <a:off x="12363450" y="5886450"/>
            <a:ext cx="232410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Payment / Email</a:t>
            </a:r>
          </a:p>
        </p:txBody>
      </p:sp>
      <p:sp>
        <p:nvSpPr>
          <p:cNvPr id="38" name="Hình chữ nhật 37">
            <a:extLst>
              <a:ext uri="{FF2B5EF4-FFF2-40B4-BE49-F238E27FC236}">
                <a16:creationId xmlns:a16="http://schemas.microsoft.com/office/drawing/2014/main" id="{E0779FA0-D56E-4D1E-B243-1D2E61D00BD5}"/>
              </a:ext>
            </a:extLst>
          </p:cNvPr>
          <p:cNvSpPr>
            <a:spLocks noGrp="1"/>
          </p:cNvSpPr>
          <p:nvPr/>
        </p:nvSpPr>
        <p:spPr>
          <a:xfrm>
            <a:off x="12363450" y="6248400"/>
            <a:ext cx="2324100" cy="2095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VNPay, MoMo, PayPal</a:t>
            </a:r>
          </a:p>
        </p:txBody>
      </p:sp>
      <p:sp>
        <p:nvSpPr>
          <p:cNvPr id="39" name="Hình chữ nhật 38">
            <a:extLst>
              <a:ext uri="{FF2B5EF4-FFF2-40B4-BE49-F238E27FC236}">
                <a16:creationId xmlns:a16="http://schemas.microsoft.com/office/drawing/2014/main" id="{B319CCA5-F4DD-4A29-B6ED-EAC688A9516D}"/>
              </a:ext>
            </a:extLst>
          </p:cNvPr>
          <p:cNvSpPr>
            <a:spLocks noGrp="1"/>
          </p:cNvSpPr>
          <p:nvPr/>
        </p:nvSpPr>
        <p:spPr>
          <a:xfrm>
            <a:off x="819150" y="7010400"/>
            <a:ext cx="16649700" cy="381000"/>
          </a:xfrm>
          <a:prstGeom prst="rect">
            <a:avLst/>
          </a:prstGeom>
        </p:spPr>
        <p:txBody>
          <a:bodyPr lIns="0" tIns="0" rIns="0" bIns="0"/>
          <a:lstStyle/>
          <a:p>
            <a:pPr algn="ctr">
              <a:lnSpc>
                <a:spcPct val="125000"/>
              </a:lnSpc>
              <a:buNone/>
              <a:defRPr sz="1950">
                <a:solidFill>
                  <a:srgbClr val="647067"/>
                </a:solidFill>
              </a:defRPr>
            </a:pPr>
            <a:r>
              <a:rPr sz="1950">
                <a:solidFill>
                  <a:srgbClr val="647067"/>
                </a:solidFill>
              </a:rPr>
              <a:t>Frontend hiển thị trải nghiệm mua sắm; backend xử lý nghiệp vụ, bảo mật, thanh toán, AI và realtime; PostgreSQL lưu dữ liệu lõi.</a:t>
            </a:r>
          </a:p>
        </p:txBody>
      </p:sp>
    </p:spTree>
    <p:extLst>
      <p:ext uri="{BB962C8B-B14F-4D97-AF65-F5344CB8AC3E}">
        <p14:creationId xmlns:p14="http://schemas.microsoft.com/office/powerpoint/2010/main" val="1689650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background">
            <a:extLst>
              <a:ext uri="{FF2B5EF4-FFF2-40B4-BE49-F238E27FC236}">
                <a16:creationId xmlns:a16="http://schemas.microsoft.com/office/drawing/2014/main" id="{DF6EA111-EDC8-4C9E-8615-D0860CCFC062}"/>
              </a:ext>
            </a:extLst>
          </p:cNvPr>
          <p:cNvSpPr>
            <a:spLocks noGrp="1"/>
          </p:cNvSpPr>
          <p:nvPr/>
        </p:nvSpPr>
        <p:spPr>
          <a:xfrm>
            <a:off x="0" y="0"/>
            <a:ext cx="18288000" cy="10287000"/>
          </a:xfrm>
          <a:prstGeom prst="rect">
            <a:avLst/>
          </a:prstGeom>
          <a:solidFill>
            <a:srgbClr val="FFFDF8"/>
          </a:solidFill>
        </p:spPr>
      </p:sp>
      <p:sp>
        <p:nvSpPr>
          <p:cNvPr id="2" name="top-band">
            <a:extLst>
              <a:ext uri="{FF2B5EF4-FFF2-40B4-BE49-F238E27FC236}">
                <a16:creationId xmlns:a16="http://schemas.microsoft.com/office/drawing/2014/main" id="{B96CA558-A553-4055-9B2C-1151D68066AD}"/>
              </a:ext>
            </a:extLst>
          </p:cNvPr>
          <p:cNvSpPr>
            <a:spLocks noGrp="1"/>
          </p:cNvSpPr>
          <p:nvPr/>
        </p:nvSpPr>
        <p:spPr>
          <a:xfrm>
            <a:off x="0" y="0"/>
            <a:ext cx="18288000" cy="152400"/>
          </a:xfrm>
          <a:prstGeom prst="rect">
            <a:avLst/>
          </a:prstGeom>
          <a:solidFill>
            <a:srgbClr val="F39A8A"/>
          </a:solidFill>
        </p:spPr>
      </p:sp>
      <p:sp>
        <p:nvSpPr>
          <p:cNvPr id="3" name="bottom-band">
            <a:extLst>
              <a:ext uri="{FF2B5EF4-FFF2-40B4-BE49-F238E27FC236}">
                <a16:creationId xmlns:a16="http://schemas.microsoft.com/office/drawing/2014/main" id="{5A3E3347-26C2-4156-945E-9786A2933B20}"/>
              </a:ext>
            </a:extLst>
          </p:cNvPr>
          <p:cNvSpPr>
            <a:spLocks noGrp="1"/>
          </p:cNvSpPr>
          <p:nvPr/>
        </p:nvSpPr>
        <p:spPr>
          <a:xfrm>
            <a:off x="0" y="0"/>
            <a:ext cx="18288000" cy="76200"/>
          </a:xfrm>
          <a:prstGeom prst="rect">
            <a:avLst/>
          </a:prstGeom>
          <a:solidFill>
            <a:srgbClr val="D9B760"/>
          </a:solidFill>
        </p:spPr>
      </p:sp>
      <p:sp>
        <p:nvSpPr>
          <p:cNvPr id="4" name="Hình chữ nhật: Góc Tròn 3">
            <a:extLst>
              <a:ext uri="{FF2B5EF4-FFF2-40B4-BE49-F238E27FC236}">
                <a16:creationId xmlns:a16="http://schemas.microsoft.com/office/drawing/2014/main" id="{AAB3E971-772C-4BE1-B218-E2810BC48E04}"/>
              </a:ext>
            </a:extLst>
          </p:cNvPr>
          <p:cNvSpPr>
            <a:spLocks noGrp="1"/>
          </p:cNvSpPr>
          <p:nvPr/>
        </p:nvSpPr>
        <p:spPr>
          <a:xfrm>
            <a:off x="838200" y="647700"/>
            <a:ext cx="400050" cy="95250"/>
          </a:xfrm>
          <a:prstGeom prst="roundRect">
            <a:avLst>
              <a:gd name="adj" fmla="val 50000"/>
            </a:avLst>
          </a:prstGeom>
          <a:solidFill>
            <a:srgbClr val="F39A8A"/>
          </a:solidFill>
        </p:spPr>
      </p:sp>
      <p:sp>
        <p:nvSpPr>
          <p:cNvPr id="5" name="Hình chữ nhật 4">
            <a:extLst>
              <a:ext uri="{FF2B5EF4-FFF2-40B4-BE49-F238E27FC236}">
                <a16:creationId xmlns:a16="http://schemas.microsoft.com/office/drawing/2014/main" id="{5AD49F36-E262-4A0C-9975-7625905305C0}"/>
              </a:ext>
            </a:extLst>
          </p:cNvPr>
          <p:cNvSpPr>
            <a:spLocks noGrp="1"/>
          </p:cNvSpPr>
          <p:nvPr/>
        </p:nvSpPr>
        <p:spPr>
          <a:xfrm>
            <a:off x="1371600" y="571500"/>
            <a:ext cx="15544800" cy="228600"/>
          </a:xfrm>
          <a:prstGeom prst="rect">
            <a:avLst/>
          </a:prstGeom>
        </p:spPr>
        <p:txBody>
          <a:bodyPr lIns="0" tIns="0" rIns="0" bIns="0"/>
          <a:lstStyle/>
          <a:p>
            <a:pPr>
              <a:lnSpc>
                <a:spcPct val="125000"/>
              </a:lnSpc>
              <a:buNone/>
              <a:defRPr sz="1200" b="1">
                <a:solidFill>
                  <a:srgbClr val="7E3D4A"/>
                </a:solidFill>
              </a:defRPr>
            </a:pPr>
            <a:r>
              <a:rPr sz="1200" b="1">
                <a:solidFill>
                  <a:srgbClr val="7E3D4A"/>
                </a:solidFill>
              </a:rPr>
              <a:t>STACK</a:t>
            </a:r>
          </a:p>
        </p:txBody>
      </p:sp>
      <p:sp>
        <p:nvSpPr>
          <p:cNvPr id="6" name="Hình chữ nhật 5">
            <a:extLst>
              <a:ext uri="{FF2B5EF4-FFF2-40B4-BE49-F238E27FC236}">
                <a16:creationId xmlns:a16="http://schemas.microsoft.com/office/drawing/2014/main" id="{FF341D80-EFCE-4823-B3CB-AF6EBD98803C}"/>
              </a:ext>
            </a:extLst>
          </p:cNvPr>
          <p:cNvSpPr>
            <a:spLocks noGrp="1"/>
          </p:cNvSpPr>
          <p:nvPr/>
        </p:nvSpPr>
        <p:spPr>
          <a:xfrm>
            <a:off x="17068800" y="571500"/>
            <a:ext cx="400050" cy="228600"/>
          </a:xfrm>
          <a:prstGeom prst="rect">
            <a:avLst/>
          </a:prstGeom>
        </p:spPr>
        <p:txBody>
          <a:bodyPr lIns="0" tIns="0" rIns="0" bIns="0"/>
          <a:lstStyle/>
          <a:p>
            <a:pPr>
              <a:lnSpc>
                <a:spcPct val="120000"/>
              </a:lnSpc>
              <a:buNone/>
              <a:defRPr sz="1275" b="1">
                <a:solidFill>
                  <a:srgbClr val="7E3D4A"/>
                </a:solidFill>
              </a:defRPr>
            </a:pPr>
            <a:r>
              <a:rPr sz="1275" b="1">
                <a:solidFill>
                  <a:srgbClr val="7E3D4A"/>
                </a:solidFill>
              </a:rPr>
              <a:t>09/30</a:t>
            </a:r>
          </a:p>
        </p:txBody>
      </p:sp>
      <p:sp>
        <p:nvSpPr>
          <p:cNvPr id="7" name="slide-title">
            <a:extLst>
              <a:ext uri="{FF2B5EF4-FFF2-40B4-BE49-F238E27FC236}">
                <a16:creationId xmlns:a16="http://schemas.microsoft.com/office/drawing/2014/main" id="{76089D01-E6A1-442C-8064-1E737F6B1D7D}"/>
              </a:ext>
            </a:extLst>
          </p:cNvPr>
          <p:cNvSpPr>
            <a:spLocks noGrp="1"/>
          </p:cNvSpPr>
          <p:nvPr/>
        </p:nvSpPr>
        <p:spPr>
          <a:xfrm>
            <a:off x="819150" y="933450"/>
            <a:ext cx="16649700" cy="590550"/>
          </a:xfrm>
          <a:prstGeom prst="rect">
            <a:avLst/>
          </a:prstGeom>
        </p:spPr>
        <p:txBody>
          <a:bodyPr lIns="0" tIns="0" rIns="0" bIns="0"/>
          <a:lstStyle/>
          <a:p>
            <a:pPr>
              <a:lnSpc>
                <a:spcPct val="105000"/>
              </a:lnSpc>
              <a:buNone/>
              <a:defRPr sz="3600" b="1">
                <a:solidFill>
                  <a:srgbClr val="151515"/>
                </a:solidFill>
              </a:defRPr>
            </a:pPr>
            <a:r>
              <a:rPr sz="3600" b="1">
                <a:solidFill>
                  <a:srgbClr val="151515"/>
                </a:solidFill>
              </a:rPr>
              <a:t>Công nghệ sử dụng được chia theo lớp trách nhiệm</a:t>
            </a:r>
          </a:p>
        </p:txBody>
      </p:sp>
      <p:sp>
        <p:nvSpPr>
          <p:cNvPr id="8" name="title-rule">
            <a:extLst>
              <a:ext uri="{FF2B5EF4-FFF2-40B4-BE49-F238E27FC236}">
                <a16:creationId xmlns:a16="http://schemas.microsoft.com/office/drawing/2014/main" id="{14E8A8E9-977F-4282-9AC3-6196827FFB14}"/>
              </a:ext>
            </a:extLst>
          </p:cNvPr>
          <p:cNvSpPr>
            <a:spLocks noGrp="1"/>
          </p:cNvSpPr>
          <p:nvPr/>
        </p:nvSpPr>
        <p:spPr>
          <a:xfrm>
            <a:off x="819150" y="1619250"/>
            <a:ext cx="1905000" cy="38100"/>
          </a:xfrm>
          <a:prstGeom prst="rect">
            <a:avLst/>
          </a:prstGeom>
          <a:solidFill>
            <a:srgbClr val="F39A8A"/>
          </a:solidFill>
          <a:ln w="0">
            <a:solidFill>
              <a:srgbClr val="F39A8A"/>
            </a:solidFill>
            <a:prstDash val="solid"/>
          </a:ln>
        </p:spPr>
      </p:sp>
      <p:sp>
        <p:nvSpPr>
          <p:cNvPr id="9" name="Hình chữ nhật 8">
            <a:extLst>
              <a:ext uri="{FF2B5EF4-FFF2-40B4-BE49-F238E27FC236}">
                <a16:creationId xmlns:a16="http://schemas.microsoft.com/office/drawing/2014/main" id="{1E57B896-4362-44FC-81DB-72307A5815CB}"/>
              </a:ext>
            </a:extLst>
          </p:cNvPr>
          <p:cNvSpPr>
            <a:spLocks noGrp="1"/>
          </p:cNvSpPr>
          <p:nvPr/>
        </p:nvSpPr>
        <p:spPr>
          <a:xfrm>
            <a:off x="819150" y="1933194"/>
            <a:ext cx="3479042" cy="436893"/>
          </a:xfrm>
          <a:prstGeom prst="rect">
            <a:avLst/>
          </a:prstGeom>
          <a:solidFill>
            <a:srgbClr val="DDF4EB"/>
          </a:solidFill>
          <a:ln w="9525">
            <a:solidFill>
              <a:srgbClr val="E8DDCF"/>
            </a:solidFill>
            <a:prstDash val="solid"/>
          </a:ln>
        </p:spPr>
      </p:sp>
      <p:sp>
        <p:nvSpPr>
          <p:cNvPr id="10" name="Hình chữ nhật 9">
            <a:extLst>
              <a:ext uri="{FF2B5EF4-FFF2-40B4-BE49-F238E27FC236}">
                <a16:creationId xmlns:a16="http://schemas.microsoft.com/office/drawing/2014/main" id="{F6A6C65D-CACD-4103-B451-20F5E2445724}"/>
              </a:ext>
            </a:extLst>
          </p:cNvPr>
          <p:cNvSpPr>
            <a:spLocks noGrp="1"/>
          </p:cNvSpPr>
          <p:nvPr/>
        </p:nvSpPr>
        <p:spPr>
          <a:xfrm>
            <a:off x="952500" y="2038350"/>
            <a:ext cx="3238500" cy="228600"/>
          </a:xfrm>
          <a:prstGeom prst="rect">
            <a:avLst/>
          </a:prstGeom>
        </p:spPr>
        <p:txBody>
          <a:bodyPr lIns="0" tIns="0" rIns="0" bIns="0"/>
          <a:lstStyle/>
          <a:p>
            <a:pPr>
              <a:lnSpc>
                <a:spcPct val="117000"/>
              </a:lnSpc>
              <a:buNone/>
              <a:defRPr sz="1275" b="1">
                <a:solidFill>
                  <a:srgbClr val="25384A"/>
                </a:solidFill>
              </a:defRPr>
            </a:pPr>
            <a:r>
              <a:rPr sz="1275" b="1">
                <a:solidFill>
                  <a:srgbClr val="25384A"/>
                </a:solidFill>
              </a:rPr>
              <a:t>Lớp</a:t>
            </a:r>
          </a:p>
        </p:txBody>
      </p:sp>
      <p:sp>
        <p:nvSpPr>
          <p:cNvPr id="11" name="Hình chữ nhật 10">
            <a:extLst>
              <a:ext uri="{FF2B5EF4-FFF2-40B4-BE49-F238E27FC236}">
                <a16:creationId xmlns:a16="http://schemas.microsoft.com/office/drawing/2014/main" id="{C72E7FA2-1021-4C4A-8446-EA084F7FF97D}"/>
              </a:ext>
            </a:extLst>
          </p:cNvPr>
          <p:cNvSpPr>
            <a:spLocks noGrp="1"/>
          </p:cNvSpPr>
          <p:nvPr/>
        </p:nvSpPr>
        <p:spPr>
          <a:xfrm>
            <a:off x="4298192" y="1933194"/>
            <a:ext cx="6212575" cy="436893"/>
          </a:xfrm>
          <a:prstGeom prst="rect">
            <a:avLst/>
          </a:prstGeom>
          <a:solidFill>
            <a:srgbClr val="DDF4EB"/>
          </a:solidFill>
          <a:ln w="9525">
            <a:solidFill>
              <a:srgbClr val="E8DDCF"/>
            </a:solidFill>
            <a:prstDash val="solid"/>
          </a:ln>
        </p:spPr>
      </p:sp>
      <p:sp>
        <p:nvSpPr>
          <p:cNvPr id="12" name="Hình chữ nhật 11">
            <a:extLst>
              <a:ext uri="{FF2B5EF4-FFF2-40B4-BE49-F238E27FC236}">
                <a16:creationId xmlns:a16="http://schemas.microsoft.com/office/drawing/2014/main" id="{6E5022D9-20CB-4213-B9FD-C09AEE6516A3}"/>
              </a:ext>
            </a:extLst>
          </p:cNvPr>
          <p:cNvSpPr>
            <a:spLocks noGrp="1"/>
          </p:cNvSpPr>
          <p:nvPr/>
        </p:nvSpPr>
        <p:spPr>
          <a:xfrm>
            <a:off x="4419600" y="2038350"/>
            <a:ext cx="5962650" cy="228600"/>
          </a:xfrm>
          <a:prstGeom prst="rect">
            <a:avLst/>
          </a:prstGeom>
        </p:spPr>
        <p:txBody>
          <a:bodyPr lIns="0" tIns="0" rIns="0" bIns="0"/>
          <a:lstStyle/>
          <a:p>
            <a:pPr>
              <a:lnSpc>
                <a:spcPct val="117000"/>
              </a:lnSpc>
              <a:buNone/>
              <a:defRPr sz="1275" b="1">
                <a:solidFill>
                  <a:srgbClr val="25384A"/>
                </a:solidFill>
              </a:defRPr>
            </a:pPr>
            <a:r>
              <a:rPr sz="1275" b="1">
                <a:solidFill>
                  <a:srgbClr val="25384A"/>
                </a:solidFill>
              </a:rPr>
              <a:t>Công nghệ</a:t>
            </a:r>
          </a:p>
        </p:txBody>
      </p:sp>
      <p:sp>
        <p:nvSpPr>
          <p:cNvPr id="13" name="Hình chữ nhật 12">
            <a:extLst>
              <a:ext uri="{FF2B5EF4-FFF2-40B4-BE49-F238E27FC236}">
                <a16:creationId xmlns:a16="http://schemas.microsoft.com/office/drawing/2014/main" id="{8C2A8D50-10F8-4629-909D-A3C1E44F6F35}"/>
              </a:ext>
            </a:extLst>
          </p:cNvPr>
          <p:cNvSpPr>
            <a:spLocks noGrp="1"/>
          </p:cNvSpPr>
          <p:nvPr/>
        </p:nvSpPr>
        <p:spPr>
          <a:xfrm>
            <a:off x="10510766" y="1933194"/>
            <a:ext cx="6958084" cy="436893"/>
          </a:xfrm>
          <a:prstGeom prst="rect">
            <a:avLst/>
          </a:prstGeom>
          <a:solidFill>
            <a:srgbClr val="DDF4EB"/>
          </a:solidFill>
          <a:ln w="9525">
            <a:solidFill>
              <a:srgbClr val="E8DDCF"/>
            </a:solidFill>
            <a:prstDash val="solid"/>
          </a:ln>
        </p:spPr>
      </p:sp>
      <p:sp>
        <p:nvSpPr>
          <p:cNvPr id="14" name="Hình chữ nhật 13">
            <a:extLst>
              <a:ext uri="{FF2B5EF4-FFF2-40B4-BE49-F238E27FC236}">
                <a16:creationId xmlns:a16="http://schemas.microsoft.com/office/drawing/2014/main" id="{CA5BAA04-8EBE-4CA4-BC00-E8356ECE42F0}"/>
              </a:ext>
            </a:extLst>
          </p:cNvPr>
          <p:cNvSpPr>
            <a:spLocks noGrp="1"/>
          </p:cNvSpPr>
          <p:nvPr/>
        </p:nvSpPr>
        <p:spPr>
          <a:xfrm>
            <a:off x="10629900" y="2038350"/>
            <a:ext cx="6705600" cy="228600"/>
          </a:xfrm>
          <a:prstGeom prst="rect">
            <a:avLst/>
          </a:prstGeom>
        </p:spPr>
        <p:txBody>
          <a:bodyPr lIns="0" tIns="0" rIns="0" bIns="0"/>
          <a:lstStyle/>
          <a:p>
            <a:pPr>
              <a:lnSpc>
                <a:spcPct val="117000"/>
              </a:lnSpc>
              <a:buNone/>
              <a:defRPr sz="1275" b="1">
                <a:solidFill>
                  <a:srgbClr val="25384A"/>
                </a:solidFill>
              </a:defRPr>
            </a:pPr>
            <a:r>
              <a:rPr sz="1275" b="1">
                <a:solidFill>
                  <a:srgbClr val="25384A"/>
                </a:solidFill>
              </a:rPr>
              <a:t>Vai trò</a:t>
            </a:r>
          </a:p>
        </p:txBody>
      </p:sp>
      <p:sp>
        <p:nvSpPr>
          <p:cNvPr id="15" name="Hình chữ nhật 14">
            <a:extLst>
              <a:ext uri="{FF2B5EF4-FFF2-40B4-BE49-F238E27FC236}">
                <a16:creationId xmlns:a16="http://schemas.microsoft.com/office/drawing/2014/main" id="{863B3FF0-D307-423C-906B-334E7798D0C9}"/>
              </a:ext>
            </a:extLst>
          </p:cNvPr>
          <p:cNvSpPr>
            <a:spLocks noGrp="1"/>
          </p:cNvSpPr>
          <p:nvPr/>
        </p:nvSpPr>
        <p:spPr>
          <a:xfrm>
            <a:off x="819150" y="2370087"/>
            <a:ext cx="3479042" cy="436893"/>
          </a:xfrm>
          <a:prstGeom prst="rect">
            <a:avLst/>
          </a:prstGeom>
          <a:solidFill>
            <a:srgbClr val="FFFFFF"/>
          </a:solidFill>
          <a:ln w="9525">
            <a:solidFill>
              <a:srgbClr val="E8DDCF"/>
            </a:solidFill>
            <a:prstDash val="solid"/>
          </a:ln>
        </p:spPr>
      </p:sp>
      <p:sp>
        <p:nvSpPr>
          <p:cNvPr id="16" name="Hình chữ nhật 15">
            <a:extLst>
              <a:ext uri="{FF2B5EF4-FFF2-40B4-BE49-F238E27FC236}">
                <a16:creationId xmlns:a16="http://schemas.microsoft.com/office/drawing/2014/main" id="{8D5DAC89-BCCB-4324-B8B1-8AD8CE046707}"/>
              </a:ext>
            </a:extLst>
          </p:cNvPr>
          <p:cNvSpPr>
            <a:spLocks noGrp="1"/>
          </p:cNvSpPr>
          <p:nvPr/>
        </p:nvSpPr>
        <p:spPr>
          <a:xfrm>
            <a:off x="952500" y="2476500"/>
            <a:ext cx="3238500" cy="228600"/>
          </a:xfrm>
          <a:prstGeom prst="rect">
            <a:avLst/>
          </a:prstGeom>
        </p:spPr>
        <p:txBody>
          <a:bodyPr lIns="0" tIns="0" rIns="0" bIns="0"/>
          <a:lstStyle/>
          <a:p>
            <a:pPr>
              <a:lnSpc>
                <a:spcPct val="117000"/>
              </a:lnSpc>
              <a:buNone/>
              <a:defRPr sz="1275" b="0">
                <a:solidFill>
                  <a:srgbClr val="151515"/>
                </a:solidFill>
              </a:defRPr>
            </a:pPr>
            <a:r>
              <a:rPr sz="1275" b="0">
                <a:solidFill>
                  <a:srgbClr val="151515"/>
                </a:solidFill>
              </a:rPr>
              <a:t>Frontend</a:t>
            </a:r>
          </a:p>
        </p:txBody>
      </p:sp>
      <p:sp>
        <p:nvSpPr>
          <p:cNvPr id="17" name="Hình chữ nhật 16">
            <a:extLst>
              <a:ext uri="{FF2B5EF4-FFF2-40B4-BE49-F238E27FC236}">
                <a16:creationId xmlns:a16="http://schemas.microsoft.com/office/drawing/2014/main" id="{D23A185A-34C7-4FFC-ACBC-39973B6EE15E}"/>
              </a:ext>
            </a:extLst>
          </p:cNvPr>
          <p:cNvSpPr>
            <a:spLocks noGrp="1"/>
          </p:cNvSpPr>
          <p:nvPr/>
        </p:nvSpPr>
        <p:spPr>
          <a:xfrm>
            <a:off x="4298192" y="2370087"/>
            <a:ext cx="6212575" cy="436893"/>
          </a:xfrm>
          <a:prstGeom prst="rect">
            <a:avLst/>
          </a:prstGeom>
          <a:solidFill>
            <a:srgbClr val="FFFFFF"/>
          </a:solidFill>
          <a:ln w="9525">
            <a:solidFill>
              <a:srgbClr val="E8DDCF"/>
            </a:solidFill>
            <a:prstDash val="solid"/>
          </a:ln>
        </p:spPr>
      </p:sp>
      <p:sp>
        <p:nvSpPr>
          <p:cNvPr id="18" name="Hình chữ nhật 17">
            <a:extLst>
              <a:ext uri="{FF2B5EF4-FFF2-40B4-BE49-F238E27FC236}">
                <a16:creationId xmlns:a16="http://schemas.microsoft.com/office/drawing/2014/main" id="{5487ED4F-E30F-4D98-BE7F-E710CC0D1C2B}"/>
              </a:ext>
            </a:extLst>
          </p:cNvPr>
          <p:cNvSpPr>
            <a:spLocks noGrp="1"/>
          </p:cNvSpPr>
          <p:nvPr/>
        </p:nvSpPr>
        <p:spPr>
          <a:xfrm>
            <a:off x="4419600" y="2476500"/>
            <a:ext cx="5962650" cy="228600"/>
          </a:xfrm>
          <a:prstGeom prst="rect">
            <a:avLst/>
          </a:prstGeom>
        </p:spPr>
        <p:txBody>
          <a:bodyPr lIns="0" tIns="0" rIns="0" bIns="0"/>
          <a:lstStyle/>
          <a:p>
            <a:pPr>
              <a:lnSpc>
                <a:spcPct val="117000"/>
              </a:lnSpc>
              <a:buNone/>
              <a:defRPr sz="1275" b="0">
                <a:solidFill>
                  <a:srgbClr val="151515"/>
                </a:solidFill>
              </a:defRPr>
            </a:pPr>
            <a:r>
              <a:rPr sz="1275" b="0">
                <a:solidFill>
                  <a:srgbClr val="151515"/>
                </a:solidFill>
              </a:rPr>
              <a:t>Nuxt 3, Vue 3, Tailwind CSS</a:t>
            </a:r>
          </a:p>
        </p:txBody>
      </p:sp>
      <p:sp>
        <p:nvSpPr>
          <p:cNvPr id="19" name="Hình chữ nhật 18">
            <a:extLst>
              <a:ext uri="{FF2B5EF4-FFF2-40B4-BE49-F238E27FC236}">
                <a16:creationId xmlns:a16="http://schemas.microsoft.com/office/drawing/2014/main" id="{83672EDE-C4D8-40B5-99A0-CFD8978DC5BE}"/>
              </a:ext>
            </a:extLst>
          </p:cNvPr>
          <p:cNvSpPr>
            <a:spLocks noGrp="1"/>
          </p:cNvSpPr>
          <p:nvPr/>
        </p:nvSpPr>
        <p:spPr>
          <a:xfrm>
            <a:off x="10510766" y="2370087"/>
            <a:ext cx="6958084" cy="436893"/>
          </a:xfrm>
          <a:prstGeom prst="rect">
            <a:avLst/>
          </a:prstGeom>
          <a:solidFill>
            <a:srgbClr val="FFFFFF"/>
          </a:solidFill>
          <a:ln w="9525">
            <a:solidFill>
              <a:srgbClr val="E8DDCF"/>
            </a:solidFill>
            <a:prstDash val="solid"/>
          </a:ln>
        </p:spPr>
      </p:sp>
      <p:sp>
        <p:nvSpPr>
          <p:cNvPr id="20" name="Hình chữ nhật 19">
            <a:extLst>
              <a:ext uri="{FF2B5EF4-FFF2-40B4-BE49-F238E27FC236}">
                <a16:creationId xmlns:a16="http://schemas.microsoft.com/office/drawing/2014/main" id="{09F7BD80-498D-4CDD-A657-8947DC3E7339}"/>
              </a:ext>
            </a:extLst>
          </p:cNvPr>
          <p:cNvSpPr>
            <a:spLocks noGrp="1"/>
          </p:cNvSpPr>
          <p:nvPr/>
        </p:nvSpPr>
        <p:spPr>
          <a:xfrm>
            <a:off x="10629900" y="2476500"/>
            <a:ext cx="6705600" cy="228600"/>
          </a:xfrm>
          <a:prstGeom prst="rect">
            <a:avLst/>
          </a:prstGeom>
        </p:spPr>
        <p:txBody>
          <a:bodyPr lIns="0" tIns="0" rIns="0" bIns="0"/>
          <a:lstStyle/>
          <a:p>
            <a:pPr>
              <a:lnSpc>
                <a:spcPct val="117000"/>
              </a:lnSpc>
              <a:buNone/>
              <a:defRPr sz="1275" b="0">
                <a:solidFill>
                  <a:srgbClr val="151515"/>
                </a:solidFill>
              </a:defRPr>
            </a:pPr>
            <a:r>
              <a:rPr sz="1275" b="0">
                <a:solidFill>
                  <a:srgbClr val="151515"/>
                </a:solidFill>
              </a:rPr>
              <a:t>Routing, UI, responsive, component app</a:t>
            </a:r>
          </a:p>
        </p:txBody>
      </p:sp>
      <p:sp>
        <p:nvSpPr>
          <p:cNvPr id="21" name="Hình chữ nhật 20">
            <a:extLst>
              <a:ext uri="{FF2B5EF4-FFF2-40B4-BE49-F238E27FC236}">
                <a16:creationId xmlns:a16="http://schemas.microsoft.com/office/drawing/2014/main" id="{A47AD649-FC48-4B77-A7C3-B253ED753E67}"/>
              </a:ext>
            </a:extLst>
          </p:cNvPr>
          <p:cNvSpPr>
            <a:spLocks noGrp="1"/>
          </p:cNvSpPr>
          <p:nvPr/>
        </p:nvSpPr>
        <p:spPr>
          <a:xfrm>
            <a:off x="819150" y="2806979"/>
            <a:ext cx="3479042" cy="436893"/>
          </a:xfrm>
          <a:prstGeom prst="rect">
            <a:avLst/>
          </a:prstGeom>
          <a:solidFill>
            <a:srgbClr val="FBF6EE"/>
          </a:solidFill>
          <a:ln w="9525">
            <a:solidFill>
              <a:srgbClr val="E8DDCF"/>
            </a:solidFill>
            <a:prstDash val="solid"/>
          </a:ln>
        </p:spPr>
      </p:sp>
      <p:sp>
        <p:nvSpPr>
          <p:cNvPr id="22" name="Hình chữ nhật 21">
            <a:extLst>
              <a:ext uri="{FF2B5EF4-FFF2-40B4-BE49-F238E27FC236}">
                <a16:creationId xmlns:a16="http://schemas.microsoft.com/office/drawing/2014/main" id="{F85A6618-7242-424F-9083-E03189CCF219}"/>
              </a:ext>
            </a:extLst>
          </p:cNvPr>
          <p:cNvSpPr>
            <a:spLocks noGrp="1"/>
          </p:cNvSpPr>
          <p:nvPr/>
        </p:nvSpPr>
        <p:spPr>
          <a:xfrm>
            <a:off x="952500" y="2914650"/>
            <a:ext cx="3238500" cy="228600"/>
          </a:xfrm>
          <a:prstGeom prst="rect">
            <a:avLst/>
          </a:prstGeom>
        </p:spPr>
        <p:txBody>
          <a:bodyPr lIns="0" tIns="0" rIns="0" bIns="0"/>
          <a:lstStyle/>
          <a:p>
            <a:pPr>
              <a:lnSpc>
                <a:spcPct val="117000"/>
              </a:lnSpc>
              <a:buNone/>
              <a:defRPr sz="1275" b="0">
                <a:solidFill>
                  <a:srgbClr val="151515"/>
                </a:solidFill>
              </a:defRPr>
            </a:pPr>
            <a:r>
              <a:rPr sz="1275" b="0">
                <a:solidFill>
                  <a:srgbClr val="151515"/>
                </a:solidFill>
              </a:rPr>
              <a:t>State / i18n</a:t>
            </a:r>
          </a:p>
        </p:txBody>
      </p:sp>
      <p:sp>
        <p:nvSpPr>
          <p:cNvPr id="23" name="Hình chữ nhật 22">
            <a:extLst>
              <a:ext uri="{FF2B5EF4-FFF2-40B4-BE49-F238E27FC236}">
                <a16:creationId xmlns:a16="http://schemas.microsoft.com/office/drawing/2014/main" id="{BB793374-0042-45A2-9CBA-D1ED8A52F971}"/>
              </a:ext>
            </a:extLst>
          </p:cNvPr>
          <p:cNvSpPr>
            <a:spLocks noGrp="1"/>
          </p:cNvSpPr>
          <p:nvPr/>
        </p:nvSpPr>
        <p:spPr>
          <a:xfrm>
            <a:off x="4298192" y="2806979"/>
            <a:ext cx="6212575" cy="436893"/>
          </a:xfrm>
          <a:prstGeom prst="rect">
            <a:avLst/>
          </a:prstGeom>
          <a:solidFill>
            <a:srgbClr val="FBF6EE"/>
          </a:solidFill>
          <a:ln w="9525">
            <a:solidFill>
              <a:srgbClr val="E8DDCF"/>
            </a:solidFill>
            <a:prstDash val="solid"/>
          </a:ln>
        </p:spPr>
      </p:sp>
      <p:sp>
        <p:nvSpPr>
          <p:cNvPr id="24" name="Hình chữ nhật 23">
            <a:extLst>
              <a:ext uri="{FF2B5EF4-FFF2-40B4-BE49-F238E27FC236}">
                <a16:creationId xmlns:a16="http://schemas.microsoft.com/office/drawing/2014/main" id="{8D598A1C-C2C0-476A-8427-DE166CE7EF1E}"/>
              </a:ext>
            </a:extLst>
          </p:cNvPr>
          <p:cNvSpPr>
            <a:spLocks noGrp="1"/>
          </p:cNvSpPr>
          <p:nvPr/>
        </p:nvSpPr>
        <p:spPr>
          <a:xfrm>
            <a:off x="4419600" y="2914650"/>
            <a:ext cx="5962650" cy="228600"/>
          </a:xfrm>
          <a:prstGeom prst="rect">
            <a:avLst/>
          </a:prstGeom>
        </p:spPr>
        <p:txBody>
          <a:bodyPr lIns="0" tIns="0" rIns="0" bIns="0"/>
          <a:lstStyle/>
          <a:p>
            <a:pPr>
              <a:lnSpc>
                <a:spcPct val="117000"/>
              </a:lnSpc>
              <a:buNone/>
              <a:defRPr sz="1275" b="0">
                <a:solidFill>
                  <a:srgbClr val="151515"/>
                </a:solidFill>
              </a:defRPr>
            </a:pPr>
            <a:r>
              <a:rPr sz="1275" b="0">
                <a:solidFill>
                  <a:srgbClr val="151515"/>
                </a:solidFill>
              </a:rPr>
              <a:t>Pinia, persisted state, @nuxtjs/i18n</a:t>
            </a:r>
          </a:p>
        </p:txBody>
      </p:sp>
      <p:sp>
        <p:nvSpPr>
          <p:cNvPr id="25" name="Hình chữ nhật 24">
            <a:extLst>
              <a:ext uri="{FF2B5EF4-FFF2-40B4-BE49-F238E27FC236}">
                <a16:creationId xmlns:a16="http://schemas.microsoft.com/office/drawing/2014/main" id="{1A008AF2-2460-4825-96E4-92D6106A26FB}"/>
              </a:ext>
            </a:extLst>
          </p:cNvPr>
          <p:cNvSpPr>
            <a:spLocks noGrp="1"/>
          </p:cNvSpPr>
          <p:nvPr/>
        </p:nvSpPr>
        <p:spPr>
          <a:xfrm>
            <a:off x="10510766" y="2806979"/>
            <a:ext cx="6958084" cy="436893"/>
          </a:xfrm>
          <a:prstGeom prst="rect">
            <a:avLst/>
          </a:prstGeom>
          <a:solidFill>
            <a:srgbClr val="FBF6EE"/>
          </a:solidFill>
          <a:ln w="9525">
            <a:solidFill>
              <a:srgbClr val="E8DDCF"/>
            </a:solidFill>
            <a:prstDash val="solid"/>
          </a:ln>
        </p:spPr>
      </p:sp>
      <p:sp>
        <p:nvSpPr>
          <p:cNvPr id="26" name="Hình chữ nhật 25">
            <a:extLst>
              <a:ext uri="{FF2B5EF4-FFF2-40B4-BE49-F238E27FC236}">
                <a16:creationId xmlns:a16="http://schemas.microsoft.com/office/drawing/2014/main" id="{E86E1B82-4504-441E-A6B0-0556392ACBD2}"/>
              </a:ext>
            </a:extLst>
          </p:cNvPr>
          <p:cNvSpPr>
            <a:spLocks noGrp="1"/>
          </p:cNvSpPr>
          <p:nvPr/>
        </p:nvSpPr>
        <p:spPr>
          <a:xfrm>
            <a:off x="10629900" y="2914650"/>
            <a:ext cx="6705600" cy="228600"/>
          </a:xfrm>
          <a:prstGeom prst="rect">
            <a:avLst/>
          </a:prstGeom>
        </p:spPr>
        <p:txBody>
          <a:bodyPr lIns="0" tIns="0" rIns="0" bIns="0"/>
          <a:lstStyle/>
          <a:p>
            <a:pPr>
              <a:lnSpc>
                <a:spcPct val="117000"/>
              </a:lnSpc>
              <a:buNone/>
              <a:defRPr sz="1275" b="0">
                <a:solidFill>
                  <a:srgbClr val="151515"/>
                </a:solidFill>
              </a:defRPr>
            </a:pPr>
            <a:r>
              <a:rPr sz="1275" b="0">
                <a:solidFill>
                  <a:srgbClr val="151515"/>
                </a:solidFill>
              </a:rPr>
              <a:t>Auth, cart, user state, song ngữ Việt/Anh</a:t>
            </a:r>
          </a:p>
        </p:txBody>
      </p:sp>
      <p:sp>
        <p:nvSpPr>
          <p:cNvPr id="27" name="Hình chữ nhật 26">
            <a:extLst>
              <a:ext uri="{FF2B5EF4-FFF2-40B4-BE49-F238E27FC236}">
                <a16:creationId xmlns:a16="http://schemas.microsoft.com/office/drawing/2014/main" id="{A5131536-6F9A-451F-B3C8-6657431DB214}"/>
              </a:ext>
            </a:extLst>
          </p:cNvPr>
          <p:cNvSpPr>
            <a:spLocks noGrp="1"/>
          </p:cNvSpPr>
          <p:nvPr/>
        </p:nvSpPr>
        <p:spPr>
          <a:xfrm>
            <a:off x="819150" y="3243872"/>
            <a:ext cx="3479042" cy="436893"/>
          </a:xfrm>
          <a:prstGeom prst="rect">
            <a:avLst/>
          </a:prstGeom>
          <a:solidFill>
            <a:srgbClr val="FFFFFF"/>
          </a:solidFill>
          <a:ln w="9525">
            <a:solidFill>
              <a:srgbClr val="E8DDCF"/>
            </a:solidFill>
            <a:prstDash val="solid"/>
          </a:ln>
        </p:spPr>
      </p:sp>
      <p:sp>
        <p:nvSpPr>
          <p:cNvPr id="28" name="Hình chữ nhật 27">
            <a:extLst>
              <a:ext uri="{FF2B5EF4-FFF2-40B4-BE49-F238E27FC236}">
                <a16:creationId xmlns:a16="http://schemas.microsoft.com/office/drawing/2014/main" id="{71E86A67-0CCE-43C6-ACBE-2712F2F86D18}"/>
              </a:ext>
            </a:extLst>
          </p:cNvPr>
          <p:cNvSpPr>
            <a:spLocks noGrp="1"/>
          </p:cNvSpPr>
          <p:nvPr/>
        </p:nvSpPr>
        <p:spPr>
          <a:xfrm>
            <a:off x="952500" y="3352800"/>
            <a:ext cx="3238500" cy="228600"/>
          </a:xfrm>
          <a:prstGeom prst="rect">
            <a:avLst/>
          </a:prstGeom>
        </p:spPr>
        <p:txBody>
          <a:bodyPr lIns="0" tIns="0" rIns="0" bIns="0"/>
          <a:lstStyle/>
          <a:p>
            <a:pPr>
              <a:lnSpc>
                <a:spcPct val="117000"/>
              </a:lnSpc>
              <a:buNone/>
              <a:defRPr sz="1275" b="0">
                <a:solidFill>
                  <a:srgbClr val="151515"/>
                </a:solidFill>
              </a:defRPr>
            </a:pPr>
            <a:r>
              <a:rPr sz="1275" b="0">
                <a:solidFill>
                  <a:srgbClr val="151515"/>
                </a:solidFill>
              </a:rPr>
              <a:t>Backend</a:t>
            </a:r>
          </a:p>
        </p:txBody>
      </p:sp>
      <p:sp>
        <p:nvSpPr>
          <p:cNvPr id="29" name="Hình chữ nhật 28">
            <a:extLst>
              <a:ext uri="{FF2B5EF4-FFF2-40B4-BE49-F238E27FC236}">
                <a16:creationId xmlns:a16="http://schemas.microsoft.com/office/drawing/2014/main" id="{14B4A434-F702-4350-A478-CBE8780588FA}"/>
              </a:ext>
            </a:extLst>
          </p:cNvPr>
          <p:cNvSpPr>
            <a:spLocks noGrp="1"/>
          </p:cNvSpPr>
          <p:nvPr/>
        </p:nvSpPr>
        <p:spPr>
          <a:xfrm>
            <a:off x="4298192" y="3243872"/>
            <a:ext cx="6212575" cy="436893"/>
          </a:xfrm>
          <a:prstGeom prst="rect">
            <a:avLst/>
          </a:prstGeom>
          <a:solidFill>
            <a:srgbClr val="FFFFFF"/>
          </a:solidFill>
          <a:ln w="9525">
            <a:solidFill>
              <a:srgbClr val="E8DDCF"/>
            </a:solidFill>
            <a:prstDash val="solid"/>
          </a:ln>
        </p:spPr>
      </p:sp>
      <p:sp>
        <p:nvSpPr>
          <p:cNvPr id="30" name="Hình chữ nhật 29">
            <a:extLst>
              <a:ext uri="{FF2B5EF4-FFF2-40B4-BE49-F238E27FC236}">
                <a16:creationId xmlns:a16="http://schemas.microsoft.com/office/drawing/2014/main" id="{9C37760F-9F86-4A3A-A476-A5B92F33C5D9}"/>
              </a:ext>
            </a:extLst>
          </p:cNvPr>
          <p:cNvSpPr>
            <a:spLocks noGrp="1"/>
          </p:cNvSpPr>
          <p:nvPr/>
        </p:nvSpPr>
        <p:spPr>
          <a:xfrm>
            <a:off x="4419600" y="3352800"/>
            <a:ext cx="5962650" cy="228600"/>
          </a:xfrm>
          <a:prstGeom prst="rect">
            <a:avLst/>
          </a:prstGeom>
        </p:spPr>
        <p:txBody>
          <a:bodyPr lIns="0" tIns="0" rIns="0" bIns="0"/>
          <a:lstStyle/>
          <a:p>
            <a:pPr>
              <a:lnSpc>
                <a:spcPct val="117000"/>
              </a:lnSpc>
              <a:buNone/>
              <a:defRPr sz="1275" b="0">
                <a:solidFill>
                  <a:srgbClr val="151515"/>
                </a:solidFill>
              </a:defRPr>
            </a:pPr>
            <a:r>
              <a:rPr sz="1275" b="0">
                <a:solidFill>
                  <a:srgbClr val="151515"/>
                </a:solidFill>
              </a:rPr>
              <a:t>Express.js, Sequelize</a:t>
            </a:r>
          </a:p>
        </p:txBody>
      </p:sp>
      <p:sp>
        <p:nvSpPr>
          <p:cNvPr id="31" name="Hình chữ nhật 30">
            <a:extLst>
              <a:ext uri="{FF2B5EF4-FFF2-40B4-BE49-F238E27FC236}">
                <a16:creationId xmlns:a16="http://schemas.microsoft.com/office/drawing/2014/main" id="{F5577AA4-B890-413F-BBEA-A8444BCCDB5A}"/>
              </a:ext>
            </a:extLst>
          </p:cNvPr>
          <p:cNvSpPr>
            <a:spLocks noGrp="1"/>
          </p:cNvSpPr>
          <p:nvPr/>
        </p:nvSpPr>
        <p:spPr>
          <a:xfrm>
            <a:off x="10510766" y="3243872"/>
            <a:ext cx="6958084" cy="436893"/>
          </a:xfrm>
          <a:prstGeom prst="rect">
            <a:avLst/>
          </a:prstGeom>
          <a:solidFill>
            <a:srgbClr val="FFFFFF"/>
          </a:solidFill>
          <a:ln w="9525">
            <a:solidFill>
              <a:srgbClr val="E8DDCF"/>
            </a:solidFill>
            <a:prstDash val="solid"/>
          </a:ln>
        </p:spPr>
      </p:sp>
      <p:sp>
        <p:nvSpPr>
          <p:cNvPr id="32" name="Hình chữ nhật 31">
            <a:extLst>
              <a:ext uri="{FF2B5EF4-FFF2-40B4-BE49-F238E27FC236}">
                <a16:creationId xmlns:a16="http://schemas.microsoft.com/office/drawing/2014/main" id="{E8267D2A-0455-4F06-B1A4-262F37679A17}"/>
              </a:ext>
            </a:extLst>
          </p:cNvPr>
          <p:cNvSpPr>
            <a:spLocks noGrp="1"/>
          </p:cNvSpPr>
          <p:nvPr/>
        </p:nvSpPr>
        <p:spPr>
          <a:xfrm>
            <a:off x="10629900" y="3352800"/>
            <a:ext cx="6705600" cy="228600"/>
          </a:xfrm>
          <a:prstGeom prst="rect">
            <a:avLst/>
          </a:prstGeom>
        </p:spPr>
        <p:txBody>
          <a:bodyPr lIns="0" tIns="0" rIns="0" bIns="0"/>
          <a:lstStyle/>
          <a:p>
            <a:pPr>
              <a:lnSpc>
                <a:spcPct val="117000"/>
              </a:lnSpc>
              <a:buNone/>
              <a:defRPr sz="1275" b="0">
                <a:solidFill>
                  <a:srgbClr val="151515"/>
                </a:solidFill>
              </a:defRPr>
            </a:pPr>
            <a:r>
              <a:rPr sz="1275" b="0">
                <a:solidFill>
                  <a:srgbClr val="151515"/>
                </a:solidFill>
              </a:rPr>
              <a:t>REST API, service layer, ORM model/association</a:t>
            </a:r>
          </a:p>
        </p:txBody>
      </p:sp>
      <p:sp>
        <p:nvSpPr>
          <p:cNvPr id="33" name="Hình chữ nhật 32">
            <a:extLst>
              <a:ext uri="{FF2B5EF4-FFF2-40B4-BE49-F238E27FC236}">
                <a16:creationId xmlns:a16="http://schemas.microsoft.com/office/drawing/2014/main" id="{B888B4AF-7101-421B-B6C2-9E1574202FE5}"/>
              </a:ext>
            </a:extLst>
          </p:cNvPr>
          <p:cNvSpPr>
            <a:spLocks noGrp="1"/>
          </p:cNvSpPr>
          <p:nvPr/>
        </p:nvSpPr>
        <p:spPr>
          <a:xfrm>
            <a:off x="819150" y="3680765"/>
            <a:ext cx="3479042" cy="436893"/>
          </a:xfrm>
          <a:prstGeom prst="rect">
            <a:avLst/>
          </a:prstGeom>
          <a:solidFill>
            <a:srgbClr val="FBF6EE"/>
          </a:solidFill>
          <a:ln w="9525">
            <a:solidFill>
              <a:srgbClr val="E8DDCF"/>
            </a:solidFill>
            <a:prstDash val="solid"/>
          </a:ln>
        </p:spPr>
      </p:sp>
      <p:sp>
        <p:nvSpPr>
          <p:cNvPr id="34" name="Hình chữ nhật 33">
            <a:extLst>
              <a:ext uri="{FF2B5EF4-FFF2-40B4-BE49-F238E27FC236}">
                <a16:creationId xmlns:a16="http://schemas.microsoft.com/office/drawing/2014/main" id="{946D2DA9-43DB-4DBB-A253-EC5853BDED7A}"/>
              </a:ext>
            </a:extLst>
          </p:cNvPr>
          <p:cNvSpPr>
            <a:spLocks noGrp="1"/>
          </p:cNvSpPr>
          <p:nvPr/>
        </p:nvSpPr>
        <p:spPr>
          <a:xfrm>
            <a:off x="952500" y="3790950"/>
            <a:ext cx="3238500" cy="228600"/>
          </a:xfrm>
          <a:prstGeom prst="rect">
            <a:avLst/>
          </a:prstGeom>
        </p:spPr>
        <p:txBody>
          <a:bodyPr lIns="0" tIns="0" rIns="0" bIns="0"/>
          <a:lstStyle/>
          <a:p>
            <a:pPr>
              <a:lnSpc>
                <a:spcPct val="117000"/>
              </a:lnSpc>
              <a:buNone/>
              <a:defRPr sz="1275" b="0">
                <a:solidFill>
                  <a:srgbClr val="151515"/>
                </a:solidFill>
              </a:defRPr>
            </a:pPr>
            <a:r>
              <a:rPr sz="1275" b="0">
                <a:solidFill>
                  <a:srgbClr val="151515"/>
                </a:solidFill>
              </a:rPr>
              <a:t>Database</a:t>
            </a:r>
          </a:p>
        </p:txBody>
      </p:sp>
      <p:sp>
        <p:nvSpPr>
          <p:cNvPr id="35" name="Hình chữ nhật 34">
            <a:extLst>
              <a:ext uri="{FF2B5EF4-FFF2-40B4-BE49-F238E27FC236}">
                <a16:creationId xmlns:a16="http://schemas.microsoft.com/office/drawing/2014/main" id="{3CEF8EB7-8054-4D9A-BBEA-3D399172821C}"/>
              </a:ext>
            </a:extLst>
          </p:cNvPr>
          <p:cNvSpPr>
            <a:spLocks noGrp="1"/>
          </p:cNvSpPr>
          <p:nvPr/>
        </p:nvSpPr>
        <p:spPr>
          <a:xfrm>
            <a:off x="4298192" y="3680765"/>
            <a:ext cx="6212575" cy="436893"/>
          </a:xfrm>
          <a:prstGeom prst="rect">
            <a:avLst/>
          </a:prstGeom>
          <a:solidFill>
            <a:srgbClr val="FBF6EE"/>
          </a:solidFill>
          <a:ln w="9525">
            <a:solidFill>
              <a:srgbClr val="E8DDCF"/>
            </a:solidFill>
            <a:prstDash val="solid"/>
          </a:ln>
        </p:spPr>
      </p:sp>
      <p:sp>
        <p:nvSpPr>
          <p:cNvPr id="36" name="Hình chữ nhật 35">
            <a:extLst>
              <a:ext uri="{FF2B5EF4-FFF2-40B4-BE49-F238E27FC236}">
                <a16:creationId xmlns:a16="http://schemas.microsoft.com/office/drawing/2014/main" id="{814C0611-27B8-4C80-BFAF-8303BF4A7914}"/>
              </a:ext>
            </a:extLst>
          </p:cNvPr>
          <p:cNvSpPr>
            <a:spLocks noGrp="1"/>
          </p:cNvSpPr>
          <p:nvPr/>
        </p:nvSpPr>
        <p:spPr>
          <a:xfrm>
            <a:off x="4419600" y="3790950"/>
            <a:ext cx="5962650" cy="228600"/>
          </a:xfrm>
          <a:prstGeom prst="rect">
            <a:avLst/>
          </a:prstGeom>
        </p:spPr>
        <p:txBody>
          <a:bodyPr lIns="0" tIns="0" rIns="0" bIns="0"/>
          <a:lstStyle/>
          <a:p>
            <a:pPr>
              <a:lnSpc>
                <a:spcPct val="117000"/>
              </a:lnSpc>
              <a:buNone/>
              <a:defRPr sz="1275" b="0">
                <a:solidFill>
                  <a:srgbClr val="151515"/>
                </a:solidFill>
              </a:defRPr>
            </a:pPr>
            <a:r>
              <a:rPr sz="1275" b="0">
                <a:solidFill>
                  <a:srgbClr val="151515"/>
                </a:solidFill>
              </a:rPr>
              <a:t>PostgreSQL</a:t>
            </a:r>
          </a:p>
        </p:txBody>
      </p:sp>
      <p:sp>
        <p:nvSpPr>
          <p:cNvPr id="37" name="Hình chữ nhật 36">
            <a:extLst>
              <a:ext uri="{FF2B5EF4-FFF2-40B4-BE49-F238E27FC236}">
                <a16:creationId xmlns:a16="http://schemas.microsoft.com/office/drawing/2014/main" id="{1D3F2EEC-2E74-4BBD-96CE-8F511F9B372E}"/>
              </a:ext>
            </a:extLst>
          </p:cNvPr>
          <p:cNvSpPr>
            <a:spLocks noGrp="1"/>
          </p:cNvSpPr>
          <p:nvPr/>
        </p:nvSpPr>
        <p:spPr>
          <a:xfrm>
            <a:off x="10510766" y="3680765"/>
            <a:ext cx="6958084" cy="436893"/>
          </a:xfrm>
          <a:prstGeom prst="rect">
            <a:avLst/>
          </a:prstGeom>
          <a:solidFill>
            <a:srgbClr val="FBF6EE"/>
          </a:solidFill>
          <a:ln w="9525">
            <a:solidFill>
              <a:srgbClr val="E8DDCF"/>
            </a:solidFill>
            <a:prstDash val="solid"/>
          </a:ln>
        </p:spPr>
      </p:sp>
      <p:sp>
        <p:nvSpPr>
          <p:cNvPr id="38" name="Hình chữ nhật 37">
            <a:extLst>
              <a:ext uri="{FF2B5EF4-FFF2-40B4-BE49-F238E27FC236}">
                <a16:creationId xmlns:a16="http://schemas.microsoft.com/office/drawing/2014/main" id="{707C99ED-8972-4932-864C-3C428465F926}"/>
              </a:ext>
            </a:extLst>
          </p:cNvPr>
          <p:cNvSpPr>
            <a:spLocks noGrp="1"/>
          </p:cNvSpPr>
          <p:nvPr/>
        </p:nvSpPr>
        <p:spPr>
          <a:xfrm>
            <a:off x="10629900" y="3790950"/>
            <a:ext cx="6705600" cy="228600"/>
          </a:xfrm>
          <a:prstGeom prst="rect">
            <a:avLst/>
          </a:prstGeom>
        </p:spPr>
        <p:txBody>
          <a:bodyPr lIns="0" tIns="0" rIns="0" bIns="0"/>
          <a:lstStyle/>
          <a:p>
            <a:pPr>
              <a:lnSpc>
                <a:spcPct val="117000"/>
              </a:lnSpc>
              <a:buNone/>
              <a:defRPr sz="1275" b="0">
                <a:solidFill>
                  <a:srgbClr val="151515"/>
                </a:solidFill>
              </a:defRPr>
            </a:pPr>
            <a:r>
              <a:rPr sz="1275" b="0">
                <a:solidFill>
                  <a:srgbClr val="151515"/>
                </a:solidFill>
              </a:rPr>
              <a:t>Dữ liệu e-commerce, JSONB, enum, index</a:t>
            </a:r>
          </a:p>
        </p:txBody>
      </p:sp>
      <p:sp>
        <p:nvSpPr>
          <p:cNvPr id="39" name="Hình chữ nhật 38">
            <a:extLst>
              <a:ext uri="{FF2B5EF4-FFF2-40B4-BE49-F238E27FC236}">
                <a16:creationId xmlns:a16="http://schemas.microsoft.com/office/drawing/2014/main" id="{6579C253-E4C8-40B0-8983-2237F517CDE0}"/>
              </a:ext>
            </a:extLst>
          </p:cNvPr>
          <p:cNvSpPr>
            <a:spLocks noGrp="1"/>
          </p:cNvSpPr>
          <p:nvPr/>
        </p:nvSpPr>
        <p:spPr>
          <a:xfrm>
            <a:off x="819150" y="4117657"/>
            <a:ext cx="3479042" cy="436893"/>
          </a:xfrm>
          <a:prstGeom prst="rect">
            <a:avLst/>
          </a:prstGeom>
          <a:solidFill>
            <a:srgbClr val="FFFFFF"/>
          </a:solidFill>
          <a:ln w="9525">
            <a:solidFill>
              <a:srgbClr val="E8DDCF"/>
            </a:solidFill>
            <a:prstDash val="solid"/>
          </a:ln>
        </p:spPr>
      </p:sp>
      <p:sp>
        <p:nvSpPr>
          <p:cNvPr id="40" name="Hình chữ nhật 39">
            <a:extLst>
              <a:ext uri="{FF2B5EF4-FFF2-40B4-BE49-F238E27FC236}">
                <a16:creationId xmlns:a16="http://schemas.microsoft.com/office/drawing/2014/main" id="{888E62F2-3049-4FEC-8F2F-1A1636D45299}"/>
              </a:ext>
            </a:extLst>
          </p:cNvPr>
          <p:cNvSpPr>
            <a:spLocks noGrp="1"/>
          </p:cNvSpPr>
          <p:nvPr/>
        </p:nvSpPr>
        <p:spPr>
          <a:xfrm>
            <a:off x="952500" y="4229100"/>
            <a:ext cx="3238500" cy="228600"/>
          </a:xfrm>
          <a:prstGeom prst="rect">
            <a:avLst/>
          </a:prstGeom>
        </p:spPr>
        <p:txBody>
          <a:bodyPr lIns="0" tIns="0" rIns="0" bIns="0"/>
          <a:lstStyle/>
          <a:p>
            <a:pPr>
              <a:lnSpc>
                <a:spcPct val="117000"/>
              </a:lnSpc>
              <a:buNone/>
              <a:defRPr sz="1275" b="0">
                <a:solidFill>
                  <a:srgbClr val="151515"/>
                </a:solidFill>
              </a:defRPr>
            </a:pPr>
            <a:r>
              <a:rPr sz="1275" b="0">
                <a:solidFill>
                  <a:srgbClr val="151515"/>
                </a:solidFill>
              </a:rPr>
              <a:t>Realtime / AI</a:t>
            </a:r>
          </a:p>
        </p:txBody>
      </p:sp>
      <p:sp>
        <p:nvSpPr>
          <p:cNvPr id="41" name="Hình chữ nhật 40">
            <a:extLst>
              <a:ext uri="{FF2B5EF4-FFF2-40B4-BE49-F238E27FC236}">
                <a16:creationId xmlns:a16="http://schemas.microsoft.com/office/drawing/2014/main" id="{20591296-9CD4-47AE-8772-0C09839D717F}"/>
              </a:ext>
            </a:extLst>
          </p:cNvPr>
          <p:cNvSpPr>
            <a:spLocks noGrp="1"/>
          </p:cNvSpPr>
          <p:nvPr/>
        </p:nvSpPr>
        <p:spPr>
          <a:xfrm>
            <a:off x="4298192" y="4117657"/>
            <a:ext cx="6212575" cy="436893"/>
          </a:xfrm>
          <a:prstGeom prst="rect">
            <a:avLst/>
          </a:prstGeom>
          <a:solidFill>
            <a:srgbClr val="FFFFFF"/>
          </a:solidFill>
          <a:ln w="9525">
            <a:solidFill>
              <a:srgbClr val="E8DDCF"/>
            </a:solidFill>
            <a:prstDash val="solid"/>
          </a:ln>
        </p:spPr>
      </p:sp>
      <p:sp>
        <p:nvSpPr>
          <p:cNvPr id="42" name="Hình chữ nhật 41">
            <a:extLst>
              <a:ext uri="{FF2B5EF4-FFF2-40B4-BE49-F238E27FC236}">
                <a16:creationId xmlns:a16="http://schemas.microsoft.com/office/drawing/2014/main" id="{C2DC9FE7-90B0-493B-BDE7-5A5611B3DD39}"/>
              </a:ext>
            </a:extLst>
          </p:cNvPr>
          <p:cNvSpPr>
            <a:spLocks noGrp="1"/>
          </p:cNvSpPr>
          <p:nvPr/>
        </p:nvSpPr>
        <p:spPr>
          <a:xfrm>
            <a:off x="4419600" y="4229100"/>
            <a:ext cx="5962650" cy="228600"/>
          </a:xfrm>
          <a:prstGeom prst="rect">
            <a:avLst/>
          </a:prstGeom>
        </p:spPr>
        <p:txBody>
          <a:bodyPr lIns="0" tIns="0" rIns="0" bIns="0"/>
          <a:lstStyle/>
          <a:p>
            <a:pPr>
              <a:lnSpc>
                <a:spcPct val="117000"/>
              </a:lnSpc>
              <a:buNone/>
              <a:defRPr sz="1275" b="0">
                <a:solidFill>
                  <a:srgbClr val="151515"/>
                </a:solidFill>
              </a:defRPr>
            </a:pPr>
            <a:r>
              <a:rPr sz="1275" b="0">
                <a:solidFill>
                  <a:srgbClr val="151515"/>
                </a:solidFill>
              </a:rPr>
              <a:t>Socket.IO, Gemini/OpenAI SDK</a:t>
            </a:r>
          </a:p>
        </p:txBody>
      </p:sp>
      <p:sp>
        <p:nvSpPr>
          <p:cNvPr id="43" name="Hình chữ nhật 42">
            <a:extLst>
              <a:ext uri="{FF2B5EF4-FFF2-40B4-BE49-F238E27FC236}">
                <a16:creationId xmlns:a16="http://schemas.microsoft.com/office/drawing/2014/main" id="{DB0D4F11-8235-4AB7-8950-BE0BBF065696}"/>
              </a:ext>
            </a:extLst>
          </p:cNvPr>
          <p:cNvSpPr>
            <a:spLocks noGrp="1"/>
          </p:cNvSpPr>
          <p:nvPr/>
        </p:nvSpPr>
        <p:spPr>
          <a:xfrm>
            <a:off x="10510766" y="4117657"/>
            <a:ext cx="6958084" cy="436893"/>
          </a:xfrm>
          <a:prstGeom prst="rect">
            <a:avLst/>
          </a:prstGeom>
          <a:solidFill>
            <a:srgbClr val="FFFFFF"/>
          </a:solidFill>
          <a:ln w="9525">
            <a:solidFill>
              <a:srgbClr val="E8DDCF"/>
            </a:solidFill>
            <a:prstDash val="solid"/>
          </a:ln>
        </p:spPr>
      </p:sp>
      <p:sp>
        <p:nvSpPr>
          <p:cNvPr id="44" name="Hình chữ nhật 43">
            <a:extLst>
              <a:ext uri="{FF2B5EF4-FFF2-40B4-BE49-F238E27FC236}">
                <a16:creationId xmlns:a16="http://schemas.microsoft.com/office/drawing/2014/main" id="{9A2E126C-205C-4A0F-B550-1E7F25DDA90C}"/>
              </a:ext>
            </a:extLst>
          </p:cNvPr>
          <p:cNvSpPr>
            <a:spLocks noGrp="1"/>
          </p:cNvSpPr>
          <p:nvPr/>
        </p:nvSpPr>
        <p:spPr>
          <a:xfrm>
            <a:off x="10629900" y="4229100"/>
            <a:ext cx="6705600" cy="228600"/>
          </a:xfrm>
          <a:prstGeom prst="rect">
            <a:avLst/>
          </a:prstGeom>
        </p:spPr>
        <p:txBody>
          <a:bodyPr lIns="0" tIns="0" rIns="0" bIns="0"/>
          <a:lstStyle/>
          <a:p>
            <a:pPr>
              <a:lnSpc>
                <a:spcPct val="117000"/>
              </a:lnSpc>
              <a:buNone/>
              <a:defRPr sz="1275" b="0">
                <a:solidFill>
                  <a:srgbClr val="151515"/>
                </a:solidFill>
              </a:defRPr>
            </a:pPr>
            <a:r>
              <a:rPr sz="1275" b="0">
                <a:solidFill>
                  <a:srgbClr val="151515"/>
                </a:solidFill>
              </a:rPr>
              <a:t>Chat realtime, AI chat/voice, product advisory</a:t>
            </a:r>
          </a:p>
        </p:txBody>
      </p:sp>
      <p:sp>
        <p:nvSpPr>
          <p:cNvPr id="45" name="Hình chữ nhật 44">
            <a:extLst>
              <a:ext uri="{FF2B5EF4-FFF2-40B4-BE49-F238E27FC236}">
                <a16:creationId xmlns:a16="http://schemas.microsoft.com/office/drawing/2014/main" id="{979C0FAB-6B55-4762-A77A-A923C9EA6A2C}"/>
              </a:ext>
            </a:extLst>
          </p:cNvPr>
          <p:cNvSpPr>
            <a:spLocks noGrp="1"/>
          </p:cNvSpPr>
          <p:nvPr/>
        </p:nvSpPr>
        <p:spPr>
          <a:xfrm>
            <a:off x="819150" y="4554550"/>
            <a:ext cx="3479042" cy="436893"/>
          </a:xfrm>
          <a:prstGeom prst="rect">
            <a:avLst/>
          </a:prstGeom>
          <a:solidFill>
            <a:srgbClr val="FBF6EE"/>
          </a:solidFill>
          <a:ln w="9525">
            <a:solidFill>
              <a:srgbClr val="E8DDCF"/>
            </a:solidFill>
            <a:prstDash val="solid"/>
          </a:ln>
        </p:spPr>
      </p:sp>
      <p:sp>
        <p:nvSpPr>
          <p:cNvPr id="46" name="Hình chữ nhật 45">
            <a:extLst>
              <a:ext uri="{FF2B5EF4-FFF2-40B4-BE49-F238E27FC236}">
                <a16:creationId xmlns:a16="http://schemas.microsoft.com/office/drawing/2014/main" id="{278E3003-0A66-41FD-9665-BA771BFE1BF7}"/>
              </a:ext>
            </a:extLst>
          </p:cNvPr>
          <p:cNvSpPr>
            <a:spLocks noGrp="1"/>
          </p:cNvSpPr>
          <p:nvPr/>
        </p:nvSpPr>
        <p:spPr>
          <a:xfrm>
            <a:off x="952500" y="4667250"/>
            <a:ext cx="3238500" cy="228600"/>
          </a:xfrm>
          <a:prstGeom prst="rect">
            <a:avLst/>
          </a:prstGeom>
        </p:spPr>
        <p:txBody>
          <a:bodyPr lIns="0" tIns="0" rIns="0" bIns="0"/>
          <a:lstStyle/>
          <a:p>
            <a:pPr>
              <a:lnSpc>
                <a:spcPct val="117000"/>
              </a:lnSpc>
              <a:buNone/>
              <a:defRPr sz="1275" b="0">
                <a:solidFill>
                  <a:srgbClr val="151515"/>
                </a:solidFill>
              </a:defRPr>
            </a:pPr>
            <a:r>
              <a:rPr sz="1275" b="0">
                <a:solidFill>
                  <a:srgbClr val="151515"/>
                </a:solidFill>
              </a:rPr>
              <a:t>Payment / Docs / Deploy</a:t>
            </a:r>
          </a:p>
        </p:txBody>
      </p:sp>
      <p:sp>
        <p:nvSpPr>
          <p:cNvPr id="47" name="Hình chữ nhật 46">
            <a:extLst>
              <a:ext uri="{FF2B5EF4-FFF2-40B4-BE49-F238E27FC236}">
                <a16:creationId xmlns:a16="http://schemas.microsoft.com/office/drawing/2014/main" id="{E789477E-3A08-4E81-9112-9EFD5D9C1C05}"/>
              </a:ext>
            </a:extLst>
          </p:cNvPr>
          <p:cNvSpPr>
            <a:spLocks noGrp="1"/>
          </p:cNvSpPr>
          <p:nvPr/>
        </p:nvSpPr>
        <p:spPr>
          <a:xfrm>
            <a:off x="4298192" y="4554550"/>
            <a:ext cx="6212575" cy="436893"/>
          </a:xfrm>
          <a:prstGeom prst="rect">
            <a:avLst/>
          </a:prstGeom>
          <a:solidFill>
            <a:srgbClr val="FBF6EE"/>
          </a:solidFill>
          <a:ln w="9525">
            <a:solidFill>
              <a:srgbClr val="E8DDCF"/>
            </a:solidFill>
            <a:prstDash val="solid"/>
          </a:ln>
        </p:spPr>
      </p:sp>
      <p:sp>
        <p:nvSpPr>
          <p:cNvPr id="48" name="Hình chữ nhật 47">
            <a:extLst>
              <a:ext uri="{FF2B5EF4-FFF2-40B4-BE49-F238E27FC236}">
                <a16:creationId xmlns:a16="http://schemas.microsoft.com/office/drawing/2014/main" id="{99001CB0-2DB8-4465-A37D-28A4C1ABEE49}"/>
              </a:ext>
            </a:extLst>
          </p:cNvPr>
          <p:cNvSpPr>
            <a:spLocks noGrp="1"/>
          </p:cNvSpPr>
          <p:nvPr/>
        </p:nvSpPr>
        <p:spPr>
          <a:xfrm>
            <a:off x="4419600" y="4667250"/>
            <a:ext cx="5962650" cy="228600"/>
          </a:xfrm>
          <a:prstGeom prst="rect">
            <a:avLst/>
          </a:prstGeom>
        </p:spPr>
        <p:txBody>
          <a:bodyPr lIns="0" tIns="0" rIns="0" bIns="0"/>
          <a:lstStyle/>
          <a:p>
            <a:pPr>
              <a:lnSpc>
                <a:spcPct val="117000"/>
              </a:lnSpc>
              <a:buNone/>
              <a:defRPr sz="1275" b="0">
                <a:solidFill>
                  <a:srgbClr val="151515"/>
                </a:solidFill>
              </a:defRPr>
            </a:pPr>
            <a:r>
              <a:rPr sz="1275" b="0">
                <a:solidFill>
                  <a:srgbClr val="151515"/>
                </a:solidFill>
              </a:rPr>
              <a:t>VNPay, MoMo, PayPal, Swagger, Docker, Nginx</a:t>
            </a:r>
          </a:p>
        </p:txBody>
      </p:sp>
      <p:sp>
        <p:nvSpPr>
          <p:cNvPr id="49" name="Hình chữ nhật 48">
            <a:extLst>
              <a:ext uri="{FF2B5EF4-FFF2-40B4-BE49-F238E27FC236}">
                <a16:creationId xmlns:a16="http://schemas.microsoft.com/office/drawing/2014/main" id="{1A0853B6-8FE4-4C02-8ED4-CC966475F1FE}"/>
              </a:ext>
            </a:extLst>
          </p:cNvPr>
          <p:cNvSpPr>
            <a:spLocks noGrp="1"/>
          </p:cNvSpPr>
          <p:nvPr/>
        </p:nvSpPr>
        <p:spPr>
          <a:xfrm>
            <a:off x="10510766" y="4554550"/>
            <a:ext cx="6958084" cy="436893"/>
          </a:xfrm>
          <a:prstGeom prst="rect">
            <a:avLst/>
          </a:prstGeom>
          <a:solidFill>
            <a:srgbClr val="FBF6EE"/>
          </a:solidFill>
          <a:ln w="9525">
            <a:solidFill>
              <a:srgbClr val="E8DDCF"/>
            </a:solidFill>
            <a:prstDash val="solid"/>
          </a:ln>
        </p:spPr>
      </p:sp>
      <p:sp>
        <p:nvSpPr>
          <p:cNvPr id="50" name="Hình chữ nhật 49">
            <a:extLst>
              <a:ext uri="{FF2B5EF4-FFF2-40B4-BE49-F238E27FC236}">
                <a16:creationId xmlns:a16="http://schemas.microsoft.com/office/drawing/2014/main" id="{44918A4C-9209-45AA-B3F3-0C047260EC8C}"/>
              </a:ext>
            </a:extLst>
          </p:cNvPr>
          <p:cNvSpPr>
            <a:spLocks noGrp="1"/>
          </p:cNvSpPr>
          <p:nvPr/>
        </p:nvSpPr>
        <p:spPr>
          <a:xfrm>
            <a:off x="10629900" y="4667250"/>
            <a:ext cx="6705600" cy="228600"/>
          </a:xfrm>
          <a:prstGeom prst="rect">
            <a:avLst/>
          </a:prstGeom>
        </p:spPr>
        <p:txBody>
          <a:bodyPr lIns="0" tIns="0" rIns="0" bIns="0"/>
          <a:lstStyle/>
          <a:p>
            <a:pPr>
              <a:lnSpc>
                <a:spcPct val="117000"/>
              </a:lnSpc>
              <a:buNone/>
              <a:defRPr sz="1275" b="0">
                <a:solidFill>
                  <a:srgbClr val="151515"/>
                </a:solidFill>
              </a:defRPr>
            </a:pPr>
            <a:r>
              <a:rPr sz="1275" b="0">
                <a:solidFill>
                  <a:srgbClr val="151515"/>
                </a:solidFill>
              </a:rPr>
              <a:t>Thanh toán, API docs, đóng gói và reverse proxy</a:t>
            </a:r>
          </a:p>
        </p:txBody>
      </p:sp>
    </p:spTree>
    <p:extLst>
      <p:ext uri="{BB962C8B-B14F-4D97-AF65-F5344CB8AC3E}">
        <p14:creationId xmlns:p14="http://schemas.microsoft.com/office/powerpoint/2010/main" val="212548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background">
            <a:extLst>
              <a:ext uri="{FF2B5EF4-FFF2-40B4-BE49-F238E27FC236}">
                <a16:creationId xmlns:a16="http://schemas.microsoft.com/office/drawing/2014/main" id="{1685B7CF-294C-450E-858A-A61572009E61}"/>
              </a:ext>
            </a:extLst>
          </p:cNvPr>
          <p:cNvSpPr>
            <a:spLocks noGrp="1"/>
          </p:cNvSpPr>
          <p:nvPr/>
        </p:nvSpPr>
        <p:spPr>
          <a:xfrm>
            <a:off x="0" y="0"/>
            <a:ext cx="18288000" cy="10287000"/>
          </a:xfrm>
          <a:prstGeom prst="rect">
            <a:avLst/>
          </a:prstGeom>
          <a:solidFill>
            <a:srgbClr val="FFFDF8"/>
          </a:solidFill>
        </p:spPr>
      </p:sp>
      <p:sp>
        <p:nvSpPr>
          <p:cNvPr id="2" name="top-band">
            <a:extLst>
              <a:ext uri="{FF2B5EF4-FFF2-40B4-BE49-F238E27FC236}">
                <a16:creationId xmlns:a16="http://schemas.microsoft.com/office/drawing/2014/main" id="{15EE1AEE-D3E1-48DE-BC90-B863B341FFE8}"/>
              </a:ext>
            </a:extLst>
          </p:cNvPr>
          <p:cNvSpPr>
            <a:spLocks noGrp="1"/>
          </p:cNvSpPr>
          <p:nvPr/>
        </p:nvSpPr>
        <p:spPr>
          <a:xfrm>
            <a:off x="0" y="0"/>
            <a:ext cx="18288000" cy="152400"/>
          </a:xfrm>
          <a:prstGeom prst="rect">
            <a:avLst/>
          </a:prstGeom>
          <a:solidFill>
            <a:srgbClr val="87B8D6"/>
          </a:solidFill>
        </p:spPr>
      </p:sp>
      <p:sp>
        <p:nvSpPr>
          <p:cNvPr id="3" name="bottom-band">
            <a:extLst>
              <a:ext uri="{FF2B5EF4-FFF2-40B4-BE49-F238E27FC236}">
                <a16:creationId xmlns:a16="http://schemas.microsoft.com/office/drawing/2014/main" id="{F595F033-CAA5-4C48-ABCF-042F9ACC48C8}"/>
              </a:ext>
            </a:extLst>
          </p:cNvPr>
          <p:cNvSpPr>
            <a:spLocks noGrp="1"/>
          </p:cNvSpPr>
          <p:nvPr/>
        </p:nvSpPr>
        <p:spPr>
          <a:xfrm>
            <a:off x="0" y="0"/>
            <a:ext cx="18288000" cy="76200"/>
          </a:xfrm>
          <a:prstGeom prst="rect">
            <a:avLst/>
          </a:prstGeom>
          <a:solidFill>
            <a:srgbClr val="D9B760"/>
          </a:solidFill>
        </p:spPr>
      </p:sp>
      <p:sp>
        <p:nvSpPr>
          <p:cNvPr id="4" name="Hình chữ nhật: Góc Tròn 3">
            <a:extLst>
              <a:ext uri="{FF2B5EF4-FFF2-40B4-BE49-F238E27FC236}">
                <a16:creationId xmlns:a16="http://schemas.microsoft.com/office/drawing/2014/main" id="{993B469C-0FD8-45D2-B78B-61744098F753}"/>
              </a:ext>
            </a:extLst>
          </p:cNvPr>
          <p:cNvSpPr>
            <a:spLocks noGrp="1"/>
          </p:cNvSpPr>
          <p:nvPr/>
        </p:nvSpPr>
        <p:spPr>
          <a:xfrm>
            <a:off x="838200" y="647700"/>
            <a:ext cx="400050" cy="95250"/>
          </a:xfrm>
          <a:prstGeom prst="roundRect">
            <a:avLst>
              <a:gd name="adj" fmla="val 50000"/>
            </a:avLst>
          </a:prstGeom>
          <a:solidFill>
            <a:srgbClr val="87B8D6"/>
          </a:solidFill>
        </p:spPr>
      </p:sp>
      <p:sp>
        <p:nvSpPr>
          <p:cNvPr id="5" name="Hình chữ nhật 4">
            <a:extLst>
              <a:ext uri="{FF2B5EF4-FFF2-40B4-BE49-F238E27FC236}">
                <a16:creationId xmlns:a16="http://schemas.microsoft.com/office/drawing/2014/main" id="{18429FED-1EB1-4136-B5E0-B3B63F6A2FB7}"/>
              </a:ext>
            </a:extLst>
          </p:cNvPr>
          <p:cNvSpPr>
            <a:spLocks noGrp="1"/>
          </p:cNvSpPr>
          <p:nvPr/>
        </p:nvSpPr>
        <p:spPr>
          <a:xfrm>
            <a:off x="1371600" y="571500"/>
            <a:ext cx="15544800" cy="228600"/>
          </a:xfrm>
          <a:prstGeom prst="rect">
            <a:avLst/>
          </a:prstGeom>
        </p:spPr>
        <p:txBody>
          <a:bodyPr lIns="0" tIns="0" rIns="0" bIns="0"/>
          <a:lstStyle/>
          <a:p>
            <a:pPr>
              <a:lnSpc>
                <a:spcPct val="125000"/>
              </a:lnSpc>
              <a:buNone/>
              <a:defRPr sz="1200" b="1">
                <a:solidFill>
                  <a:srgbClr val="7E3D4A"/>
                </a:solidFill>
              </a:defRPr>
            </a:pPr>
            <a:r>
              <a:rPr sz="1200" b="1">
                <a:solidFill>
                  <a:srgbClr val="7E3D4A"/>
                </a:solidFill>
              </a:rPr>
              <a:t>MÃ NGUỒN</a:t>
            </a:r>
          </a:p>
        </p:txBody>
      </p:sp>
      <p:sp>
        <p:nvSpPr>
          <p:cNvPr id="6" name="Hình chữ nhật 5">
            <a:extLst>
              <a:ext uri="{FF2B5EF4-FFF2-40B4-BE49-F238E27FC236}">
                <a16:creationId xmlns:a16="http://schemas.microsoft.com/office/drawing/2014/main" id="{2D36240B-8015-468C-A358-B46637AAF223}"/>
              </a:ext>
            </a:extLst>
          </p:cNvPr>
          <p:cNvSpPr>
            <a:spLocks noGrp="1"/>
          </p:cNvSpPr>
          <p:nvPr/>
        </p:nvSpPr>
        <p:spPr>
          <a:xfrm>
            <a:off x="17068800" y="571500"/>
            <a:ext cx="400050" cy="228600"/>
          </a:xfrm>
          <a:prstGeom prst="rect">
            <a:avLst/>
          </a:prstGeom>
        </p:spPr>
        <p:txBody>
          <a:bodyPr lIns="0" tIns="0" rIns="0" bIns="0"/>
          <a:lstStyle/>
          <a:p>
            <a:pPr>
              <a:lnSpc>
                <a:spcPct val="120000"/>
              </a:lnSpc>
              <a:buNone/>
              <a:defRPr sz="1275" b="1">
                <a:solidFill>
                  <a:srgbClr val="7E3D4A"/>
                </a:solidFill>
              </a:defRPr>
            </a:pPr>
            <a:r>
              <a:rPr sz="1275" b="1">
                <a:solidFill>
                  <a:srgbClr val="7E3D4A"/>
                </a:solidFill>
              </a:rPr>
              <a:t>10/30</a:t>
            </a:r>
          </a:p>
        </p:txBody>
      </p:sp>
      <p:sp>
        <p:nvSpPr>
          <p:cNvPr id="7" name="slide-title">
            <a:extLst>
              <a:ext uri="{FF2B5EF4-FFF2-40B4-BE49-F238E27FC236}">
                <a16:creationId xmlns:a16="http://schemas.microsoft.com/office/drawing/2014/main" id="{D19E849A-03B0-4B31-BC4D-8E9B2E029E9F}"/>
              </a:ext>
            </a:extLst>
          </p:cNvPr>
          <p:cNvSpPr>
            <a:spLocks noGrp="1"/>
          </p:cNvSpPr>
          <p:nvPr/>
        </p:nvSpPr>
        <p:spPr>
          <a:xfrm>
            <a:off x="819150" y="933450"/>
            <a:ext cx="16649700" cy="590550"/>
          </a:xfrm>
          <a:prstGeom prst="rect">
            <a:avLst/>
          </a:prstGeom>
        </p:spPr>
        <p:txBody>
          <a:bodyPr lIns="0" tIns="0" rIns="0" bIns="0"/>
          <a:lstStyle/>
          <a:p>
            <a:pPr>
              <a:lnSpc>
                <a:spcPct val="105000"/>
              </a:lnSpc>
              <a:buNone/>
              <a:defRPr sz="3600" b="1">
                <a:solidFill>
                  <a:srgbClr val="151515"/>
                </a:solidFill>
              </a:defRPr>
            </a:pPr>
            <a:r>
              <a:rPr sz="3600" b="1">
                <a:solidFill>
                  <a:srgbClr val="151515"/>
                </a:solidFill>
              </a:rPr>
              <a:t>Cấu trúc thư mục tách rõ client, server và hạ tầng</a:t>
            </a:r>
          </a:p>
        </p:txBody>
      </p:sp>
      <p:sp>
        <p:nvSpPr>
          <p:cNvPr id="8" name="title-rule">
            <a:extLst>
              <a:ext uri="{FF2B5EF4-FFF2-40B4-BE49-F238E27FC236}">
                <a16:creationId xmlns:a16="http://schemas.microsoft.com/office/drawing/2014/main" id="{593C30D7-878A-4DDA-A1CE-8AD0AA13FA22}"/>
              </a:ext>
            </a:extLst>
          </p:cNvPr>
          <p:cNvSpPr>
            <a:spLocks noGrp="1"/>
          </p:cNvSpPr>
          <p:nvPr/>
        </p:nvSpPr>
        <p:spPr>
          <a:xfrm>
            <a:off x="819150" y="1619250"/>
            <a:ext cx="1905000" cy="38100"/>
          </a:xfrm>
          <a:prstGeom prst="rect">
            <a:avLst/>
          </a:prstGeom>
          <a:solidFill>
            <a:srgbClr val="87B8D6"/>
          </a:solidFill>
          <a:ln w="0">
            <a:solidFill>
              <a:srgbClr val="87B8D6"/>
            </a:solidFill>
            <a:prstDash val="solid"/>
          </a:ln>
        </p:spPr>
      </p:sp>
      <p:sp>
        <p:nvSpPr>
          <p:cNvPr id="9" name="Hình chữ nhật: Góc Tròn 8">
            <a:extLst>
              <a:ext uri="{FF2B5EF4-FFF2-40B4-BE49-F238E27FC236}">
                <a16:creationId xmlns:a16="http://schemas.microsoft.com/office/drawing/2014/main" id="{5E19EACA-1369-4236-90A6-2AFC046B9DE5}"/>
              </a:ext>
            </a:extLst>
          </p:cNvPr>
          <p:cNvSpPr>
            <a:spLocks noGrp="1"/>
          </p:cNvSpPr>
          <p:nvPr/>
        </p:nvSpPr>
        <p:spPr>
          <a:xfrm>
            <a:off x="819150" y="1933194"/>
            <a:ext cx="8947785" cy="7782306"/>
          </a:xfrm>
          <a:prstGeom prst="roundRect">
            <a:avLst>
              <a:gd name="adj" fmla="val 979"/>
            </a:avLst>
          </a:prstGeom>
          <a:solidFill>
            <a:srgbClr val="FFFFFF"/>
          </a:solidFill>
          <a:ln w="9525">
            <a:solidFill>
              <a:srgbClr val="E8DDCF"/>
            </a:solidFill>
            <a:prstDash val="solid"/>
          </a:ln>
        </p:spPr>
      </p:sp>
      <p:sp>
        <p:nvSpPr>
          <p:cNvPr id="10" name="Hình chữ nhật 9">
            <a:extLst>
              <a:ext uri="{FF2B5EF4-FFF2-40B4-BE49-F238E27FC236}">
                <a16:creationId xmlns:a16="http://schemas.microsoft.com/office/drawing/2014/main" id="{2C60C1E8-489B-4585-9220-62617FB22FB1}"/>
              </a:ext>
            </a:extLst>
          </p:cNvPr>
          <p:cNvSpPr>
            <a:spLocks noGrp="1"/>
          </p:cNvSpPr>
          <p:nvPr/>
        </p:nvSpPr>
        <p:spPr>
          <a:xfrm>
            <a:off x="1085850" y="2152650"/>
            <a:ext cx="8420100" cy="5410200"/>
          </a:xfrm>
          <a:prstGeom prst="rect">
            <a:avLst/>
          </a:prstGeom>
        </p:spPr>
        <p:txBody>
          <a:bodyPr lIns="0" tIns="0" rIns="0" bIns="0"/>
          <a:lstStyle/>
          <a:p>
            <a:pPr>
              <a:lnSpc>
                <a:spcPct val="125000"/>
              </a:lnSpc>
              <a:buNone/>
              <a:defRPr sz="1575">
                <a:solidFill>
                  <a:srgbClr val="25384A"/>
                </a:solidFill>
              </a:defRPr>
            </a:pPr>
            <a:r>
              <a:rPr sz="1575">
                <a:solidFill>
                  <a:srgbClr val="25384A"/>
                </a:solidFill>
              </a:rPr>
              <a:t>KLTN/</a:t>
            </a:r>
          </a:p>
          <a:p>
            <a:pPr>
              <a:lnSpc>
                <a:spcPct val="125000"/>
              </a:lnSpc>
              <a:buNone/>
              <a:defRPr sz="1575">
                <a:solidFill>
                  <a:srgbClr val="25384A"/>
                </a:solidFill>
              </a:defRPr>
            </a:pPr>
            <a:r>
              <a:rPr sz="1575">
                <a:solidFill>
                  <a:srgbClr val="25384A"/>
                </a:solidFill>
              </a:rPr>
              <a:t>├─ client/       Nuxt 3 frontend</a:t>
            </a:r>
          </a:p>
          <a:p>
            <a:pPr>
              <a:lnSpc>
                <a:spcPct val="125000"/>
              </a:lnSpc>
              <a:buNone/>
              <a:defRPr sz="1575">
                <a:solidFill>
                  <a:srgbClr val="25384A"/>
                </a:solidFill>
              </a:defRPr>
            </a:pPr>
            <a:r>
              <a:rPr sz="1575">
                <a:solidFill>
                  <a:srgbClr val="25384A"/>
                </a:solidFill>
              </a:rPr>
              <a:t>│  ├─ pages/     routes customer/admin/auth</a:t>
            </a:r>
          </a:p>
          <a:p>
            <a:pPr>
              <a:lnSpc>
                <a:spcPct val="125000"/>
              </a:lnSpc>
              <a:buNone/>
              <a:defRPr sz="1575">
                <a:solidFill>
                  <a:srgbClr val="25384A"/>
                </a:solidFill>
              </a:defRPr>
            </a:pPr>
            <a:r>
              <a:rPr sz="1575">
                <a:solidFill>
                  <a:srgbClr val="25384A"/>
                </a:solidFill>
              </a:rPr>
              <a:t>│  ├─ components/ UI components</a:t>
            </a:r>
          </a:p>
          <a:p>
            <a:pPr>
              <a:lnSpc>
                <a:spcPct val="125000"/>
              </a:lnSpc>
              <a:buNone/>
              <a:defRPr sz="1575">
                <a:solidFill>
                  <a:srgbClr val="25384A"/>
                </a:solidFill>
              </a:defRPr>
            </a:pPr>
            <a:r>
              <a:rPr sz="1575">
                <a:solidFill>
                  <a:srgbClr val="25384A"/>
                </a:solidFill>
              </a:rPr>
              <a:t>│  ├─ stores/    Pinia stores</a:t>
            </a:r>
          </a:p>
          <a:p>
            <a:pPr>
              <a:lnSpc>
                <a:spcPct val="125000"/>
              </a:lnSpc>
              <a:buNone/>
              <a:defRPr sz="1575">
                <a:solidFill>
                  <a:srgbClr val="25384A"/>
                </a:solidFill>
              </a:defRPr>
            </a:pPr>
            <a:r>
              <a:rPr sz="1575">
                <a:solidFill>
                  <a:srgbClr val="25384A"/>
                </a:solidFill>
              </a:rPr>
              <a:t>│  ├─ composables/ reusable logic</a:t>
            </a:r>
          </a:p>
          <a:p>
            <a:pPr>
              <a:lnSpc>
                <a:spcPct val="125000"/>
              </a:lnSpc>
              <a:buNone/>
              <a:defRPr sz="1575">
                <a:solidFill>
                  <a:srgbClr val="25384A"/>
                </a:solidFill>
              </a:defRPr>
            </a:pPr>
            <a:r>
              <a:rPr sz="1575">
                <a:solidFill>
                  <a:srgbClr val="25384A"/>
                </a:solidFill>
              </a:rPr>
              <a:t>│  └─ locales/   vi.json / en.json</a:t>
            </a:r>
          </a:p>
          <a:p>
            <a:pPr>
              <a:lnSpc>
                <a:spcPct val="125000"/>
              </a:lnSpc>
              <a:buNone/>
              <a:defRPr sz="1575">
                <a:solidFill>
                  <a:srgbClr val="25384A"/>
                </a:solidFill>
              </a:defRPr>
            </a:pPr>
            <a:r>
              <a:rPr sz="1575">
                <a:solidFill>
                  <a:srgbClr val="25384A"/>
                </a:solidFill>
              </a:rPr>
              <a:t>├─ server/       Express.js backend</a:t>
            </a:r>
          </a:p>
          <a:p>
            <a:pPr>
              <a:lnSpc>
                <a:spcPct val="125000"/>
              </a:lnSpc>
              <a:buNone/>
              <a:defRPr sz="1575">
                <a:solidFill>
                  <a:srgbClr val="25384A"/>
                </a:solidFill>
              </a:defRPr>
            </a:pPr>
            <a:r>
              <a:rPr sz="1575">
                <a:solidFill>
                  <a:srgbClr val="25384A"/>
                </a:solidFill>
              </a:rPr>
              <a:t>│  ├─ controllers/</a:t>
            </a:r>
          </a:p>
          <a:p>
            <a:pPr>
              <a:lnSpc>
                <a:spcPct val="125000"/>
              </a:lnSpc>
              <a:buNone/>
              <a:defRPr sz="1575">
                <a:solidFill>
                  <a:srgbClr val="25384A"/>
                </a:solidFill>
              </a:defRPr>
            </a:pPr>
            <a:r>
              <a:rPr sz="1575">
                <a:solidFill>
                  <a:srgbClr val="25384A"/>
                </a:solidFill>
              </a:rPr>
              <a:t>│  ├─ services/</a:t>
            </a:r>
          </a:p>
          <a:p>
            <a:pPr>
              <a:lnSpc>
                <a:spcPct val="125000"/>
              </a:lnSpc>
              <a:buNone/>
              <a:defRPr sz="1575">
                <a:solidFill>
                  <a:srgbClr val="25384A"/>
                </a:solidFill>
              </a:defRPr>
            </a:pPr>
            <a:r>
              <a:rPr sz="1575">
                <a:solidFill>
                  <a:srgbClr val="25384A"/>
                </a:solidFill>
              </a:rPr>
              <a:t>│  ├─ models/</a:t>
            </a:r>
          </a:p>
          <a:p>
            <a:pPr>
              <a:lnSpc>
                <a:spcPct val="125000"/>
              </a:lnSpc>
              <a:buNone/>
              <a:defRPr sz="1575">
                <a:solidFill>
                  <a:srgbClr val="25384A"/>
                </a:solidFill>
              </a:defRPr>
            </a:pPr>
            <a:r>
              <a:rPr sz="1575">
                <a:solidFill>
                  <a:srgbClr val="25384A"/>
                </a:solidFill>
              </a:rPr>
              <a:t>│  ├─ routes/</a:t>
            </a:r>
          </a:p>
          <a:p>
            <a:pPr>
              <a:lnSpc>
                <a:spcPct val="125000"/>
              </a:lnSpc>
              <a:buNone/>
              <a:defRPr sz="1575">
                <a:solidFill>
                  <a:srgbClr val="25384A"/>
                </a:solidFill>
              </a:defRPr>
            </a:pPr>
            <a:r>
              <a:rPr sz="1575">
                <a:solidFill>
                  <a:srgbClr val="25384A"/>
                </a:solidFill>
              </a:rPr>
              <a:t>│  └─ socket.js</a:t>
            </a:r>
          </a:p>
          <a:p>
            <a:pPr>
              <a:lnSpc>
                <a:spcPct val="125000"/>
              </a:lnSpc>
              <a:buNone/>
              <a:defRPr sz="1575">
                <a:solidFill>
                  <a:srgbClr val="25384A"/>
                </a:solidFill>
              </a:defRPr>
            </a:pPr>
            <a:r>
              <a:rPr sz="1575">
                <a:solidFill>
                  <a:srgbClr val="25384A"/>
                </a:solidFill>
              </a:rPr>
              <a:t>├─ docker-compose.yml</a:t>
            </a:r>
          </a:p>
          <a:p>
            <a:pPr>
              <a:lnSpc>
                <a:spcPct val="125000"/>
              </a:lnSpc>
              <a:buNone/>
              <a:defRPr sz="1575">
                <a:solidFill>
                  <a:srgbClr val="25384A"/>
                </a:solidFill>
              </a:defRPr>
            </a:pPr>
            <a:r>
              <a:rPr sz="1575">
                <a:solidFill>
                  <a:srgbClr val="25384A"/>
                </a:solidFill>
              </a:rPr>
              <a:t>├─ nginx.conf</a:t>
            </a:r>
          </a:p>
          <a:p>
            <a:pPr>
              <a:lnSpc>
                <a:spcPct val="125000"/>
              </a:lnSpc>
              <a:buNone/>
              <a:defRPr sz="1575">
                <a:solidFill>
                  <a:srgbClr val="25384A"/>
                </a:solidFill>
              </a:defRPr>
            </a:pPr>
            <a:r>
              <a:rPr sz="1575">
                <a:solidFill>
                  <a:srgbClr val="25384A"/>
                </a:solidFill>
              </a:rPr>
              <a:t>├─ README.md</a:t>
            </a:r>
          </a:p>
          <a:p>
            <a:pPr>
              <a:lnSpc>
                <a:spcPct val="125000"/>
              </a:lnSpc>
              <a:buNone/>
              <a:defRPr sz="1575">
                <a:solidFill>
                  <a:srgbClr val="25384A"/>
                </a:solidFill>
              </a:defRPr>
            </a:pPr>
            <a:r>
              <a:rPr sz="1575">
                <a:solidFill>
                  <a:srgbClr val="25384A"/>
                </a:solidFill>
              </a:rPr>
              <a:t>├─ SRS.md</a:t>
            </a:r>
          </a:p>
          <a:p>
            <a:pPr>
              <a:lnSpc>
                <a:spcPct val="125000"/>
              </a:lnSpc>
              <a:buNone/>
              <a:defRPr sz="1575">
                <a:solidFill>
                  <a:srgbClr val="25384A"/>
                </a:solidFill>
              </a:defRPr>
            </a:pPr>
            <a:r>
              <a:rPr sz="1575">
                <a:solidFill>
                  <a:srgbClr val="25384A"/>
                </a:solidFill>
              </a:rPr>
              <a:t>└─ PROJECT_ANALYSIS.md</a:t>
            </a:r>
          </a:p>
        </p:txBody>
      </p:sp>
      <p:sp>
        <p:nvSpPr>
          <p:cNvPr id="11" name="Hình chữ nhật: Góc Tròn 10">
            <a:extLst>
              <a:ext uri="{FF2B5EF4-FFF2-40B4-BE49-F238E27FC236}">
                <a16:creationId xmlns:a16="http://schemas.microsoft.com/office/drawing/2014/main" id="{76C2997F-139F-463E-8B3D-8679506B0152}"/>
              </a:ext>
            </a:extLst>
          </p:cNvPr>
          <p:cNvSpPr>
            <a:spLocks noGrp="1"/>
          </p:cNvSpPr>
          <p:nvPr/>
        </p:nvSpPr>
        <p:spPr>
          <a:xfrm>
            <a:off x="10134600" y="4267200"/>
            <a:ext cx="95250" cy="876300"/>
          </a:xfrm>
          <a:prstGeom prst="roundRect">
            <a:avLst>
              <a:gd name="adj" fmla="val 50000"/>
            </a:avLst>
          </a:prstGeom>
          <a:solidFill>
            <a:srgbClr val="77B8A4"/>
          </a:solidFill>
        </p:spPr>
      </p:sp>
      <p:sp>
        <p:nvSpPr>
          <p:cNvPr id="12" name="Hình chữ nhật 11">
            <a:extLst>
              <a:ext uri="{FF2B5EF4-FFF2-40B4-BE49-F238E27FC236}">
                <a16:creationId xmlns:a16="http://schemas.microsoft.com/office/drawing/2014/main" id="{687463DF-12AC-4EF7-9354-082D47C1A799}"/>
              </a:ext>
            </a:extLst>
          </p:cNvPr>
          <p:cNvSpPr>
            <a:spLocks noGrp="1"/>
          </p:cNvSpPr>
          <p:nvPr/>
        </p:nvSpPr>
        <p:spPr>
          <a:xfrm>
            <a:off x="10420350" y="4248150"/>
            <a:ext cx="7048500" cy="400050"/>
          </a:xfrm>
          <a:prstGeom prst="rect">
            <a:avLst/>
          </a:prstGeom>
        </p:spPr>
        <p:txBody>
          <a:bodyPr lIns="0" tIns="0" rIns="0" bIns="0"/>
          <a:lstStyle/>
          <a:p>
            <a:pPr>
              <a:lnSpc>
                <a:spcPct val="125000"/>
              </a:lnSpc>
              <a:buNone/>
              <a:defRPr sz="2100" b="1">
                <a:solidFill>
                  <a:srgbClr val="151515"/>
                </a:solidFill>
              </a:defRPr>
            </a:pPr>
            <a:r>
              <a:rPr sz="2100" b="1">
                <a:solidFill>
                  <a:srgbClr val="151515"/>
                </a:solidFill>
              </a:rPr>
              <a:t>Client</a:t>
            </a:r>
          </a:p>
        </p:txBody>
      </p:sp>
      <p:sp>
        <p:nvSpPr>
          <p:cNvPr id="13" name="Hình chữ nhật 12">
            <a:extLst>
              <a:ext uri="{FF2B5EF4-FFF2-40B4-BE49-F238E27FC236}">
                <a16:creationId xmlns:a16="http://schemas.microsoft.com/office/drawing/2014/main" id="{CDBEB224-FD2C-4E1E-BD4D-E5060B3AC01A}"/>
              </a:ext>
            </a:extLst>
          </p:cNvPr>
          <p:cNvSpPr>
            <a:spLocks noGrp="1"/>
          </p:cNvSpPr>
          <p:nvPr/>
        </p:nvSpPr>
        <p:spPr>
          <a:xfrm>
            <a:off x="10420350" y="4705350"/>
            <a:ext cx="7048500" cy="590550"/>
          </a:xfrm>
          <a:prstGeom prst="rect">
            <a:avLst/>
          </a:prstGeom>
        </p:spPr>
        <p:txBody>
          <a:bodyPr lIns="0" tIns="0" rIns="0" bIns="0"/>
          <a:lstStyle/>
          <a:p>
            <a:pPr>
              <a:lnSpc>
                <a:spcPct val="122000"/>
              </a:lnSpc>
              <a:buNone/>
              <a:defRPr sz="1575">
                <a:solidFill>
                  <a:srgbClr val="647067"/>
                </a:solidFill>
              </a:defRPr>
            </a:pPr>
            <a:r>
              <a:rPr sz="1575">
                <a:solidFill>
                  <a:srgbClr val="647067"/>
                </a:solidFill>
              </a:rPr>
              <a:t>`pages`, `components`, `stores`, `composables`, `services` phục vụ trải nghiệm người dùng.</a:t>
            </a:r>
          </a:p>
        </p:txBody>
      </p:sp>
      <p:sp>
        <p:nvSpPr>
          <p:cNvPr id="14" name="Hình chữ nhật: Góc Tròn 13">
            <a:extLst>
              <a:ext uri="{FF2B5EF4-FFF2-40B4-BE49-F238E27FC236}">
                <a16:creationId xmlns:a16="http://schemas.microsoft.com/office/drawing/2014/main" id="{4D6B5EE4-DA68-42C6-B90B-9698F2AE6A1F}"/>
              </a:ext>
            </a:extLst>
          </p:cNvPr>
          <p:cNvSpPr>
            <a:spLocks noGrp="1"/>
          </p:cNvSpPr>
          <p:nvPr/>
        </p:nvSpPr>
        <p:spPr>
          <a:xfrm>
            <a:off x="10134600" y="5486400"/>
            <a:ext cx="95250" cy="876300"/>
          </a:xfrm>
          <a:prstGeom prst="roundRect">
            <a:avLst>
              <a:gd name="adj" fmla="val 50000"/>
            </a:avLst>
          </a:prstGeom>
          <a:solidFill>
            <a:srgbClr val="D9B760"/>
          </a:solidFill>
        </p:spPr>
      </p:sp>
      <p:sp>
        <p:nvSpPr>
          <p:cNvPr id="15" name="Hình chữ nhật 14">
            <a:extLst>
              <a:ext uri="{FF2B5EF4-FFF2-40B4-BE49-F238E27FC236}">
                <a16:creationId xmlns:a16="http://schemas.microsoft.com/office/drawing/2014/main" id="{72126BFF-FA45-4547-B76A-DE5AC2273804}"/>
              </a:ext>
            </a:extLst>
          </p:cNvPr>
          <p:cNvSpPr>
            <a:spLocks noGrp="1"/>
          </p:cNvSpPr>
          <p:nvPr/>
        </p:nvSpPr>
        <p:spPr>
          <a:xfrm>
            <a:off x="10420350" y="5467350"/>
            <a:ext cx="7048500" cy="400050"/>
          </a:xfrm>
          <a:prstGeom prst="rect">
            <a:avLst/>
          </a:prstGeom>
        </p:spPr>
        <p:txBody>
          <a:bodyPr lIns="0" tIns="0" rIns="0" bIns="0"/>
          <a:lstStyle/>
          <a:p>
            <a:pPr>
              <a:lnSpc>
                <a:spcPct val="125000"/>
              </a:lnSpc>
              <a:buNone/>
              <a:defRPr sz="2100" b="1">
                <a:solidFill>
                  <a:srgbClr val="151515"/>
                </a:solidFill>
              </a:defRPr>
            </a:pPr>
            <a:r>
              <a:rPr sz="2100" b="1">
                <a:solidFill>
                  <a:srgbClr val="151515"/>
                </a:solidFill>
              </a:rPr>
              <a:t>Server</a:t>
            </a:r>
          </a:p>
        </p:txBody>
      </p:sp>
      <p:sp>
        <p:nvSpPr>
          <p:cNvPr id="16" name="Hình chữ nhật 15">
            <a:extLst>
              <a:ext uri="{FF2B5EF4-FFF2-40B4-BE49-F238E27FC236}">
                <a16:creationId xmlns:a16="http://schemas.microsoft.com/office/drawing/2014/main" id="{3A47C28B-5E43-4F60-877E-4E815E143E5F}"/>
              </a:ext>
            </a:extLst>
          </p:cNvPr>
          <p:cNvSpPr>
            <a:spLocks noGrp="1"/>
          </p:cNvSpPr>
          <p:nvPr/>
        </p:nvSpPr>
        <p:spPr>
          <a:xfrm>
            <a:off x="10420350" y="5924550"/>
            <a:ext cx="7048500" cy="304800"/>
          </a:xfrm>
          <a:prstGeom prst="rect">
            <a:avLst/>
          </a:prstGeom>
        </p:spPr>
        <p:txBody>
          <a:bodyPr lIns="0" tIns="0" rIns="0" bIns="0"/>
          <a:lstStyle/>
          <a:p>
            <a:pPr>
              <a:lnSpc>
                <a:spcPct val="122000"/>
              </a:lnSpc>
              <a:buNone/>
              <a:defRPr sz="1575">
                <a:solidFill>
                  <a:srgbClr val="647067"/>
                </a:solidFill>
              </a:defRPr>
            </a:pPr>
            <a:r>
              <a:rPr sz="1575">
                <a:solidFill>
                  <a:srgbClr val="647067"/>
                </a:solidFill>
              </a:rPr>
              <a:t>`routes`, `controllers`, `services`, `models` giữ business logic rõ lớp.</a:t>
            </a:r>
          </a:p>
        </p:txBody>
      </p:sp>
      <p:sp>
        <p:nvSpPr>
          <p:cNvPr id="17" name="Hình chữ nhật: Góc Tròn 16">
            <a:extLst>
              <a:ext uri="{FF2B5EF4-FFF2-40B4-BE49-F238E27FC236}">
                <a16:creationId xmlns:a16="http://schemas.microsoft.com/office/drawing/2014/main" id="{40E53655-02EC-4F58-BCDE-3E65E5FF7F3C}"/>
              </a:ext>
            </a:extLst>
          </p:cNvPr>
          <p:cNvSpPr>
            <a:spLocks noGrp="1"/>
          </p:cNvSpPr>
          <p:nvPr/>
        </p:nvSpPr>
        <p:spPr>
          <a:xfrm>
            <a:off x="10134600" y="6553200"/>
            <a:ext cx="95250" cy="876300"/>
          </a:xfrm>
          <a:prstGeom prst="roundRect">
            <a:avLst>
              <a:gd name="adj" fmla="val 50000"/>
            </a:avLst>
          </a:prstGeom>
          <a:solidFill>
            <a:srgbClr val="F39A8A"/>
          </a:solidFill>
        </p:spPr>
      </p:sp>
      <p:sp>
        <p:nvSpPr>
          <p:cNvPr id="18" name="Hình chữ nhật 17">
            <a:extLst>
              <a:ext uri="{FF2B5EF4-FFF2-40B4-BE49-F238E27FC236}">
                <a16:creationId xmlns:a16="http://schemas.microsoft.com/office/drawing/2014/main" id="{15DDC5E8-D731-4ED2-B410-DB18DBA60747}"/>
              </a:ext>
            </a:extLst>
          </p:cNvPr>
          <p:cNvSpPr>
            <a:spLocks noGrp="1"/>
          </p:cNvSpPr>
          <p:nvPr/>
        </p:nvSpPr>
        <p:spPr>
          <a:xfrm>
            <a:off x="10420350" y="6515100"/>
            <a:ext cx="7048500" cy="400050"/>
          </a:xfrm>
          <a:prstGeom prst="rect">
            <a:avLst/>
          </a:prstGeom>
        </p:spPr>
        <p:txBody>
          <a:bodyPr lIns="0" tIns="0" rIns="0" bIns="0"/>
          <a:lstStyle/>
          <a:p>
            <a:pPr>
              <a:lnSpc>
                <a:spcPct val="125000"/>
              </a:lnSpc>
              <a:buNone/>
              <a:defRPr sz="2100" b="1">
                <a:solidFill>
                  <a:srgbClr val="151515"/>
                </a:solidFill>
              </a:defRPr>
            </a:pPr>
            <a:r>
              <a:rPr sz="2100" b="1">
                <a:solidFill>
                  <a:srgbClr val="151515"/>
                </a:solidFill>
              </a:rPr>
              <a:t>Hạ tầng</a:t>
            </a:r>
          </a:p>
        </p:txBody>
      </p:sp>
      <p:sp>
        <p:nvSpPr>
          <p:cNvPr id="19" name="Hình chữ nhật 18">
            <a:extLst>
              <a:ext uri="{FF2B5EF4-FFF2-40B4-BE49-F238E27FC236}">
                <a16:creationId xmlns:a16="http://schemas.microsoft.com/office/drawing/2014/main" id="{BBCFDD52-F247-4710-B501-CFDEC9022653}"/>
              </a:ext>
            </a:extLst>
          </p:cNvPr>
          <p:cNvSpPr>
            <a:spLocks noGrp="1"/>
          </p:cNvSpPr>
          <p:nvPr/>
        </p:nvSpPr>
        <p:spPr>
          <a:xfrm>
            <a:off x="10420350" y="6972300"/>
            <a:ext cx="7048500" cy="304800"/>
          </a:xfrm>
          <a:prstGeom prst="rect">
            <a:avLst/>
          </a:prstGeom>
        </p:spPr>
        <p:txBody>
          <a:bodyPr lIns="0" tIns="0" rIns="0" bIns="0"/>
          <a:lstStyle/>
          <a:p>
            <a:pPr>
              <a:lnSpc>
                <a:spcPct val="122000"/>
              </a:lnSpc>
              <a:buNone/>
              <a:defRPr sz="1575">
                <a:solidFill>
                  <a:srgbClr val="647067"/>
                </a:solidFill>
              </a:defRPr>
            </a:pPr>
            <a:r>
              <a:rPr sz="1575">
                <a:solidFill>
                  <a:srgbClr val="647067"/>
                </a:solidFill>
              </a:rPr>
              <a:t>Docker Compose và Nginx giúp chạy local/production-like dễ trình bày demo.</a:t>
            </a:r>
          </a:p>
        </p:txBody>
      </p:sp>
    </p:spTree>
    <p:extLst>
      <p:ext uri="{BB962C8B-B14F-4D97-AF65-F5344CB8AC3E}">
        <p14:creationId xmlns:p14="http://schemas.microsoft.com/office/powerpoint/2010/main" val="256974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background">
            <a:extLst>
              <a:ext uri="{FF2B5EF4-FFF2-40B4-BE49-F238E27FC236}">
                <a16:creationId xmlns:a16="http://schemas.microsoft.com/office/drawing/2014/main" id="{B35388C0-E4CF-48AE-A8BE-FB326283A45D}"/>
              </a:ext>
            </a:extLst>
          </p:cNvPr>
          <p:cNvSpPr>
            <a:spLocks noGrp="1"/>
          </p:cNvSpPr>
          <p:nvPr/>
        </p:nvSpPr>
        <p:spPr>
          <a:xfrm>
            <a:off x="0" y="0"/>
            <a:ext cx="18288000" cy="10287000"/>
          </a:xfrm>
          <a:prstGeom prst="rect">
            <a:avLst/>
          </a:prstGeom>
          <a:solidFill>
            <a:srgbClr val="FFFDF8"/>
          </a:solidFill>
        </p:spPr>
      </p:sp>
      <p:sp>
        <p:nvSpPr>
          <p:cNvPr id="2" name="top-band">
            <a:extLst>
              <a:ext uri="{FF2B5EF4-FFF2-40B4-BE49-F238E27FC236}">
                <a16:creationId xmlns:a16="http://schemas.microsoft.com/office/drawing/2014/main" id="{5052EE81-5854-4EDD-8256-86BE1EFB0685}"/>
              </a:ext>
            </a:extLst>
          </p:cNvPr>
          <p:cNvSpPr>
            <a:spLocks noGrp="1"/>
          </p:cNvSpPr>
          <p:nvPr/>
        </p:nvSpPr>
        <p:spPr>
          <a:xfrm>
            <a:off x="0" y="0"/>
            <a:ext cx="18288000" cy="152400"/>
          </a:xfrm>
          <a:prstGeom prst="rect">
            <a:avLst/>
          </a:prstGeom>
          <a:solidFill>
            <a:srgbClr val="77B8A4"/>
          </a:solidFill>
        </p:spPr>
      </p:sp>
      <p:sp>
        <p:nvSpPr>
          <p:cNvPr id="3" name="bottom-band">
            <a:extLst>
              <a:ext uri="{FF2B5EF4-FFF2-40B4-BE49-F238E27FC236}">
                <a16:creationId xmlns:a16="http://schemas.microsoft.com/office/drawing/2014/main" id="{765DA858-9C7E-4863-BDA1-778A2C6572D7}"/>
              </a:ext>
            </a:extLst>
          </p:cNvPr>
          <p:cNvSpPr>
            <a:spLocks noGrp="1"/>
          </p:cNvSpPr>
          <p:nvPr/>
        </p:nvSpPr>
        <p:spPr>
          <a:xfrm>
            <a:off x="0" y="0"/>
            <a:ext cx="18288000" cy="76200"/>
          </a:xfrm>
          <a:prstGeom prst="rect">
            <a:avLst/>
          </a:prstGeom>
          <a:solidFill>
            <a:srgbClr val="D9B760"/>
          </a:solidFill>
        </p:spPr>
      </p:sp>
      <p:sp>
        <p:nvSpPr>
          <p:cNvPr id="4" name="Hình chữ nhật: Góc Tròn 3">
            <a:extLst>
              <a:ext uri="{FF2B5EF4-FFF2-40B4-BE49-F238E27FC236}">
                <a16:creationId xmlns:a16="http://schemas.microsoft.com/office/drawing/2014/main" id="{B7143BBC-D6E8-4530-929B-48CC88E79DD8}"/>
              </a:ext>
            </a:extLst>
          </p:cNvPr>
          <p:cNvSpPr>
            <a:spLocks noGrp="1"/>
          </p:cNvSpPr>
          <p:nvPr/>
        </p:nvSpPr>
        <p:spPr>
          <a:xfrm>
            <a:off x="838200" y="647700"/>
            <a:ext cx="400050" cy="95250"/>
          </a:xfrm>
          <a:prstGeom prst="roundRect">
            <a:avLst>
              <a:gd name="adj" fmla="val 50000"/>
            </a:avLst>
          </a:prstGeom>
          <a:solidFill>
            <a:srgbClr val="77B8A4"/>
          </a:solidFill>
        </p:spPr>
      </p:sp>
      <p:sp>
        <p:nvSpPr>
          <p:cNvPr id="5" name="Hình chữ nhật 4">
            <a:extLst>
              <a:ext uri="{FF2B5EF4-FFF2-40B4-BE49-F238E27FC236}">
                <a16:creationId xmlns:a16="http://schemas.microsoft.com/office/drawing/2014/main" id="{0746DE07-A27E-441E-8618-9D30F8683235}"/>
              </a:ext>
            </a:extLst>
          </p:cNvPr>
          <p:cNvSpPr>
            <a:spLocks noGrp="1"/>
          </p:cNvSpPr>
          <p:nvPr/>
        </p:nvSpPr>
        <p:spPr>
          <a:xfrm>
            <a:off x="1371600" y="571500"/>
            <a:ext cx="15544800" cy="228600"/>
          </a:xfrm>
          <a:prstGeom prst="rect">
            <a:avLst/>
          </a:prstGeom>
        </p:spPr>
        <p:txBody>
          <a:bodyPr lIns="0" tIns="0" rIns="0" bIns="0"/>
          <a:lstStyle/>
          <a:p>
            <a:pPr>
              <a:lnSpc>
                <a:spcPct val="125000"/>
              </a:lnSpc>
              <a:buNone/>
              <a:defRPr sz="1200" b="1">
                <a:solidFill>
                  <a:srgbClr val="7E3D4A"/>
                </a:solidFill>
              </a:defRPr>
            </a:pPr>
            <a:r>
              <a:rPr sz="1200" b="1">
                <a:solidFill>
                  <a:srgbClr val="7E3D4A"/>
                </a:solidFill>
              </a:rPr>
              <a:t>FRONTEND</a:t>
            </a:r>
          </a:p>
        </p:txBody>
      </p:sp>
      <p:sp>
        <p:nvSpPr>
          <p:cNvPr id="6" name="Hình chữ nhật 5">
            <a:extLst>
              <a:ext uri="{FF2B5EF4-FFF2-40B4-BE49-F238E27FC236}">
                <a16:creationId xmlns:a16="http://schemas.microsoft.com/office/drawing/2014/main" id="{354D627C-A8F3-40FE-BFC1-599B8FC04CA3}"/>
              </a:ext>
            </a:extLst>
          </p:cNvPr>
          <p:cNvSpPr>
            <a:spLocks noGrp="1"/>
          </p:cNvSpPr>
          <p:nvPr/>
        </p:nvSpPr>
        <p:spPr>
          <a:xfrm>
            <a:off x="17068800" y="571500"/>
            <a:ext cx="400050" cy="228600"/>
          </a:xfrm>
          <a:prstGeom prst="rect">
            <a:avLst/>
          </a:prstGeom>
        </p:spPr>
        <p:txBody>
          <a:bodyPr lIns="0" tIns="0" rIns="0" bIns="0"/>
          <a:lstStyle/>
          <a:p>
            <a:pPr>
              <a:lnSpc>
                <a:spcPct val="120000"/>
              </a:lnSpc>
              <a:buNone/>
              <a:defRPr sz="1275" b="1">
                <a:solidFill>
                  <a:srgbClr val="7E3D4A"/>
                </a:solidFill>
              </a:defRPr>
            </a:pPr>
            <a:r>
              <a:rPr sz="1275" b="1">
                <a:solidFill>
                  <a:srgbClr val="7E3D4A"/>
                </a:solidFill>
              </a:rPr>
              <a:t>11/30</a:t>
            </a:r>
          </a:p>
        </p:txBody>
      </p:sp>
      <p:sp>
        <p:nvSpPr>
          <p:cNvPr id="7" name="slide-title">
            <a:extLst>
              <a:ext uri="{FF2B5EF4-FFF2-40B4-BE49-F238E27FC236}">
                <a16:creationId xmlns:a16="http://schemas.microsoft.com/office/drawing/2014/main" id="{484C2B0E-B566-4E42-AD9E-ACFDA6FC475E}"/>
              </a:ext>
            </a:extLst>
          </p:cNvPr>
          <p:cNvSpPr>
            <a:spLocks noGrp="1"/>
          </p:cNvSpPr>
          <p:nvPr/>
        </p:nvSpPr>
        <p:spPr>
          <a:xfrm>
            <a:off x="819150" y="933450"/>
            <a:ext cx="16649700" cy="590550"/>
          </a:xfrm>
          <a:prstGeom prst="rect">
            <a:avLst/>
          </a:prstGeom>
        </p:spPr>
        <p:txBody>
          <a:bodyPr lIns="0" tIns="0" rIns="0" bIns="0"/>
          <a:lstStyle/>
          <a:p>
            <a:pPr>
              <a:lnSpc>
                <a:spcPct val="105000"/>
              </a:lnSpc>
              <a:buNone/>
              <a:defRPr sz="3600" b="1">
                <a:solidFill>
                  <a:srgbClr val="151515"/>
                </a:solidFill>
              </a:defRPr>
            </a:pPr>
            <a:r>
              <a:rPr sz="3600" b="1">
                <a:solidFill>
                  <a:srgbClr val="151515"/>
                </a:solidFill>
              </a:rPr>
              <a:t>Các màn hình chính bao phủ cả customer và admin</a:t>
            </a:r>
          </a:p>
        </p:txBody>
      </p:sp>
      <p:sp>
        <p:nvSpPr>
          <p:cNvPr id="8" name="title-rule">
            <a:extLst>
              <a:ext uri="{FF2B5EF4-FFF2-40B4-BE49-F238E27FC236}">
                <a16:creationId xmlns:a16="http://schemas.microsoft.com/office/drawing/2014/main" id="{F0FFA463-258A-4933-8A6C-BDFC749D333B}"/>
              </a:ext>
            </a:extLst>
          </p:cNvPr>
          <p:cNvSpPr>
            <a:spLocks noGrp="1"/>
          </p:cNvSpPr>
          <p:nvPr/>
        </p:nvSpPr>
        <p:spPr>
          <a:xfrm>
            <a:off x="819150" y="1619250"/>
            <a:ext cx="1905000" cy="38100"/>
          </a:xfrm>
          <a:prstGeom prst="rect">
            <a:avLst/>
          </a:prstGeom>
          <a:solidFill>
            <a:srgbClr val="77B8A4"/>
          </a:solidFill>
          <a:ln w="0">
            <a:solidFill>
              <a:srgbClr val="77B8A4"/>
            </a:solidFill>
            <a:prstDash val="solid"/>
          </a:ln>
        </p:spPr>
      </p:sp>
      <p:sp>
        <p:nvSpPr>
          <p:cNvPr id="9" name="Hình chữ nhật: Góc Tròn 8">
            <a:extLst>
              <a:ext uri="{FF2B5EF4-FFF2-40B4-BE49-F238E27FC236}">
                <a16:creationId xmlns:a16="http://schemas.microsoft.com/office/drawing/2014/main" id="{5C18B963-6901-48A0-A2BA-0B3D2DDF7A6F}"/>
              </a:ext>
            </a:extLst>
          </p:cNvPr>
          <p:cNvSpPr>
            <a:spLocks noGrp="1"/>
          </p:cNvSpPr>
          <p:nvPr/>
        </p:nvSpPr>
        <p:spPr>
          <a:xfrm>
            <a:off x="819150" y="1933194"/>
            <a:ext cx="8143875" cy="2653475"/>
          </a:xfrm>
          <a:prstGeom prst="roundRect">
            <a:avLst>
              <a:gd name="adj" fmla="val 2872"/>
            </a:avLst>
          </a:prstGeom>
          <a:solidFill>
            <a:srgbClr val="FEFCF8"/>
          </a:solidFill>
          <a:ln w="9525">
            <a:solidFill>
              <a:srgbClr val="E8DDCF"/>
            </a:solidFill>
            <a:prstDash val="solid"/>
          </a:ln>
        </p:spPr>
      </p:sp>
      <p:sp>
        <p:nvSpPr>
          <p:cNvPr id="10" name="Hình chữ nhật: Góc Tròn 9">
            <a:extLst>
              <a:ext uri="{FF2B5EF4-FFF2-40B4-BE49-F238E27FC236}">
                <a16:creationId xmlns:a16="http://schemas.microsoft.com/office/drawing/2014/main" id="{C72FD9E0-278A-493D-AA08-0805CF13FB1E}"/>
              </a:ext>
            </a:extLst>
          </p:cNvPr>
          <p:cNvSpPr>
            <a:spLocks noGrp="1"/>
          </p:cNvSpPr>
          <p:nvPr/>
        </p:nvSpPr>
        <p:spPr>
          <a:xfrm>
            <a:off x="1028700" y="2171700"/>
            <a:ext cx="104775" cy="323850"/>
          </a:xfrm>
          <a:prstGeom prst="roundRect">
            <a:avLst>
              <a:gd name="adj" fmla="val 50000"/>
            </a:avLst>
          </a:prstGeom>
          <a:solidFill>
            <a:srgbClr val="77B8A4"/>
          </a:solidFill>
        </p:spPr>
      </p:sp>
      <p:sp>
        <p:nvSpPr>
          <p:cNvPr id="11" name="Hình chữ nhật 10">
            <a:extLst>
              <a:ext uri="{FF2B5EF4-FFF2-40B4-BE49-F238E27FC236}">
                <a16:creationId xmlns:a16="http://schemas.microsoft.com/office/drawing/2014/main" id="{3987E8B4-3B8C-469D-8CAB-A8CE5DC10BCA}"/>
              </a:ext>
            </a:extLst>
          </p:cNvPr>
          <p:cNvSpPr>
            <a:spLocks noGrp="1"/>
          </p:cNvSpPr>
          <p:nvPr/>
        </p:nvSpPr>
        <p:spPr>
          <a:xfrm>
            <a:off x="1238250" y="2095500"/>
            <a:ext cx="7524750" cy="419100"/>
          </a:xfrm>
          <a:prstGeom prst="rect">
            <a:avLst/>
          </a:prstGeom>
        </p:spPr>
        <p:txBody>
          <a:bodyPr lIns="0" tIns="0" rIns="0" bIns="0"/>
          <a:lstStyle/>
          <a:p>
            <a:pPr>
              <a:lnSpc>
                <a:spcPct val="125000"/>
              </a:lnSpc>
              <a:buNone/>
              <a:defRPr sz="2175" b="1">
                <a:solidFill>
                  <a:srgbClr val="151515"/>
                </a:solidFill>
              </a:defRPr>
            </a:pPr>
            <a:r>
              <a:rPr sz="2175" b="1">
                <a:solidFill>
                  <a:srgbClr val="151515"/>
                </a:solidFill>
              </a:rPr>
              <a:t>Customer pages</a:t>
            </a:r>
          </a:p>
        </p:txBody>
      </p:sp>
      <p:sp>
        <p:nvSpPr>
          <p:cNvPr id="12" name="Hình chữ nhật 11">
            <a:extLst>
              <a:ext uri="{FF2B5EF4-FFF2-40B4-BE49-F238E27FC236}">
                <a16:creationId xmlns:a16="http://schemas.microsoft.com/office/drawing/2014/main" id="{68F62F1D-6D73-4317-BC35-395F720F13E1}"/>
              </a:ext>
            </a:extLst>
          </p:cNvPr>
          <p:cNvSpPr>
            <a:spLocks noGrp="1"/>
          </p:cNvSpPr>
          <p:nvPr/>
        </p:nvSpPr>
        <p:spPr>
          <a:xfrm>
            <a:off x="1028700" y="2609850"/>
            <a:ext cx="7734300" cy="1828800"/>
          </a:xfrm>
          <a:prstGeom prst="rect">
            <a:avLst/>
          </a:prstGeom>
        </p:spPr>
        <p:txBody>
          <a:bodyPr lIns="0" tIns="0" rIns="0" bIns="0"/>
          <a:lstStyle/>
          <a:p>
            <a:pPr>
              <a:lnSpc>
                <a:spcPct val="120000"/>
              </a:lnSpc>
              <a:buNone/>
              <a:defRPr sz="1650">
                <a:solidFill>
                  <a:srgbClr val="647067"/>
                </a:solidFill>
              </a:defRPr>
            </a:pPr>
            <a:r>
              <a:rPr sz="1650">
                <a:solidFill>
                  <a:srgbClr val="647067"/>
                </a:solidFill>
              </a:rPr>
              <a:t>Homepage, featured products, new arrivals</a:t>
            </a:r>
          </a:p>
          <a:p>
            <a:pPr>
              <a:lnSpc>
                <a:spcPct val="120000"/>
              </a:lnSpc>
              <a:buNone/>
              <a:defRPr sz="1650">
                <a:solidFill>
                  <a:srgbClr val="647067"/>
                </a:solidFill>
              </a:defRPr>
            </a:pPr>
            <a:r>
              <a:rPr sz="1650">
                <a:solidFill>
                  <a:srgbClr val="647067"/>
                </a:solidFill>
              </a:rPr>
              <a:t>Shop, search, filter, category, brand</a:t>
            </a:r>
          </a:p>
          <a:p>
            <a:pPr>
              <a:lnSpc>
                <a:spcPct val="120000"/>
              </a:lnSpc>
              <a:buNone/>
              <a:defRPr sz="1650">
                <a:solidFill>
                  <a:srgbClr val="647067"/>
                </a:solidFill>
              </a:defRPr>
            </a:pPr>
            <a:r>
              <a:rPr sz="1650">
                <a:solidFill>
                  <a:srgbClr val="647067"/>
                </a:solidFill>
              </a:rPr>
              <a:t>Product detail, gallery, variant, review</a:t>
            </a:r>
          </a:p>
          <a:p>
            <a:pPr>
              <a:lnSpc>
                <a:spcPct val="120000"/>
              </a:lnSpc>
              <a:buNone/>
              <a:defRPr sz="1650">
                <a:solidFill>
                  <a:srgbClr val="647067"/>
                </a:solidFill>
              </a:defRPr>
            </a:pPr>
            <a:r>
              <a:rPr sz="1650">
                <a:solidFill>
                  <a:srgbClr val="647067"/>
                </a:solidFill>
              </a:rPr>
              <a:t>Cart, checkout, coupon, payment</a:t>
            </a:r>
          </a:p>
          <a:p>
            <a:pPr>
              <a:lnSpc>
                <a:spcPct val="120000"/>
              </a:lnSpc>
              <a:buNone/>
              <a:defRPr sz="1650">
                <a:solidFill>
                  <a:srgbClr val="647067"/>
                </a:solidFill>
              </a:defRPr>
            </a:pPr>
            <a:r>
              <a:rPr sz="1650">
                <a:solidFill>
                  <a:srgbClr val="647067"/>
                </a:solidFill>
              </a:rPr>
              <a:t>Account, address, wishlist, order history</a:t>
            </a:r>
          </a:p>
          <a:p>
            <a:pPr>
              <a:lnSpc>
                <a:spcPct val="120000"/>
              </a:lnSpc>
              <a:buNone/>
              <a:defRPr sz="1650">
                <a:solidFill>
                  <a:srgbClr val="647067"/>
                </a:solidFill>
              </a:defRPr>
            </a:pPr>
            <a:r>
              <a:rPr sz="1650">
                <a:solidFill>
                  <a:srgbClr val="647067"/>
                </a:solidFill>
              </a:rPr>
              <a:t>Blog, contact, FAQ, policy pages</a:t>
            </a:r>
          </a:p>
        </p:txBody>
      </p:sp>
      <p:sp>
        <p:nvSpPr>
          <p:cNvPr id="13" name="Hình chữ nhật: Góc Tròn 12">
            <a:extLst>
              <a:ext uri="{FF2B5EF4-FFF2-40B4-BE49-F238E27FC236}">
                <a16:creationId xmlns:a16="http://schemas.microsoft.com/office/drawing/2014/main" id="{C13D64BD-0DDD-4EF1-B794-53304A021439}"/>
              </a:ext>
            </a:extLst>
          </p:cNvPr>
          <p:cNvSpPr>
            <a:spLocks noGrp="1"/>
          </p:cNvSpPr>
          <p:nvPr/>
        </p:nvSpPr>
        <p:spPr>
          <a:xfrm>
            <a:off x="9324975" y="1933194"/>
            <a:ext cx="8143875" cy="2653475"/>
          </a:xfrm>
          <a:prstGeom prst="roundRect">
            <a:avLst>
              <a:gd name="adj" fmla="val 2872"/>
            </a:avLst>
          </a:prstGeom>
          <a:solidFill>
            <a:srgbClr val="FEFCF8"/>
          </a:solidFill>
          <a:ln w="9525">
            <a:solidFill>
              <a:srgbClr val="E8DDCF"/>
            </a:solidFill>
            <a:prstDash val="solid"/>
          </a:ln>
        </p:spPr>
      </p:sp>
      <p:sp>
        <p:nvSpPr>
          <p:cNvPr id="14" name="Hình chữ nhật: Góc Tròn 13">
            <a:extLst>
              <a:ext uri="{FF2B5EF4-FFF2-40B4-BE49-F238E27FC236}">
                <a16:creationId xmlns:a16="http://schemas.microsoft.com/office/drawing/2014/main" id="{B5AF5D12-E3CC-4F39-AEE4-718307EBC7FA}"/>
              </a:ext>
            </a:extLst>
          </p:cNvPr>
          <p:cNvSpPr>
            <a:spLocks noGrp="1"/>
          </p:cNvSpPr>
          <p:nvPr/>
        </p:nvSpPr>
        <p:spPr>
          <a:xfrm>
            <a:off x="9525000" y="2171700"/>
            <a:ext cx="104775" cy="323850"/>
          </a:xfrm>
          <a:prstGeom prst="roundRect">
            <a:avLst>
              <a:gd name="adj" fmla="val 50000"/>
            </a:avLst>
          </a:prstGeom>
          <a:solidFill>
            <a:srgbClr val="7E3D4A"/>
          </a:solidFill>
        </p:spPr>
      </p:sp>
      <p:sp>
        <p:nvSpPr>
          <p:cNvPr id="15" name="Hình chữ nhật 14">
            <a:extLst>
              <a:ext uri="{FF2B5EF4-FFF2-40B4-BE49-F238E27FC236}">
                <a16:creationId xmlns:a16="http://schemas.microsoft.com/office/drawing/2014/main" id="{4C33488A-FAD9-4EF9-80F0-60A46F6F97F7}"/>
              </a:ext>
            </a:extLst>
          </p:cNvPr>
          <p:cNvSpPr>
            <a:spLocks noGrp="1"/>
          </p:cNvSpPr>
          <p:nvPr/>
        </p:nvSpPr>
        <p:spPr>
          <a:xfrm>
            <a:off x="9734550" y="2095500"/>
            <a:ext cx="7524750" cy="419100"/>
          </a:xfrm>
          <a:prstGeom prst="rect">
            <a:avLst/>
          </a:prstGeom>
        </p:spPr>
        <p:txBody>
          <a:bodyPr lIns="0" tIns="0" rIns="0" bIns="0"/>
          <a:lstStyle/>
          <a:p>
            <a:pPr>
              <a:lnSpc>
                <a:spcPct val="125000"/>
              </a:lnSpc>
              <a:buNone/>
              <a:defRPr sz="2175" b="1">
                <a:solidFill>
                  <a:srgbClr val="151515"/>
                </a:solidFill>
              </a:defRPr>
            </a:pPr>
            <a:r>
              <a:rPr sz="2175" b="1">
                <a:solidFill>
                  <a:srgbClr val="151515"/>
                </a:solidFill>
              </a:rPr>
              <a:t>Admin pages</a:t>
            </a:r>
          </a:p>
        </p:txBody>
      </p:sp>
      <p:sp>
        <p:nvSpPr>
          <p:cNvPr id="16" name="Hình chữ nhật 15">
            <a:extLst>
              <a:ext uri="{FF2B5EF4-FFF2-40B4-BE49-F238E27FC236}">
                <a16:creationId xmlns:a16="http://schemas.microsoft.com/office/drawing/2014/main" id="{45198936-1383-4ADD-AAD7-C0E50D7481F0}"/>
              </a:ext>
            </a:extLst>
          </p:cNvPr>
          <p:cNvSpPr>
            <a:spLocks noGrp="1"/>
          </p:cNvSpPr>
          <p:nvPr/>
        </p:nvSpPr>
        <p:spPr>
          <a:xfrm>
            <a:off x="9544050" y="2609850"/>
            <a:ext cx="7734300" cy="1828800"/>
          </a:xfrm>
          <a:prstGeom prst="rect">
            <a:avLst/>
          </a:prstGeom>
        </p:spPr>
        <p:txBody>
          <a:bodyPr lIns="0" tIns="0" rIns="0" bIns="0"/>
          <a:lstStyle/>
          <a:p>
            <a:pPr>
              <a:lnSpc>
                <a:spcPct val="120000"/>
              </a:lnSpc>
              <a:buNone/>
              <a:defRPr sz="1650">
                <a:solidFill>
                  <a:srgbClr val="647067"/>
                </a:solidFill>
              </a:defRPr>
            </a:pPr>
            <a:r>
              <a:rPr sz="1650">
                <a:solidFill>
                  <a:srgbClr val="647067"/>
                </a:solidFill>
              </a:rPr>
              <a:t>Dashboard thống kê</a:t>
            </a:r>
          </a:p>
          <a:p>
            <a:pPr>
              <a:lnSpc>
                <a:spcPct val="120000"/>
              </a:lnSpc>
              <a:buNone/>
              <a:defRPr sz="1650">
                <a:solidFill>
                  <a:srgbClr val="647067"/>
                </a:solidFill>
              </a:defRPr>
            </a:pPr>
            <a:r>
              <a:rPr sz="1650">
                <a:solidFill>
                  <a:srgbClr val="647067"/>
                </a:solidFill>
              </a:rPr>
              <a:t>Products CRUD và variants</a:t>
            </a:r>
          </a:p>
          <a:p>
            <a:pPr>
              <a:lnSpc>
                <a:spcPct val="120000"/>
              </a:lnSpc>
              <a:buNone/>
              <a:defRPr sz="1650">
                <a:solidFill>
                  <a:srgbClr val="647067"/>
                </a:solidFill>
              </a:defRPr>
            </a:pPr>
            <a:r>
              <a:rPr sz="1650">
                <a:solidFill>
                  <a:srgbClr val="647067"/>
                </a:solidFill>
              </a:rPr>
              <a:t>Orders detail, print, status</a:t>
            </a:r>
          </a:p>
          <a:p>
            <a:pPr>
              <a:lnSpc>
                <a:spcPct val="120000"/>
              </a:lnSpc>
              <a:buNone/>
              <a:defRPr sz="1650">
                <a:solidFill>
                  <a:srgbClr val="647067"/>
                </a:solidFill>
              </a:defRPr>
            </a:pPr>
            <a:r>
              <a:rPr sz="1650">
                <a:solidFill>
                  <a:srgbClr val="647067"/>
                </a:solidFill>
              </a:rPr>
              <a:t>Users, coupons, reviews</a:t>
            </a:r>
          </a:p>
          <a:p>
            <a:pPr>
              <a:lnSpc>
                <a:spcPct val="120000"/>
              </a:lnSpc>
              <a:buNone/>
              <a:defRPr sz="1650">
                <a:solidFill>
                  <a:srgbClr val="647067"/>
                </a:solidFill>
              </a:defRPr>
            </a:pPr>
            <a:r>
              <a:rPr sz="1650">
                <a:solidFill>
                  <a:srgbClr val="647067"/>
                </a:solidFill>
              </a:rPr>
              <a:t>Banners, blogs, popups, page content</a:t>
            </a:r>
          </a:p>
          <a:p>
            <a:pPr>
              <a:lnSpc>
                <a:spcPct val="120000"/>
              </a:lnSpc>
              <a:buNone/>
              <a:defRPr sz="1650">
                <a:solidFill>
                  <a:srgbClr val="647067"/>
                </a:solidFill>
              </a:defRPr>
            </a:pPr>
            <a:r>
              <a:rPr sz="1650">
                <a:solidFill>
                  <a:srgbClr val="647067"/>
                </a:solidFill>
              </a:rPr>
              <a:t>AI config, chat, notification, settings</a:t>
            </a:r>
          </a:p>
        </p:txBody>
      </p:sp>
    </p:spTree>
    <p:extLst>
      <p:ext uri="{BB962C8B-B14F-4D97-AF65-F5344CB8AC3E}">
        <p14:creationId xmlns:p14="http://schemas.microsoft.com/office/powerpoint/2010/main" val="8996601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background">
            <a:extLst>
              <a:ext uri="{FF2B5EF4-FFF2-40B4-BE49-F238E27FC236}">
                <a16:creationId xmlns:a16="http://schemas.microsoft.com/office/drawing/2014/main" id="{0DF39A78-271D-4631-B635-D8B4D3F14228}"/>
              </a:ext>
            </a:extLst>
          </p:cNvPr>
          <p:cNvSpPr>
            <a:spLocks noGrp="1"/>
          </p:cNvSpPr>
          <p:nvPr/>
        </p:nvSpPr>
        <p:spPr>
          <a:xfrm>
            <a:off x="0" y="0"/>
            <a:ext cx="18288000" cy="10287000"/>
          </a:xfrm>
          <a:prstGeom prst="rect">
            <a:avLst/>
          </a:prstGeom>
          <a:solidFill>
            <a:srgbClr val="FFFDF8"/>
          </a:solidFill>
        </p:spPr>
      </p:sp>
      <p:sp>
        <p:nvSpPr>
          <p:cNvPr id="2" name="top-band">
            <a:extLst>
              <a:ext uri="{FF2B5EF4-FFF2-40B4-BE49-F238E27FC236}">
                <a16:creationId xmlns:a16="http://schemas.microsoft.com/office/drawing/2014/main" id="{1A54DA12-9CC6-4287-84A9-2ABE57CFFB8D}"/>
              </a:ext>
            </a:extLst>
          </p:cNvPr>
          <p:cNvSpPr>
            <a:spLocks noGrp="1"/>
          </p:cNvSpPr>
          <p:nvPr/>
        </p:nvSpPr>
        <p:spPr>
          <a:xfrm>
            <a:off x="0" y="0"/>
            <a:ext cx="18288000" cy="152400"/>
          </a:xfrm>
          <a:prstGeom prst="rect">
            <a:avLst/>
          </a:prstGeom>
          <a:solidFill>
            <a:srgbClr val="D9B760"/>
          </a:solidFill>
        </p:spPr>
      </p:sp>
      <p:sp>
        <p:nvSpPr>
          <p:cNvPr id="3" name="bottom-band">
            <a:extLst>
              <a:ext uri="{FF2B5EF4-FFF2-40B4-BE49-F238E27FC236}">
                <a16:creationId xmlns:a16="http://schemas.microsoft.com/office/drawing/2014/main" id="{03A5B83C-FC28-4947-9BFB-2B0A5B040890}"/>
              </a:ext>
            </a:extLst>
          </p:cNvPr>
          <p:cNvSpPr>
            <a:spLocks noGrp="1"/>
          </p:cNvSpPr>
          <p:nvPr/>
        </p:nvSpPr>
        <p:spPr>
          <a:xfrm>
            <a:off x="0" y="0"/>
            <a:ext cx="18288000" cy="76200"/>
          </a:xfrm>
          <a:prstGeom prst="rect">
            <a:avLst/>
          </a:prstGeom>
          <a:solidFill>
            <a:srgbClr val="D9B760"/>
          </a:solidFill>
        </p:spPr>
      </p:sp>
      <p:sp>
        <p:nvSpPr>
          <p:cNvPr id="4" name="Hình chữ nhật: Góc Tròn 3">
            <a:extLst>
              <a:ext uri="{FF2B5EF4-FFF2-40B4-BE49-F238E27FC236}">
                <a16:creationId xmlns:a16="http://schemas.microsoft.com/office/drawing/2014/main" id="{9B5983BC-0149-41E4-A426-7FC1A2E9B5FD}"/>
              </a:ext>
            </a:extLst>
          </p:cNvPr>
          <p:cNvSpPr>
            <a:spLocks noGrp="1"/>
          </p:cNvSpPr>
          <p:nvPr/>
        </p:nvSpPr>
        <p:spPr>
          <a:xfrm>
            <a:off x="838200" y="647700"/>
            <a:ext cx="400050" cy="95250"/>
          </a:xfrm>
          <a:prstGeom prst="roundRect">
            <a:avLst>
              <a:gd name="adj" fmla="val 50000"/>
            </a:avLst>
          </a:prstGeom>
          <a:solidFill>
            <a:srgbClr val="D9B760"/>
          </a:solidFill>
        </p:spPr>
      </p:sp>
      <p:sp>
        <p:nvSpPr>
          <p:cNvPr id="5" name="Hình chữ nhật 4">
            <a:extLst>
              <a:ext uri="{FF2B5EF4-FFF2-40B4-BE49-F238E27FC236}">
                <a16:creationId xmlns:a16="http://schemas.microsoft.com/office/drawing/2014/main" id="{DCBA89F0-4C6F-43F3-9D52-E80DCCF696B7}"/>
              </a:ext>
            </a:extLst>
          </p:cNvPr>
          <p:cNvSpPr>
            <a:spLocks noGrp="1"/>
          </p:cNvSpPr>
          <p:nvPr/>
        </p:nvSpPr>
        <p:spPr>
          <a:xfrm>
            <a:off x="1371600" y="571500"/>
            <a:ext cx="15544800" cy="228600"/>
          </a:xfrm>
          <a:prstGeom prst="rect">
            <a:avLst/>
          </a:prstGeom>
        </p:spPr>
        <p:txBody>
          <a:bodyPr lIns="0" tIns="0" rIns="0" bIns="0"/>
          <a:lstStyle/>
          <a:p>
            <a:pPr>
              <a:lnSpc>
                <a:spcPct val="125000"/>
              </a:lnSpc>
              <a:buNone/>
              <a:defRPr sz="1200" b="1">
                <a:solidFill>
                  <a:srgbClr val="7E3D4A"/>
                </a:solidFill>
              </a:defRPr>
            </a:pPr>
            <a:r>
              <a:rPr sz="1200" b="1">
                <a:solidFill>
                  <a:srgbClr val="7E3D4A"/>
                </a:solidFill>
              </a:rPr>
              <a:t>FRONTEND</a:t>
            </a:r>
          </a:p>
        </p:txBody>
      </p:sp>
      <p:sp>
        <p:nvSpPr>
          <p:cNvPr id="6" name="Hình chữ nhật 5">
            <a:extLst>
              <a:ext uri="{FF2B5EF4-FFF2-40B4-BE49-F238E27FC236}">
                <a16:creationId xmlns:a16="http://schemas.microsoft.com/office/drawing/2014/main" id="{2A70BF7D-30C4-4BBD-A658-9BABBDB00807}"/>
              </a:ext>
            </a:extLst>
          </p:cNvPr>
          <p:cNvSpPr>
            <a:spLocks noGrp="1"/>
          </p:cNvSpPr>
          <p:nvPr/>
        </p:nvSpPr>
        <p:spPr>
          <a:xfrm>
            <a:off x="17068800" y="571500"/>
            <a:ext cx="400050" cy="228600"/>
          </a:xfrm>
          <a:prstGeom prst="rect">
            <a:avLst/>
          </a:prstGeom>
        </p:spPr>
        <p:txBody>
          <a:bodyPr lIns="0" tIns="0" rIns="0" bIns="0"/>
          <a:lstStyle/>
          <a:p>
            <a:pPr>
              <a:lnSpc>
                <a:spcPct val="120000"/>
              </a:lnSpc>
              <a:buNone/>
              <a:defRPr sz="1275" b="1">
                <a:solidFill>
                  <a:srgbClr val="7E3D4A"/>
                </a:solidFill>
              </a:defRPr>
            </a:pPr>
            <a:r>
              <a:rPr sz="1275" b="1">
                <a:solidFill>
                  <a:srgbClr val="7E3D4A"/>
                </a:solidFill>
              </a:rPr>
              <a:t>12/30</a:t>
            </a:r>
          </a:p>
        </p:txBody>
      </p:sp>
      <p:sp>
        <p:nvSpPr>
          <p:cNvPr id="7" name="slide-title">
            <a:extLst>
              <a:ext uri="{FF2B5EF4-FFF2-40B4-BE49-F238E27FC236}">
                <a16:creationId xmlns:a16="http://schemas.microsoft.com/office/drawing/2014/main" id="{20BD53F5-7893-428D-913C-A495FDCC0467}"/>
              </a:ext>
            </a:extLst>
          </p:cNvPr>
          <p:cNvSpPr>
            <a:spLocks noGrp="1"/>
          </p:cNvSpPr>
          <p:nvPr/>
        </p:nvSpPr>
        <p:spPr>
          <a:xfrm>
            <a:off x="819150" y="933450"/>
            <a:ext cx="16649700" cy="590550"/>
          </a:xfrm>
          <a:prstGeom prst="rect">
            <a:avLst/>
          </a:prstGeom>
        </p:spPr>
        <p:txBody>
          <a:bodyPr lIns="0" tIns="0" rIns="0" bIns="0"/>
          <a:lstStyle/>
          <a:p>
            <a:pPr>
              <a:lnSpc>
                <a:spcPct val="105000"/>
              </a:lnSpc>
              <a:buNone/>
              <a:defRPr sz="3600" b="1">
                <a:solidFill>
                  <a:srgbClr val="151515"/>
                </a:solidFill>
              </a:defRPr>
            </a:pPr>
            <a:r>
              <a:rPr sz="3600" b="1">
                <a:solidFill>
                  <a:srgbClr val="151515"/>
                </a:solidFill>
              </a:rPr>
              <a:t>Kiến trúc client Nuxt 3</a:t>
            </a:r>
          </a:p>
        </p:txBody>
      </p:sp>
      <p:sp>
        <p:nvSpPr>
          <p:cNvPr id="8" name="title-rule">
            <a:extLst>
              <a:ext uri="{FF2B5EF4-FFF2-40B4-BE49-F238E27FC236}">
                <a16:creationId xmlns:a16="http://schemas.microsoft.com/office/drawing/2014/main" id="{564A5A87-8DB8-4574-9B7B-8F7D56BDF1F6}"/>
              </a:ext>
            </a:extLst>
          </p:cNvPr>
          <p:cNvSpPr>
            <a:spLocks noGrp="1"/>
          </p:cNvSpPr>
          <p:nvPr/>
        </p:nvSpPr>
        <p:spPr>
          <a:xfrm>
            <a:off x="819150" y="1619250"/>
            <a:ext cx="1905000" cy="38100"/>
          </a:xfrm>
          <a:prstGeom prst="rect">
            <a:avLst/>
          </a:prstGeom>
          <a:solidFill>
            <a:srgbClr val="D9B760"/>
          </a:solidFill>
          <a:ln w="0">
            <a:solidFill>
              <a:srgbClr val="D9B760"/>
            </a:solidFill>
            <a:prstDash val="solid"/>
          </a:ln>
        </p:spPr>
      </p:sp>
      <p:sp>
        <p:nvSpPr>
          <p:cNvPr id="9" name="Hình chữ nhật: Góc Tròn 8">
            <a:extLst>
              <a:ext uri="{FF2B5EF4-FFF2-40B4-BE49-F238E27FC236}">
                <a16:creationId xmlns:a16="http://schemas.microsoft.com/office/drawing/2014/main" id="{8704DF19-3083-4856-90B7-4B1A57782CA2}"/>
              </a:ext>
            </a:extLst>
          </p:cNvPr>
          <p:cNvSpPr>
            <a:spLocks noGrp="1"/>
          </p:cNvSpPr>
          <p:nvPr/>
        </p:nvSpPr>
        <p:spPr>
          <a:xfrm>
            <a:off x="3524250" y="4419600"/>
            <a:ext cx="2190750" cy="1047750"/>
          </a:xfrm>
          <a:prstGeom prst="roundRect">
            <a:avLst>
              <a:gd name="adj" fmla="val 7273"/>
            </a:avLst>
          </a:prstGeom>
          <a:solidFill>
            <a:srgbClr val="FFFFFF"/>
          </a:solidFill>
          <a:ln w="9525">
            <a:solidFill>
              <a:srgbClr val="D9B760"/>
            </a:solidFill>
            <a:prstDash val="solid"/>
          </a:ln>
        </p:spPr>
      </p:sp>
      <p:sp>
        <p:nvSpPr>
          <p:cNvPr id="10" name="Hình chữ nhật 9">
            <a:extLst>
              <a:ext uri="{FF2B5EF4-FFF2-40B4-BE49-F238E27FC236}">
                <a16:creationId xmlns:a16="http://schemas.microsoft.com/office/drawing/2014/main" id="{FA9B75AA-5DDF-4A23-A130-6D1C595C8329}"/>
              </a:ext>
            </a:extLst>
          </p:cNvPr>
          <p:cNvSpPr>
            <a:spLocks noGrp="1"/>
          </p:cNvSpPr>
          <p:nvPr/>
        </p:nvSpPr>
        <p:spPr>
          <a:xfrm>
            <a:off x="3695700" y="4667250"/>
            <a:ext cx="184785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Nuxt pages</a:t>
            </a:r>
          </a:p>
        </p:txBody>
      </p:sp>
      <p:sp>
        <p:nvSpPr>
          <p:cNvPr id="11" name="Hình chữ nhật 10">
            <a:extLst>
              <a:ext uri="{FF2B5EF4-FFF2-40B4-BE49-F238E27FC236}">
                <a16:creationId xmlns:a16="http://schemas.microsoft.com/office/drawing/2014/main" id="{A27E61F3-A628-4656-A2A5-BEEB8B3F71F1}"/>
              </a:ext>
            </a:extLst>
          </p:cNvPr>
          <p:cNvSpPr>
            <a:spLocks noGrp="1"/>
          </p:cNvSpPr>
          <p:nvPr/>
        </p:nvSpPr>
        <p:spPr>
          <a:xfrm>
            <a:off x="3695700" y="5029200"/>
            <a:ext cx="1847850" cy="2095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file-based routing</a:t>
            </a:r>
          </a:p>
        </p:txBody>
      </p:sp>
      <p:sp>
        <p:nvSpPr>
          <p:cNvPr id="12" name="Hình chữ nhật 11">
            <a:extLst>
              <a:ext uri="{FF2B5EF4-FFF2-40B4-BE49-F238E27FC236}">
                <a16:creationId xmlns:a16="http://schemas.microsoft.com/office/drawing/2014/main" id="{34BCAD64-313D-46C6-93DC-6C504F10ADE9}"/>
              </a:ext>
            </a:extLst>
          </p:cNvPr>
          <p:cNvSpPr>
            <a:spLocks noGrp="1"/>
          </p:cNvSpPr>
          <p:nvPr/>
        </p:nvSpPr>
        <p:spPr>
          <a:xfrm>
            <a:off x="5848350" y="4686300"/>
            <a:ext cx="400050" cy="495300"/>
          </a:xfrm>
          <a:prstGeom prst="rect">
            <a:avLst/>
          </a:prstGeom>
        </p:spPr>
        <p:txBody>
          <a:bodyPr lIns="0" tIns="0" rIns="0" bIns="0"/>
          <a:lstStyle/>
          <a:p>
            <a:pPr algn="ctr">
              <a:lnSpc>
                <a:spcPct val="125000"/>
              </a:lnSpc>
              <a:buNone/>
              <a:defRPr sz="2625" b="1">
                <a:solidFill>
                  <a:srgbClr val="D9B760"/>
                </a:solidFill>
              </a:defRPr>
            </a:pPr>
            <a:r>
              <a:rPr sz="2625" b="1">
                <a:solidFill>
                  <a:srgbClr val="D9B760"/>
                </a:solidFill>
              </a:rPr>
              <a:t>→</a:t>
            </a:r>
          </a:p>
        </p:txBody>
      </p:sp>
      <p:sp>
        <p:nvSpPr>
          <p:cNvPr id="13" name="Hình chữ nhật: Góc Tròn 12">
            <a:extLst>
              <a:ext uri="{FF2B5EF4-FFF2-40B4-BE49-F238E27FC236}">
                <a16:creationId xmlns:a16="http://schemas.microsoft.com/office/drawing/2014/main" id="{E1C66A0F-6091-4A7B-9A3D-B1EE8F65CE6F}"/>
              </a:ext>
            </a:extLst>
          </p:cNvPr>
          <p:cNvSpPr>
            <a:spLocks noGrp="1"/>
          </p:cNvSpPr>
          <p:nvPr/>
        </p:nvSpPr>
        <p:spPr>
          <a:xfrm>
            <a:off x="6381750" y="4419600"/>
            <a:ext cx="2381250" cy="1047750"/>
          </a:xfrm>
          <a:prstGeom prst="roundRect">
            <a:avLst>
              <a:gd name="adj" fmla="val 7273"/>
            </a:avLst>
          </a:prstGeom>
          <a:solidFill>
            <a:srgbClr val="FFFFFF"/>
          </a:solidFill>
          <a:ln w="9525">
            <a:solidFill>
              <a:srgbClr val="77B8A4"/>
            </a:solidFill>
            <a:prstDash val="solid"/>
          </a:ln>
        </p:spPr>
      </p:sp>
      <p:sp>
        <p:nvSpPr>
          <p:cNvPr id="14" name="Hình chữ nhật 13">
            <a:extLst>
              <a:ext uri="{FF2B5EF4-FFF2-40B4-BE49-F238E27FC236}">
                <a16:creationId xmlns:a16="http://schemas.microsoft.com/office/drawing/2014/main" id="{3AD6A959-B954-495B-9F5B-162D3AA8ED19}"/>
              </a:ext>
            </a:extLst>
          </p:cNvPr>
          <p:cNvSpPr>
            <a:spLocks noGrp="1"/>
          </p:cNvSpPr>
          <p:nvPr/>
        </p:nvSpPr>
        <p:spPr>
          <a:xfrm>
            <a:off x="6553200" y="4667250"/>
            <a:ext cx="203835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Vue components</a:t>
            </a:r>
          </a:p>
        </p:txBody>
      </p:sp>
      <p:sp>
        <p:nvSpPr>
          <p:cNvPr id="15" name="Hình chữ nhật 14">
            <a:extLst>
              <a:ext uri="{FF2B5EF4-FFF2-40B4-BE49-F238E27FC236}">
                <a16:creationId xmlns:a16="http://schemas.microsoft.com/office/drawing/2014/main" id="{70A952A3-9511-4B1F-BAAA-D52458AA4834}"/>
              </a:ext>
            </a:extLst>
          </p:cNvPr>
          <p:cNvSpPr>
            <a:spLocks noGrp="1"/>
          </p:cNvSpPr>
          <p:nvPr/>
        </p:nvSpPr>
        <p:spPr>
          <a:xfrm>
            <a:off x="6553200" y="5029200"/>
            <a:ext cx="2038350" cy="2095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UI composition</a:t>
            </a:r>
          </a:p>
        </p:txBody>
      </p:sp>
      <p:sp>
        <p:nvSpPr>
          <p:cNvPr id="16" name="Hình chữ nhật 15">
            <a:extLst>
              <a:ext uri="{FF2B5EF4-FFF2-40B4-BE49-F238E27FC236}">
                <a16:creationId xmlns:a16="http://schemas.microsoft.com/office/drawing/2014/main" id="{6E698BD8-AAD0-4D29-9B06-86C3E82BED1C}"/>
              </a:ext>
            </a:extLst>
          </p:cNvPr>
          <p:cNvSpPr>
            <a:spLocks noGrp="1"/>
          </p:cNvSpPr>
          <p:nvPr/>
        </p:nvSpPr>
        <p:spPr>
          <a:xfrm>
            <a:off x="8896350" y="4686300"/>
            <a:ext cx="400050" cy="495300"/>
          </a:xfrm>
          <a:prstGeom prst="rect">
            <a:avLst/>
          </a:prstGeom>
        </p:spPr>
        <p:txBody>
          <a:bodyPr lIns="0" tIns="0" rIns="0" bIns="0"/>
          <a:lstStyle/>
          <a:p>
            <a:pPr algn="ctr">
              <a:lnSpc>
                <a:spcPct val="125000"/>
              </a:lnSpc>
              <a:buNone/>
              <a:defRPr sz="2625" b="1">
                <a:solidFill>
                  <a:srgbClr val="D9B760"/>
                </a:solidFill>
              </a:defRPr>
            </a:pPr>
            <a:r>
              <a:rPr sz="2625" b="1">
                <a:solidFill>
                  <a:srgbClr val="D9B760"/>
                </a:solidFill>
              </a:rPr>
              <a:t>→</a:t>
            </a:r>
          </a:p>
        </p:txBody>
      </p:sp>
      <p:sp>
        <p:nvSpPr>
          <p:cNvPr id="17" name="Hình chữ nhật: Góc Tròn 16">
            <a:extLst>
              <a:ext uri="{FF2B5EF4-FFF2-40B4-BE49-F238E27FC236}">
                <a16:creationId xmlns:a16="http://schemas.microsoft.com/office/drawing/2014/main" id="{2F84B0C6-A957-460E-ADED-0FE5924F0319}"/>
              </a:ext>
            </a:extLst>
          </p:cNvPr>
          <p:cNvSpPr>
            <a:spLocks noGrp="1"/>
          </p:cNvSpPr>
          <p:nvPr/>
        </p:nvSpPr>
        <p:spPr>
          <a:xfrm>
            <a:off x="9429750" y="4419600"/>
            <a:ext cx="2190750" cy="1047750"/>
          </a:xfrm>
          <a:prstGeom prst="roundRect">
            <a:avLst>
              <a:gd name="adj" fmla="val 7273"/>
            </a:avLst>
          </a:prstGeom>
          <a:solidFill>
            <a:srgbClr val="FFFFFF"/>
          </a:solidFill>
          <a:ln w="9525">
            <a:solidFill>
              <a:srgbClr val="87B8D6"/>
            </a:solidFill>
            <a:prstDash val="solid"/>
          </a:ln>
        </p:spPr>
      </p:sp>
      <p:sp>
        <p:nvSpPr>
          <p:cNvPr id="18" name="Hình chữ nhật 17">
            <a:extLst>
              <a:ext uri="{FF2B5EF4-FFF2-40B4-BE49-F238E27FC236}">
                <a16:creationId xmlns:a16="http://schemas.microsoft.com/office/drawing/2014/main" id="{CC6EA093-87E2-4C2E-8A72-7605A96A5C92}"/>
              </a:ext>
            </a:extLst>
          </p:cNvPr>
          <p:cNvSpPr>
            <a:spLocks noGrp="1"/>
          </p:cNvSpPr>
          <p:nvPr/>
        </p:nvSpPr>
        <p:spPr>
          <a:xfrm>
            <a:off x="9601200" y="4667250"/>
            <a:ext cx="184785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Composables</a:t>
            </a:r>
          </a:p>
        </p:txBody>
      </p:sp>
      <p:sp>
        <p:nvSpPr>
          <p:cNvPr id="19" name="Hình chữ nhật 18">
            <a:extLst>
              <a:ext uri="{FF2B5EF4-FFF2-40B4-BE49-F238E27FC236}">
                <a16:creationId xmlns:a16="http://schemas.microsoft.com/office/drawing/2014/main" id="{7B324EE6-5949-4D60-AD63-2BDF3EBA6E95}"/>
              </a:ext>
            </a:extLst>
          </p:cNvPr>
          <p:cNvSpPr>
            <a:spLocks noGrp="1"/>
          </p:cNvSpPr>
          <p:nvPr/>
        </p:nvSpPr>
        <p:spPr>
          <a:xfrm>
            <a:off x="9601200" y="5029200"/>
            <a:ext cx="1847850" cy="2095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reusable logic</a:t>
            </a:r>
          </a:p>
        </p:txBody>
      </p:sp>
      <p:sp>
        <p:nvSpPr>
          <p:cNvPr id="20" name="Hình chữ nhật 19">
            <a:extLst>
              <a:ext uri="{FF2B5EF4-FFF2-40B4-BE49-F238E27FC236}">
                <a16:creationId xmlns:a16="http://schemas.microsoft.com/office/drawing/2014/main" id="{2BD4D48E-B5B3-4140-AC03-BABFE0805E02}"/>
              </a:ext>
            </a:extLst>
          </p:cNvPr>
          <p:cNvSpPr>
            <a:spLocks noGrp="1"/>
          </p:cNvSpPr>
          <p:nvPr/>
        </p:nvSpPr>
        <p:spPr>
          <a:xfrm>
            <a:off x="11753850" y="4686300"/>
            <a:ext cx="400050" cy="495300"/>
          </a:xfrm>
          <a:prstGeom prst="rect">
            <a:avLst/>
          </a:prstGeom>
        </p:spPr>
        <p:txBody>
          <a:bodyPr lIns="0" tIns="0" rIns="0" bIns="0"/>
          <a:lstStyle/>
          <a:p>
            <a:pPr algn="ctr">
              <a:lnSpc>
                <a:spcPct val="125000"/>
              </a:lnSpc>
              <a:buNone/>
              <a:defRPr sz="2625" b="1">
                <a:solidFill>
                  <a:srgbClr val="D9B760"/>
                </a:solidFill>
              </a:defRPr>
            </a:pPr>
            <a:r>
              <a:rPr sz="2625" b="1">
                <a:solidFill>
                  <a:srgbClr val="D9B760"/>
                </a:solidFill>
              </a:rPr>
              <a:t>→</a:t>
            </a:r>
          </a:p>
        </p:txBody>
      </p:sp>
      <p:sp>
        <p:nvSpPr>
          <p:cNvPr id="21" name="Hình chữ nhật: Góc Tròn 20">
            <a:extLst>
              <a:ext uri="{FF2B5EF4-FFF2-40B4-BE49-F238E27FC236}">
                <a16:creationId xmlns:a16="http://schemas.microsoft.com/office/drawing/2014/main" id="{975D1947-18D7-45A0-976F-84E2BF8F20BC}"/>
              </a:ext>
            </a:extLst>
          </p:cNvPr>
          <p:cNvSpPr>
            <a:spLocks noGrp="1"/>
          </p:cNvSpPr>
          <p:nvPr/>
        </p:nvSpPr>
        <p:spPr>
          <a:xfrm>
            <a:off x="12287250" y="4419600"/>
            <a:ext cx="2476500" cy="1047750"/>
          </a:xfrm>
          <a:prstGeom prst="roundRect">
            <a:avLst>
              <a:gd name="adj" fmla="val 7273"/>
            </a:avLst>
          </a:prstGeom>
          <a:solidFill>
            <a:srgbClr val="FFFFFF"/>
          </a:solidFill>
          <a:ln w="9525">
            <a:solidFill>
              <a:srgbClr val="7E3D4A"/>
            </a:solidFill>
            <a:prstDash val="solid"/>
          </a:ln>
        </p:spPr>
      </p:sp>
      <p:sp>
        <p:nvSpPr>
          <p:cNvPr id="22" name="Hình chữ nhật 21">
            <a:extLst>
              <a:ext uri="{FF2B5EF4-FFF2-40B4-BE49-F238E27FC236}">
                <a16:creationId xmlns:a16="http://schemas.microsoft.com/office/drawing/2014/main" id="{575C030D-E9DD-4B83-936E-108F0C543AF0}"/>
              </a:ext>
            </a:extLst>
          </p:cNvPr>
          <p:cNvSpPr>
            <a:spLocks noGrp="1"/>
          </p:cNvSpPr>
          <p:nvPr/>
        </p:nvSpPr>
        <p:spPr>
          <a:xfrm>
            <a:off x="12458700" y="4667250"/>
            <a:ext cx="213360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API services</a:t>
            </a:r>
          </a:p>
        </p:txBody>
      </p:sp>
      <p:sp>
        <p:nvSpPr>
          <p:cNvPr id="23" name="Hình chữ nhật 22">
            <a:extLst>
              <a:ext uri="{FF2B5EF4-FFF2-40B4-BE49-F238E27FC236}">
                <a16:creationId xmlns:a16="http://schemas.microsoft.com/office/drawing/2014/main" id="{9F56338E-957F-40D8-9C4D-3B28A5D7AD36}"/>
              </a:ext>
            </a:extLst>
          </p:cNvPr>
          <p:cNvSpPr>
            <a:spLocks noGrp="1"/>
          </p:cNvSpPr>
          <p:nvPr/>
        </p:nvSpPr>
        <p:spPr>
          <a:xfrm>
            <a:off x="12458700" y="5029200"/>
            <a:ext cx="2133600" cy="2095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useApi / service layer</a:t>
            </a:r>
          </a:p>
        </p:txBody>
      </p:sp>
      <p:sp>
        <p:nvSpPr>
          <p:cNvPr id="24" name="Hình chữ nhật: Góc Tròn 23">
            <a:extLst>
              <a:ext uri="{FF2B5EF4-FFF2-40B4-BE49-F238E27FC236}">
                <a16:creationId xmlns:a16="http://schemas.microsoft.com/office/drawing/2014/main" id="{DCC06CF9-EB71-41AD-87F1-62EB9CC1E1EC}"/>
              </a:ext>
            </a:extLst>
          </p:cNvPr>
          <p:cNvSpPr>
            <a:spLocks noGrp="1"/>
          </p:cNvSpPr>
          <p:nvPr/>
        </p:nvSpPr>
        <p:spPr>
          <a:xfrm>
            <a:off x="4695682" y="5924550"/>
            <a:ext cx="4247674" cy="457200"/>
          </a:xfrm>
          <a:prstGeom prst="roundRect">
            <a:avLst>
              <a:gd name="adj" fmla="val 50000"/>
            </a:avLst>
          </a:prstGeom>
          <a:solidFill>
            <a:srgbClr val="DDF4EB"/>
          </a:solidFill>
          <a:ln w="9525">
            <a:solidFill>
              <a:srgbClr val="77B8A4"/>
            </a:solidFill>
            <a:prstDash val="solid"/>
          </a:ln>
        </p:spPr>
      </p:sp>
      <p:sp>
        <p:nvSpPr>
          <p:cNvPr id="25" name="Hình chữ nhật 24">
            <a:extLst>
              <a:ext uri="{FF2B5EF4-FFF2-40B4-BE49-F238E27FC236}">
                <a16:creationId xmlns:a16="http://schemas.microsoft.com/office/drawing/2014/main" id="{6FEFFD50-EACD-4544-9ADA-55E06A870CA5}"/>
              </a:ext>
            </a:extLst>
          </p:cNvPr>
          <p:cNvSpPr>
            <a:spLocks noGrp="1"/>
          </p:cNvSpPr>
          <p:nvPr/>
        </p:nvSpPr>
        <p:spPr>
          <a:xfrm>
            <a:off x="4857750" y="6019800"/>
            <a:ext cx="3905250" cy="285750"/>
          </a:xfrm>
          <a:prstGeom prst="rect">
            <a:avLst/>
          </a:prstGeom>
        </p:spPr>
        <p:txBody>
          <a:bodyPr lIns="0" tIns="0" rIns="0" bIns="0"/>
          <a:lstStyle/>
          <a:p>
            <a:pPr algn="ctr">
              <a:lnSpc>
                <a:spcPct val="125000"/>
              </a:lnSpc>
              <a:buNone/>
              <a:defRPr sz="1500" b="1">
                <a:solidFill>
                  <a:srgbClr val="151515"/>
                </a:solidFill>
              </a:defRPr>
            </a:pPr>
            <a:r>
              <a:rPr sz="1500" b="1">
                <a:solidFill>
                  <a:srgbClr val="151515"/>
                </a:solidFill>
              </a:rPr>
              <a:t>Pinia stores: auth, cart, product, user, notification</a:t>
            </a:r>
          </a:p>
        </p:txBody>
      </p:sp>
      <p:sp>
        <p:nvSpPr>
          <p:cNvPr id="26" name="Hình chữ nhật: Góc Tròn 25">
            <a:extLst>
              <a:ext uri="{FF2B5EF4-FFF2-40B4-BE49-F238E27FC236}">
                <a16:creationId xmlns:a16="http://schemas.microsoft.com/office/drawing/2014/main" id="{86E44448-AB8F-44C7-B201-D576B86D84DD}"/>
              </a:ext>
            </a:extLst>
          </p:cNvPr>
          <p:cNvSpPr>
            <a:spLocks noGrp="1"/>
          </p:cNvSpPr>
          <p:nvPr/>
        </p:nvSpPr>
        <p:spPr>
          <a:xfrm>
            <a:off x="9114806" y="5772150"/>
            <a:ext cx="3022473" cy="762000"/>
          </a:xfrm>
          <a:prstGeom prst="roundRect">
            <a:avLst>
              <a:gd name="adj" fmla="val 50000"/>
            </a:avLst>
          </a:prstGeom>
          <a:solidFill>
            <a:srgbClr val="F7DDE0"/>
          </a:solidFill>
          <a:ln w="9525">
            <a:solidFill>
              <a:srgbClr val="F39A8A"/>
            </a:solidFill>
            <a:prstDash val="solid"/>
          </a:ln>
        </p:spPr>
      </p:sp>
      <p:sp>
        <p:nvSpPr>
          <p:cNvPr id="27" name="Hình chữ nhật 26">
            <a:extLst>
              <a:ext uri="{FF2B5EF4-FFF2-40B4-BE49-F238E27FC236}">
                <a16:creationId xmlns:a16="http://schemas.microsoft.com/office/drawing/2014/main" id="{8762A781-5DCB-4654-92E8-E22C50100015}"/>
              </a:ext>
            </a:extLst>
          </p:cNvPr>
          <p:cNvSpPr>
            <a:spLocks noGrp="1"/>
          </p:cNvSpPr>
          <p:nvPr/>
        </p:nvSpPr>
        <p:spPr>
          <a:xfrm>
            <a:off x="9277350" y="5867400"/>
            <a:ext cx="2686050" cy="571500"/>
          </a:xfrm>
          <a:prstGeom prst="rect">
            <a:avLst/>
          </a:prstGeom>
        </p:spPr>
        <p:txBody>
          <a:bodyPr lIns="0" tIns="0" rIns="0" bIns="0"/>
          <a:lstStyle/>
          <a:p>
            <a:pPr algn="ctr">
              <a:lnSpc>
                <a:spcPct val="125000"/>
              </a:lnSpc>
              <a:buNone/>
              <a:defRPr sz="1500" b="1">
                <a:solidFill>
                  <a:srgbClr val="151515"/>
                </a:solidFill>
              </a:defRPr>
            </a:pPr>
            <a:r>
              <a:rPr sz="1500" b="1">
                <a:solidFill>
                  <a:srgbClr val="151515"/>
                </a:solidFill>
              </a:rPr>
              <a:t>Middleware: auth / admin / guest</a:t>
            </a:r>
          </a:p>
        </p:txBody>
      </p:sp>
      <p:sp>
        <p:nvSpPr>
          <p:cNvPr id="28" name="Hình chữ nhật: Góc Tròn 27">
            <a:extLst>
              <a:ext uri="{FF2B5EF4-FFF2-40B4-BE49-F238E27FC236}">
                <a16:creationId xmlns:a16="http://schemas.microsoft.com/office/drawing/2014/main" id="{727CFA22-A614-4216-A552-F4F5E326108E}"/>
              </a:ext>
            </a:extLst>
          </p:cNvPr>
          <p:cNvSpPr>
            <a:spLocks noGrp="1"/>
          </p:cNvSpPr>
          <p:nvPr/>
        </p:nvSpPr>
        <p:spPr>
          <a:xfrm>
            <a:off x="12308729" y="5924550"/>
            <a:ext cx="1283589" cy="457200"/>
          </a:xfrm>
          <a:prstGeom prst="roundRect">
            <a:avLst>
              <a:gd name="adj" fmla="val 50000"/>
            </a:avLst>
          </a:prstGeom>
          <a:solidFill>
            <a:srgbClr val="E5F4FA"/>
          </a:solidFill>
          <a:ln w="9525">
            <a:solidFill>
              <a:srgbClr val="87B8D6"/>
            </a:solidFill>
            <a:prstDash val="solid"/>
          </a:ln>
        </p:spPr>
      </p:sp>
      <p:sp>
        <p:nvSpPr>
          <p:cNvPr id="29" name="Hình chữ nhật 28">
            <a:extLst>
              <a:ext uri="{FF2B5EF4-FFF2-40B4-BE49-F238E27FC236}">
                <a16:creationId xmlns:a16="http://schemas.microsoft.com/office/drawing/2014/main" id="{B2088E8D-A4DC-4F6A-B3B5-ED3F2A65C772}"/>
              </a:ext>
            </a:extLst>
          </p:cNvPr>
          <p:cNvSpPr>
            <a:spLocks noGrp="1"/>
          </p:cNvSpPr>
          <p:nvPr/>
        </p:nvSpPr>
        <p:spPr>
          <a:xfrm>
            <a:off x="12477750" y="6019800"/>
            <a:ext cx="933450" cy="285750"/>
          </a:xfrm>
          <a:prstGeom prst="rect">
            <a:avLst/>
          </a:prstGeom>
        </p:spPr>
        <p:txBody>
          <a:bodyPr lIns="0" tIns="0" rIns="0" bIns="0"/>
          <a:lstStyle/>
          <a:p>
            <a:pPr algn="ctr">
              <a:lnSpc>
                <a:spcPct val="125000"/>
              </a:lnSpc>
              <a:buNone/>
              <a:defRPr sz="1500" b="1">
                <a:solidFill>
                  <a:srgbClr val="151515"/>
                </a:solidFill>
              </a:defRPr>
            </a:pPr>
            <a:r>
              <a:rPr sz="1500" b="1">
                <a:solidFill>
                  <a:srgbClr val="151515"/>
                </a:solidFill>
              </a:rPr>
              <a:t>i18n: vi / en</a:t>
            </a:r>
          </a:p>
        </p:txBody>
      </p:sp>
      <p:sp>
        <p:nvSpPr>
          <p:cNvPr id="30" name="Hình chữ nhật 29">
            <a:extLst>
              <a:ext uri="{FF2B5EF4-FFF2-40B4-BE49-F238E27FC236}">
                <a16:creationId xmlns:a16="http://schemas.microsoft.com/office/drawing/2014/main" id="{F812C257-6FFB-4DD3-A6FF-7445B14AB5C8}"/>
              </a:ext>
            </a:extLst>
          </p:cNvPr>
          <p:cNvSpPr>
            <a:spLocks noGrp="1"/>
          </p:cNvSpPr>
          <p:nvPr/>
        </p:nvSpPr>
        <p:spPr>
          <a:xfrm>
            <a:off x="819150" y="6858000"/>
            <a:ext cx="16649700" cy="400050"/>
          </a:xfrm>
          <a:prstGeom prst="rect">
            <a:avLst/>
          </a:prstGeom>
        </p:spPr>
        <p:txBody>
          <a:bodyPr lIns="0" tIns="0" rIns="0" bIns="0"/>
          <a:lstStyle/>
          <a:p>
            <a:pPr algn="ctr">
              <a:lnSpc>
                <a:spcPct val="125000"/>
              </a:lnSpc>
              <a:buNone/>
              <a:defRPr sz="2025">
                <a:solidFill>
                  <a:srgbClr val="647067"/>
                </a:solidFill>
              </a:defRPr>
            </a:pPr>
            <a:r>
              <a:rPr sz="2025">
                <a:solidFill>
                  <a:srgbClr val="647067"/>
                </a:solidFill>
              </a:rPr>
              <a:t>Client giữ UI và state ở frontend, nhưng nghiệp vụ chính đi qua API để đồng bộ với backend.</a:t>
            </a:r>
          </a:p>
        </p:txBody>
      </p:sp>
    </p:spTree>
    <p:extLst>
      <p:ext uri="{BB962C8B-B14F-4D97-AF65-F5344CB8AC3E}">
        <p14:creationId xmlns:p14="http://schemas.microsoft.com/office/powerpoint/2010/main" val="1671352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background">
            <a:extLst>
              <a:ext uri="{FF2B5EF4-FFF2-40B4-BE49-F238E27FC236}">
                <a16:creationId xmlns:a16="http://schemas.microsoft.com/office/drawing/2014/main" id="{45CEC540-F22C-43A0-9BE2-C6D6F01C33BE}"/>
              </a:ext>
            </a:extLst>
          </p:cNvPr>
          <p:cNvSpPr>
            <a:spLocks noGrp="1"/>
          </p:cNvSpPr>
          <p:nvPr/>
        </p:nvSpPr>
        <p:spPr>
          <a:xfrm>
            <a:off x="0" y="0"/>
            <a:ext cx="18288000" cy="10287000"/>
          </a:xfrm>
          <a:prstGeom prst="rect">
            <a:avLst/>
          </a:prstGeom>
          <a:solidFill>
            <a:srgbClr val="FFFDF8"/>
          </a:solidFill>
        </p:spPr>
      </p:sp>
      <p:sp>
        <p:nvSpPr>
          <p:cNvPr id="2" name="top-band">
            <a:extLst>
              <a:ext uri="{FF2B5EF4-FFF2-40B4-BE49-F238E27FC236}">
                <a16:creationId xmlns:a16="http://schemas.microsoft.com/office/drawing/2014/main" id="{616F6EC7-AF33-416C-9BA6-BBDA5898B385}"/>
              </a:ext>
            </a:extLst>
          </p:cNvPr>
          <p:cNvSpPr>
            <a:spLocks noGrp="1"/>
          </p:cNvSpPr>
          <p:nvPr/>
        </p:nvSpPr>
        <p:spPr>
          <a:xfrm>
            <a:off x="0" y="0"/>
            <a:ext cx="18288000" cy="152400"/>
          </a:xfrm>
          <a:prstGeom prst="rect">
            <a:avLst/>
          </a:prstGeom>
          <a:solidFill>
            <a:srgbClr val="87B8D6"/>
          </a:solidFill>
        </p:spPr>
      </p:sp>
      <p:sp>
        <p:nvSpPr>
          <p:cNvPr id="3" name="bottom-band">
            <a:extLst>
              <a:ext uri="{FF2B5EF4-FFF2-40B4-BE49-F238E27FC236}">
                <a16:creationId xmlns:a16="http://schemas.microsoft.com/office/drawing/2014/main" id="{BB17252F-1D04-405E-AB41-015E6C9F97BC}"/>
              </a:ext>
            </a:extLst>
          </p:cNvPr>
          <p:cNvSpPr>
            <a:spLocks noGrp="1"/>
          </p:cNvSpPr>
          <p:nvPr/>
        </p:nvSpPr>
        <p:spPr>
          <a:xfrm>
            <a:off x="0" y="0"/>
            <a:ext cx="18288000" cy="76200"/>
          </a:xfrm>
          <a:prstGeom prst="rect">
            <a:avLst/>
          </a:prstGeom>
          <a:solidFill>
            <a:srgbClr val="D9B760"/>
          </a:solidFill>
        </p:spPr>
      </p:sp>
      <p:sp>
        <p:nvSpPr>
          <p:cNvPr id="4" name="Hình chữ nhật: Góc Tròn 3">
            <a:extLst>
              <a:ext uri="{FF2B5EF4-FFF2-40B4-BE49-F238E27FC236}">
                <a16:creationId xmlns:a16="http://schemas.microsoft.com/office/drawing/2014/main" id="{75169693-D61A-430D-8A50-7A39FA23B570}"/>
              </a:ext>
            </a:extLst>
          </p:cNvPr>
          <p:cNvSpPr>
            <a:spLocks noGrp="1"/>
          </p:cNvSpPr>
          <p:nvPr/>
        </p:nvSpPr>
        <p:spPr>
          <a:xfrm>
            <a:off x="838200" y="647700"/>
            <a:ext cx="400050" cy="95250"/>
          </a:xfrm>
          <a:prstGeom prst="roundRect">
            <a:avLst>
              <a:gd name="adj" fmla="val 50000"/>
            </a:avLst>
          </a:prstGeom>
          <a:solidFill>
            <a:srgbClr val="87B8D6"/>
          </a:solidFill>
        </p:spPr>
      </p:sp>
      <p:sp>
        <p:nvSpPr>
          <p:cNvPr id="5" name="Hình chữ nhật 4">
            <a:extLst>
              <a:ext uri="{FF2B5EF4-FFF2-40B4-BE49-F238E27FC236}">
                <a16:creationId xmlns:a16="http://schemas.microsoft.com/office/drawing/2014/main" id="{C928A22C-FF9E-4139-A80B-2EAA710299DA}"/>
              </a:ext>
            </a:extLst>
          </p:cNvPr>
          <p:cNvSpPr>
            <a:spLocks noGrp="1"/>
          </p:cNvSpPr>
          <p:nvPr/>
        </p:nvSpPr>
        <p:spPr>
          <a:xfrm>
            <a:off x="1371600" y="571500"/>
            <a:ext cx="15544800" cy="228600"/>
          </a:xfrm>
          <a:prstGeom prst="rect">
            <a:avLst/>
          </a:prstGeom>
        </p:spPr>
        <p:txBody>
          <a:bodyPr lIns="0" tIns="0" rIns="0" bIns="0"/>
          <a:lstStyle/>
          <a:p>
            <a:pPr>
              <a:lnSpc>
                <a:spcPct val="125000"/>
              </a:lnSpc>
              <a:buNone/>
              <a:defRPr sz="1200" b="1">
                <a:solidFill>
                  <a:srgbClr val="7E3D4A"/>
                </a:solidFill>
              </a:defRPr>
            </a:pPr>
            <a:r>
              <a:rPr sz="1200" b="1">
                <a:solidFill>
                  <a:srgbClr val="7E3D4A"/>
                </a:solidFill>
              </a:rPr>
              <a:t>BACKEND</a:t>
            </a:r>
          </a:p>
        </p:txBody>
      </p:sp>
      <p:sp>
        <p:nvSpPr>
          <p:cNvPr id="6" name="Hình chữ nhật 5">
            <a:extLst>
              <a:ext uri="{FF2B5EF4-FFF2-40B4-BE49-F238E27FC236}">
                <a16:creationId xmlns:a16="http://schemas.microsoft.com/office/drawing/2014/main" id="{0046C5BB-27EE-4626-9F4F-B2F6D09CC365}"/>
              </a:ext>
            </a:extLst>
          </p:cNvPr>
          <p:cNvSpPr>
            <a:spLocks noGrp="1"/>
          </p:cNvSpPr>
          <p:nvPr/>
        </p:nvSpPr>
        <p:spPr>
          <a:xfrm>
            <a:off x="17068800" y="571500"/>
            <a:ext cx="400050" cy="228600"/>
          </a:xfrm>
          <a:prstGeom prst="rect">
            <a:avLst/>
          </a:prstGeom>
        </p:spPr>
        <p:txBody>
          <a:bodyPr lIns="0" tIns="0" rIns="0" bIns="0"/>
          <a:lstStyle/>
          <a:p>
            <a:pPr>
              <a:lnSpc>
                <a:spcPct val="120000"/>
              </a:lnSpc>
              <a:buNone/>
              <a:defRPr sz="1275" b="1">
                <a:solidFill>
                  <a:srgbClr val="7E3D4A"/>
                </a:solidFill>
              </a:defRPr>
            </a:pPr>
            <a:r>
              <a:rPr sz="1275" b="1">
                <a:solidFill>
                  <a:srgbClr val="7E3D4A"/>
                </a:solidFill>
              </a:rPr>
              <a:t>13/30</a:t>
            </a:r>
          </a:p>
        </p:txBody>
      </p:sp>
      <p:sp>
        <p:nvSpPr>
          <p:cNvPr id="7" name="slide-title">
            <a:extLst>
              <a:ext uri="{FF2B5EF4-FFF2-40B4-BE49-F238E27FC236}">
                <a16:creationId xmlns:a16="http://schemas.microsoft.com/office/drawing/2014/main" id="{45F038F2-3901-4655-9AA4-10B2426B8334}"/>
              </a:ext>
            </a:extLst>
          </p:cNvPr>
          <p:cNvSpPr>
            <a:spLocks noGrp="1"/>
          </p:cNvSpPr>
          <p:nvPr/>
        </p:nvSpPr>
        <p:spPr>
          <a:xfrm>
            <a:off x="819150" y="933450"/>
            <a:ext cx="16649700" cy="590550"/>
          </a:xfrm>
          <a:prstGeom prst="rect">
            <a:avLst/>
          </a:prstGeom>
        </p:spPr>
        <p:txBody>
          <a:bodyPr lIns="0" tIns="0" rIns="0" bIns="0"/>
          <a:lstStyle/>
          <a:p>
            <a:pPr>
              <a:lnSpc>
                <a:spcPct val="105000"/>
              </a:lnSpc>
              <a:buNone/>
              <a:defRPr sz="3600" b="1">
                <a:solidFill>
                  <a:srgbClr val="151515"/>
                </a:solidFill>
              </a:defRPr>
            </a:pPr>
            <a:r>
              <a:rPr sz="3600" b="1">
                <a:solidFill>
                  <a:srgbClr val="151515"/>
                </a:solidFill>
              </a:rPr>
              <a:t>Backend theo MVC kết hợp Service Layer</a:t>
            </a:r>
          </a:p>
        </p:txBody>
      </p:sp>
      <p:sp>
        <p:nvSpPr>
          <p:cNvPr id="8" name="title-rule">
            <a:extLst>
              <a:ext uri="{FF2B5EF4-FFF2-40B4-BE49-F238E27FC236}">
                <a16:creationId xmlns:a16="http://schemas.microsoft.com/office/drawing/2014/main" id="{D1B0F665-AFA0-40DE-94EC-00A2D4189DEC}"/>
              </a:ext>
            </a:extLst>
          </p:cNvPr>
          <p:cNvSpPr>
            <a:spLocks noGrp="1"/>
          </p:cNvSpPr>
          <p:nvPr/>
        </p:nvSpPr>
        <p:spPr>
          <a:xfrm>
            <a:off x="819150" y="1619250"/>
            <a:ext cx="1905000" cy="38100"/>
          </a:xfrm>
          <a:prstGeom prst="rect">
            <a:avLst/>
          </a:prstGeom>
          <a:solidFill>
            <a:srgbClr val="87B8D6"/>
          </a:solidFill>
          <a:ln w="0">
            <a:solidFill>
              <a:srgbClr val="87B8D6"/>
            </a:solidFill>
            <a:prstDash val="solid"/>
          </a:ln>
        </p:spPr>
      </p:sp>
      <p:sp>
        <p:nvSpPr>
          <p:cNvPr id="9" name="Hình chữ nhật: Góc Tròn 8">
            <a:extLst>
              <a:ext uri="{FF2B5EF4-FFF2-40B4-BE49-F238E27FC236}">
                <a16:creationId xmlns:a16="http://schemas.microsoft.com/office/drawing/2014/main" id="{CE7D6CAE-793C-4759-8E94-4B504EF97CE9}"/>
              </a:ext>
            </a:extLst>
          </p:cNvPr>
          <p:cNvSpPr>
            <a:spLocks noGrp="1"/>
          </p:cNvSpPr>
          <p:nvPr/>
        </p:nvSpPr>
        <p:spPr>
          <a:xfrm>
            <a:off x="1928813" y="4667250"/>
            <a:ext cx="1666875" cy="952500"/>
          </a:xfrm>
          <a:prstGeom prst="roundRect">
            <a:avLst>
              <a:gd name="adj" fmla="val 8000"/>
            </a:avLst>
          </a:prstGeom>
          <a:solidFill>
            <a:srgbClr val="FFFFFF"/>
          </a:solidFill>
          <a:ln w="9525">
            <a:solidFill>
              <a:srgbClr val="D9B760"/>
            </a:solidFill>
            <a:prstDash val="solid"/>
          </a:ln>
        </p:spPr>
      </p:sp>
      <p:sp>
        <p:nvSpPr>
          <p:cNvPr id="10" name="Hình chữ nhật 9">
            <a:extLst>
              <a:ext uri="{FF2B5EF4-FFF2-40B4-BE49-F238E27FC236}">
                <a16:creationId xmlns:a16="http://schemas.microsoft.com/office/drawing/2014/main" id="{2E3CC41C-28FC-464B-9F3D-553386CC06E9}"/>
              </a:ext>
            </a:extLst>
          </p:cNvPr>
          <p:cNvSpPr>
            <a:spLocks noGrp="1"/>
          </p:cNvSpPr>
          <p:nvPr/>
        </p:nvSpPr>
        <p:spPr>
          <a:xfrm>
            <a:off x="2095500" y="4857750"/>
            <a:ext cx="133350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Request</a:t>
            </a:r>
          </a:p>
        </p:txBody>
      </p:sp>
      <p:sp>
        <p:nvSpPr>
          <p:cNvPr id="11" name="Hình chữ nhật 10">
            <a:extLst>
              <a:ext uri="{FF2B5EF4-FFF2-40B4-BE49-F238E27FC236}">
                <a16:creationId xmlns:a16="http://schemas.microsoft.com/office/drawing/2014/main" id="{CC2323DC-C9A4-4DDB-8A98-4AB3C0A48284}"/>
              </a:ext>
            </a:extLst>
          </p:cNvPr>
          <p:cNvSpPr>
            <a:spLocks noGrp="1"/>
          </p:cNvSpPr>
          <p:nvPr/>
        </p:nvSpPr>
        <p:spPr>
          <a:xfrm>
            <a:off x="2095500" y="5238750"/>
            <a:ext cx="1333500" cy="2095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HTTP / JSON</a:t>
            </a:r>
          </a:p>
        </p:txBody>
      </p:sp>
      <p:sp>
        <p:nvSpPr>
          <p:cNvPr id="12" name="Hình chữ nhật 11">
            <a:extLst>
              <a:ext uri="{FF2B5EF4-FFF2-40B4-BE49-F238E27FC236}">
                <a16:creationId xmlns:a16="http://schemas.microsoft.com/office/drawing/2014/main" id="{96A73AE6-526B-46FE-9A4C-FC2849DCD520}"/>
              </a:ext>
            </a:extLst>
          </p:cNvPr>
          <p:cNvSpPr>
            <a:spLocks noGrp="1"/>
          </p:cNvSpPr>
          <p:nvPr/>
        </p:nvSpPr>
        <p:spPr>
          <a:xfrm>
            <a:off x="3714750" y="4895850"/>
            <a:ext cx="400050" cy="495300"/>
          </a:xfrm>
          <a:prstGeom prst="rect">
            <a:avLst/>
          </a:prstGeom>
        </p:spPr>
        <p:txBody>
          <a:bodyPr lIns="0" tIns="0" rIns="0" bIns="0"/>
          <a:lstStyle/>
          <a:p>
            <a:pPr algn="ctr">
              <a:lnSpc>
                <a:spcPct val="125000"/>
              </a:lnSpc>
              <a:buNone/>
              <a:defRPr sz="2625" b="1">
                <a:solidFill>
                  <a:srgbClr val="87B8D6"/>
                </a:solidFill>
              </a:defRPr>
            </a:pPr>
            <a:r>
              <a:rPr sz="2625" b="1">
                <a:solidFill>
                  <a:srgbClr val="87B8D6"/>
                </a:solidFill>
              </a:rPr>
              <a:t>→</a:t>
            </a:r>
          </a:p>
        </p:txBody>
      </p:sp>
      <p:sp>
        <p:nvSpPr>
          <p:cNvPr id="13" name="Hình chữ nhật: Góc Tròn 12">
            <a:extLst>
              <a:ext uri="{FF2B5EF4-FFF2-40B4-BE49-F238E27FC236}">
                <a16:creationId xmlns:a16="http://schemas.microsoft.com/office/drawing/2014/main" id="{D31EBCFA-1DB3-479B-A1A0-51139A6F3746}"/>
              </a:ext>
            </a:extLst>
          </p:cNvPr>
          <p:cNvSpPr>
            <a:spLocks noGrp="1"/>
          </p:cNvSpPr>
          <p:nvPr/>
        </p:nvSpPr>
        <p:spPr>
          <a:xfrm>
            <a:off x="4224338" y="4667250"/>
            <a:ext cx="1762125" cy="952500"/>
          </a:xfrm>
          <a:prstGeom prst="roundRect">
            <a:avLst>
              <a:gd name="adj" fmla="val 8000"/>
            </a:avLst>
          </a:prstGeom>
          <a:solidFill>
            <a:srgbClr val="FFFFFF"/>
          </a:solidFill>
          <a:ln w="9525">
            <a:solidFill>
              <a:srgbClr val="77B8A4"/>
            </a:solidFill>
            <a:prstDash val="solid"/>
          </a:ln>
        </p:spPr>
      </p:sp>
      <p:sp>
        <p:nvSpPr>
          <p:cNvPr id="14" name="Hình chữ nhật 13">
            <a:extLst>
              <a:ext uri="{FF2B5EF4-FFF2-40B4-BE49-F238E27FC236}">
                <a16:creationId xmlns:a16="http://schemas.microsoft.com/office/drawing/2014/main" id="{00401CF6-41AC-47BF-8272-9ADCC76B847C}"/>
              </a:ext>
            </a:extLst>
          </p:cNvPr>
          <p:cNvSpPr>
            <a:spLocks noGrp="1"/>
          </p:cNvSpPr>
          <p:nvPr/>
        </p:nvSpPr>
        <p:spPr>
          <a:xfrm>
            <a:off x="4400550" y="4857750"/>
            <a:ext cx="142875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Routes</a:t>
            </a:r>
          </a:p>
        </p:txBody>
      </p:sp>
      <p:sp>
        <p:nvSpPr>
          <p:cNvPr id="15" name="Hình chữ nhật 14">
            <a:extLst>
              <a:ext uri="{FF2B5EF4-FFF2-40B4-BE49-F238E27FC236}">
                <a16:creationId xmlns:a16="http://schemas.microsoft.com/office/drawing/2014/main" id="{6DDCEFB3-3114-407C-B4E1-D1A1EDFBF12F}"/>
              </a:ext>
            </a:extLst>
          </p:cNvPr>
          <p:cNvSpPr>
            <a:spLocks noGrp="1"/>
          </p:cNvSpPr>
          <p:nvPr/>
        </p:nvSpPr>
        <p:spPr>
          <a:xfrm>
            <a:off x="4400550" y="5238750"/>
            <a:ext cx="1428750" cy="2095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endpoint map</a:t>
            </a:r>
          </a:p>
        </p:txBody>
      </p:sp>
      <p:sp>
        <p:nvSpPr>
          <p:cNvPr id="16" name="Hình chữ nhật 15">
            <a:extLst>
              <a:ext uri="{FF2B5EF4-FFF2-40B4-BE49-F238E27FC236}">
                <a16:creationId xmlns:a16="http://schemas.microsoft.com/office/drawing/2014/main" id="{A5194918-62B0-4591-91A0-2E34C25BE9DF}"/>
              </a:ext>
            </a:extLst>
          </p:cNvPr>
          <p:cNvSpPr>
            <a:spLocks noGrp="1"/>
          </p:cNvSpPr>
          <p:nvPr/>
        </p:nvSpPr>
        <p:spPr>
          <a:xfrm>
            <a:off x="6096000" y="4895850"/>
            <a:ext cx="400050" cy="495300"/>
          </a:xfrm>
          <a:prstGeom prst="rect">
            <a:avLst/>
          </a:prstGeom>
        </p:spPr>
        <p:txBody>
          <a:bodyPr lIns="0" tIns="0" rIns="0" bIns="0"/>
          <a:lstStyle/>
          <a:p>
            <a:pPr algn="ctr">
              <a:lnSpc>
                <a:spcPct val="125000"/>
              </a:lnSpc>
              <a:buNone/>
              <a:defRPr sz="2625" b="1">
                <a:solidFill>
                  <a:srgbClr val="87B8D6"/>
                </a:solidFill>
              </a:defRPr>
            </a:pPr>
            <a:r>
              <a:rPr sz="2625" b="1" dirty="0">
                <a:solidFill>
                  <a:srgbClr val="87B8D6"/>
                </a:solidFill>
              </a:rPr>
              <a:t>→</a:t>
            </a:r>
          </a:p>
        </p:txBody>
      </p:sp>
      <p:sp>
        <p:nvSpPr>
          <p:cNvPr id="17" name="Hình chữ nhật: Góc Tròn 16">
            <a:extLst>
              <a:ext uri="{FF2B5EF4-FFF2-40B4-BE49-F238E27FC236}">
                <a16:creationId xmlns:a16="http://schemas.microsoft.com/office/drawing/2014/main" id="{4CDD0221-3DFA-4EC6-95C6-ACCBFE376002}"/>
              </a:ext>
            </a:extLst>
          </p:cNvPr>
          <p:cNvSpPr>
            <a:spLocks noGrp="1"/>
          </p:cNvSpPr>
          <p:nvPr/>
        </p:nvSpPr>
        <p:spPr>
          <a:xfrm>
            <a:off x="6615113" y="4667250"/>
            <a:ext cx="2143125" cy="952500"/>
          </a:xfrm>
          <a:prstGeom prst="roundRect">
            <a:avLst>
              <a:gd name="adj" fmla="val 8000"/>
            </a:avLst>
          </a:prstGeom>
          <a:solidFill>
            <a:srgbClr val="FFFFFF"/>
          </a:solidFill>
          <a:ln w="9525">
            <a:solidFill>
              <a:srgbClr val="F39A8A"/>
            </a:solidFill>
            <a:prstDash val="solid"/>
          </a:ln>
        </p:spPr>
      </p:sp>
      <p:sp>
        <p:nvSpPr>
          <p:cNvPr id="18" name="Hình chữ nhật 17">
            <a:extLst>
              <a:ext uri="{FF2B5EF4-FFF2-40B4-BE49-F238E27FC236}">
                <a16:creationId xmlns:a16="http://schemas.microsoft.com/office/drawing/2014/main" id="{43C63742-C641-4790-B47B-500239331011}"/>
              </a:ext>
            </a:extLst>
          </p:cNvPr>
          <p:cNvSpPr>
            <a:spLocks noGrp="1"/>
          </p:cNvSpPr>
          <p:nvPr/>
        </p:nvSpPr>
        <p:spPr>
          <a:xfrm>
            <a:off x="6781800" y="4857750"/>
            <a:ext cx="180975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Middleware</a:t>
            </a:r>
          </a:p>
        </p:txBody>
      </p:sp>
      <p:sp>
        <p:nvSpPr>
          <p:cNvPr id="19" name="Hình chữ nhật 18">
            <a:extLst>
              <a:ext uri="{FF2B5EF4-FFF2-40B4-BE49-F238E27FC236}">
                <a16:creationId xmlns:a16="http://schemas.microsoft.com/office/drawing/2014/main" id="{8B7FE0C6-E7F1-4EE4-B5DF-B450DB3B6F37}"/>
              </a:ext>
            </a:extLst>
          </p:cNvPr>
          <p:cNvSpPr>
            <a:spLocks noGrp="1"/>
          </p:cNvSpPr>
          <p:nvPr/>
        </p:nvSpPr>
        <p:spPr>
          <a:xfrm>
            <a:off x="6781800" y="5238750"/>
            <a:ext cx="1809750" cy="2095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auth, admin, validate</a:t>
            </a:r>
          </a:p>
        </p:txBody>
      </p:sp>
      <p:sp>
        <p:nvSpPr>
          <p:cNvPr id="20" name="Hình chữ nhật 19">
            <a:extLst>
              <a:ext uri="{FF2B5EF4-FFF2-40B4-BE49-F238E27FC236}">
                <a16:creationId xmlns:a16="http://schemas.microsoft.com/office/drawing/2014/main" id="{0B36A8EC-536E-4358-B028-47FDA6F9574B}"/>
              </a:ext>
            </a:extLst>
          </p:cNvPr>
          <p:cNvSpPr>
            <a:spLocks noGrp="1"/>
          </p:cNvSpPr>
          <p:nvPr/>
        </p:nvSpPr>
        <p:spPr>
          <a:xfrm>
            <a:off x="8877300" y="4895850"/>
            <a:ext cx="400050" cy="495300"/>
          </a:xfrm>
          <a:prstGeom prst="rect">
            <a:avLst/>
          </a:prstGeom>
        </p:spPr>
        <p:txBody>
          <a:bodyPr lIns="0" tIns="0" rIns="0" bIns="0"/>
          <a:lstStyle/>
          <a:p>
            <a:pPr algn="ctr">
              <a:lnSpc>
                <a:spcPct val="125000"/>
              </a:lnSpc>
              <a:buNone/>
              <a:defRPr sz="2625" b="1">
                <a:solidFill>
                  <a:srgbClr val="87B8D6"/>
                </a:solidFill>
              </a:defRPr>
            </a:pPr>
            <a:r>
              <a:rPr sz="2625" b="1">
                <a:solidFill>
                  <a:srgbClr val="87B8D6"/>
                </a:solidFill>
              </a:rPr>
              <a:t>→</a:t>
            </a:r>
          </a:p>
        </p:txBody>
      </p:sp>
      <p:sp>
        <p:nvSpPr>
          <p:cNvPr id="21" name="Hình chữ nhật: Góc Tròn 20">
            <a:extLst>
              <a:ext uri="{FF2B5EF4-FFF2-40B4-BE49-F238E27FC236}">
                <a16:creationId xmlns:a16="http://schemas.microsoft.com/office/drawing/2014/main" id="{DDFEACBD-7F11-4A86-83C4-A864023A53B0}"/>
              </a:ext>
            </a:extLst>
          </p:cNvPr>
          <p:cNvSpPr>
            <a:spLocks noGrp="1"/>
          </p:cNvSpPr>
          <p:nvPr/>
        </p:nvSpPr>
        <p:spPr>
          <a:xfrm>
            <a:off x="9386888" y="4667250"/>
            <a:ext cx="2095500" cy="952500"/>
          </a:xfrm>
          <a:prstGeom prst="roundRect">
            <a:avLst>
              <a:gd name="adj" fmla="val 8000"/>
            </a:avLst>
          </a:prstGeom>
          <a:solidFill>
            <a:srgbClr val="FFFFFF"/>
          </a:solidFill>
          <a:ln w="9525">
            <a:solidFill>
              <a:srgbClr val="87B8D6"/>
            </a:solidFill>
            <a:prstDash val="solid"/>
          </a:ln>
        </p:spPr>
      </p:sp>
      <p:sp>
        <p:nvSpPr>
          <p:cNvPr id="22" name="Hình chữ nhật 21">
            <a:extLst>
              <a:ext uri="{FF2B5EF4-FFF2-40B4-BE49-F238E27FC236}">
                <a16:creationId xmlns:a16="http://schemas.microsoft.com/office/drawing/2014/main" id="{7EABD962-CD80-44BA-9606-85984D0F0FD2}"/>
              </a:ext>
            </a:extLst>
          </p:cNvPr>
          <p:cNvSpPr>
            <a:spLocks noGrp="1"/>
          </p:cNvSpPr>
          <p:nvPr/>
        </p:nvSpPr>
        <p:spPr>
          <a:xfrm>
            <a:off x="9563100" y="4857750"/>
            <a:ext cx="175260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Controller</a:t>
            </a:r>
          </a:p>
        </p:txBody>
      </p:sp>
      <p:sp>
        <p:nvSpPr>
          <p:cNvPr id="23" name="Hình chữ nhật 22">
            <a:extLst>
              <a:ext uri="{FF2B5EF4-FFF2-40B4-BE49-F238E27FC236}">
                <a16:creationId xmlns:a16="http://schemas.microsoft.com/office/drawing/2014/main" id="{4C50F4C5-D1CF-4A59-8D5A-6E42EB06435F}"/>
              </a:ext>
            </a:extLst>
          </p:cNvPr>
          <p:cNvSpPr>
            <a:spLocks noGrp="1"/>
          </p:cNvSpPr>
          <p:nvPr/>
        </p:nvSpPr>
        <p:spPr>
          <a:xfrm>
            <a:off x="9563100" y="5238750"/>
            <a:ext cx="1752600" cy="2095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request / response</a:t>
            </a:r>
          </a:p>
        </p:txBody>
      </p:sp>
      <p:sp>
        <p:nvSpPr>
          <p:cNvPr id="24" name="Hình chữ nhật 23">
            <a:extLst>
              <a:ext uri="{FF2B5EF4-FFF2-40B4-BE49-F238E27FC236}">
                <a16:creationId xmlns:a16="http://schemas.microsoft.com/office/drawing/2014/main" id="{954C17EB-5CD0-420C-A4E5-8EEBF33516EA}"/>
              </a:ext>
            </a:extLst>
          </p:cNvPr>
          <p:cNvSpPr>
            <a:spLocks noGrp="1"/>
          </p:cNvSpPr>
          <p:nvPr/>
        </p:nvSpPr>
        <p:spPr>
          <a:xfrm>
            <a:off x="11601450" y="4895850"/>
            <a:ext cx="400050" cy="495300"/>
          </a:xfrm>
          <a:prstGeom prst="rect">
            <a:avLst/>
          </a:prstGeom>
        </p:spPr>
        <p:txBody>
          <a:bodyPr lIns="0" tIns="0" rIns="0" bIns="0"/>
          <a:lstStyle/>
          <a:p>
            <a:pPr algn="ctr">
              <a:lnSpc>
                <a:spcPct val="125000"/>
              </a:lnSpc>
              <a:buNone/>
              <a:defRPr sz="2625" b="1">
                <a:solidFill>
                  <a:srgbClr val="87B8D6"/>
                </a:solidFill>
              </a:defRPr>
            </a:pPr>
            <a:r>
              <a:rPr sz="2625" b="1">
                <a:solidFill>
                  <a:srgbClr val="87B8D6"/>
                </a:solidFill>
              </a:rPr>
              <a:t>→</a:t>
            </a:r>
          </a:p>
        </p:txBody>
      </p:sp>
      <p:sp>
        <p:nvSpPr>
          <p:cNvPr id="25" name="Hình chữ nhật: Góc Tròn 24">
            <a:extLst>
              <a:ext uri="{FF2B5EF4-FFF2-40B4-BE49-F238E27FC236}">
                <a16:creationId xmlns:a16="http://schemas.microsoft.com/office/drawing/2014/main" id="{64496E58-39EB-4AD0-8822-EA45AA595C16}"/>
              </a:ext>
            </a:extLst>
          </p:cNvPr>
          <p:cNvSpPr>
            <a:spLocks noGrp="1"/>
          </p:cNvSpPr>
          <p:nvPr/>
        </p:nvSpPr>
        <p:spPr>
          <a:xfrm>
            <a:off x="12111038" y="4667250"/>
            <a:ext cx="1905000" cy="952500"/>
          </a:xfrm>
          <a:prstGeom prst="roundRect">
            <a:avLst>
              <a:gd name="adj" fmla="val 8000"/>
            </a:avLst>
          </a:prstGeom>
          <a:solidFill>
            <a:srgbClr val="FFFFFF"/>
          </a:solidFill>
          <a:ln w="9525">
            <a:solidFill>
              <a:srgbClr val="7E3D4A"/>
            </a:solidFill>
            <a:prstDash val="solid"/>
          </a:ln>
        </p:spPr>
      </p:sp>
      <p:sp>
        <p:nvSpPr>
          <p:cNvPr id="26" name="Hình chữ nhật 25">
            <a:extLst>
              <a:ext uri="{FF2B5EF4-FFF2-40B4-BE49-F238E27FC236}">
                <a16:creationId xmlns:a16="http://schemas.microsoft.com/office/drawing/2014/main" id="{5ADC9DFC-AD0C-4947-BC16-7567940B24F5}"/>
              </a:ext>
            </a:extLst>
          </p:cNvPr>
          <p:cNvSpPr>
            <a:spLocks noGrp="1"/>
          </p:cNvSpPr>
          <p:nvPr/>
        </p:nvSpPr>
        <p:spPr>
          <a:xfrm>
            <a:off x="12287250" y="4857750"/>
            <a:ext cx="156210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Service</a:t>
            </a:r>
          </a:p>
        </p:txBody>
      </p:sp>
      <p:sp>
        <p:nvSpPr>
          <p:cNvPr id="27" name="Hình chữ nhật 26">
            <a:extLst>
              <a:ext uri="{FF2B5EF4-FFF2-40B4-BE49-F238E27FC236}">
                <a16:creationId xmlns:a16="http://schemas.microsoft.com/office/drawing/2014/main" id="{6DE4E25A-1EB7-40F6-B56F-23FBB820BA78}"/>
              </a:ext>
            </a:extLst>
          </p:cNvPr>
          <p:cNvSpPr>
            <a:spLocks noGrp="1"/>
          </p:cNvSpPr>
          <p:nvPr/>
        </p:nvSpPr>
        <p:spPr>
          <a:xfrm>
            <a:off x="12287250" y="5238750"/>
            <a:ext cx="1562100" cy="2095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business logic</a:t>
            </a:r>
          </a:p>
        </p:txBody>
      </p:sp>
      <p:sp>
        <p:nvSpPr>
          <p:cNvPr id="28" name="Hình chữ nhật 27">
            <a:extLst>
              <a:ext uri="{FF2B5EF4-FFF2-40B4-BE49-F238E27FC236}">
                <a16:creationId xmlns:a16="http://schemas.microsoft.com/office/drawing/2014/main" id="{2BBDA3BD-A9A2-41DC-8ECE-E15BA2656BED}"/>
              </a:ext>
            </a:extLst>
          </p:cNvPr>
          <p:cNvSpPr>
            <a:spLocks noGrp="1"/>
          </p:cNvSpPr>
          <p:nvPr/>
        </p:nvSpPr>
        <p:spPr>
          <a:xfrm>
            <a:off x="14135100" y="4895850"/>
            <a:ext cx="400050" cy="495300"/>
          </a:xfrm>
          <a:prstGeom prst="rect">
            <a:avLst/>
          </a:prstGeom>
        </p:spPr>
        <p:txBody>
          <a:bodyPr lIns="0" tIns="0" rIns="0" bIns="0"/>
          <a:lstStyle/>
          <a:p>
            <a:pPr algn="ctr">
              <a:lnSpc>
                <a:spcPct val="125000"/>
              </a:lnSpc>
              <a:buNone/>
              <a:defRPr sz="2625" b="1">
                <a:solidFill>
                  <a:srgbClr val="87B8D6"/>
                </a:solidFill>
              </a:defRPr>
            </a:pPr>
            <a:r>
              <a:rPr sz="2625" b="1">
                <a:solidFill>
                  <a:srgbClr val="87B8D6"/>
                </a:solidFill>
              </a:rPr>
              <a:t>→</a:t>
            </a:r>
          </a:p>
        </p:txBody>
      </p:sp>
      <p:sp>
        <p:nvSpPr>
          <p:cNvPr id="29" name="Hình chữ nhật: Góc Tròn 28">
            <a:extLst>
              <a:ext uri="{FF2B5EF4-FFF2-40B4-BE49-F238E27FC236}">
                <a16:creationId xmlns:a16="http://schemas.microsoft.com/office/drawing/2014/main" id="{4DB15CB8-19C7-42B4-9630-2E8E1351A0B5}"/>
              </a:ext>
            </a:extLst>
          </p:cNvPr>
          <p:cNvSpPr>
            <a:spLocks noGrp="1"/>
          </p:cNvSpPr>
          <p:nvPr/>
        </p:nvSpPr>
        <p:spPr>
          <a:xfrm>
            <a:off x="14644688" y="4667250"/>
            <a:ext cx="1714500" cy="952500"/>
          </a:xfrm>
          <a:prstGeom prst="roundRect">
            <a:avLst>
              <a:gd name="adj" fmla="val 8000"/>
            </a:avLst>
          </a:prstGeom>
          <a:solidFill>
            <a:srgbClr val="FFFFFF"/>
          </a:solidFill>
          <a:ln w="9525">
            <a:solidFill>
              <a:srgbClr val="25384A"/>
            </a:solidFill>
            <a:prstDash val="solid"/>
          </a:ln>
        </p:spPr>
      </p:sp>
      <p:sp>
        <p:nvSpPr>
          <p:cNvPr id="30" name="Hình chữ nhật 29">
            <a:extLst>
              <a:ext uri="{FF2B5EF4-FFF2-40B4-BE49-F238E27FC236}">
                <a16:creationId xmlns:a16="http://schemas.microsoft.com/office/drawing/2014/main" id="{1214A9E4-42D5-4513-9B1E-4D9D22B5DB44}"/>
              </a:ext>
            </a:extLst>
          </p:cNvPr>
          <p:cNvSpPr>
            <a:spLocks noGrp="1"/>
          </p:cNvSpPr>
          <p:nvPr/>
        </p:nvSpPr>
        <p:spPr>
          <a:xfrm>
            <a:off x="14820900" y="4857750"/>
            <a:ext cx="137160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Model</a:t>
            </a:r>
          </a:p>
        </p:txBody>
      </p:sp>
      <p:sp>
        <p:nvSpPr>
          <p:cNvPr id="31" name="Hình chữ nhật 30">
            <a:extLst>
              <a:ext uri="{FF2B5EF4-FFF2-40B4-BE49-F238E27FC236}">
                <a16:creationId xmlns:a16="http://schemas.microsoft.com/office/drawing/2014/main" id="{870A0513-D886-467B-9C29-9D9998ED3A27}"/>
              </a:ext>
            </a:extLst>
          </p:cNvPr>
          <p:cNvSpPr>
            <a:spLocks noGrp="1"/>
          </p:cNvSpPr>
          <p:nvPr/>
        </p:nvSpPr>
        <p:spPr>
          <a:xfrm>
            <a:off x="14820900" y="5238750"/>
            <a:ext cx="1371600" cy="2095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Sequelize</a:t>
            </a:r>
          </a:p>
        </p:txBody>
      </p:sp>
      <p:sp>
        <p:nvSpPr>
          <p:cNvPr id="32" name="Hình chữ nhật: Góc Tròn 31">
            <a:extLst>
              <a:ext uri="{FF2B5EF4-FFF2-40B4-BE49-F238E27FC236}">
                <a16:creationId xmlns:a16="http://schemas.microsoft.com/office/drawing/2014/main" id="{50AF75CF-C040-477C-9314-9156B47E1A0C}"/>
              </a:ext>
            </a:extLst>
          </p:cNvPr>
          <p:cNvSpPr>
            <a:spLocks noGrp="1"/>
          </p:cNvSpPr>
          <p:nvPr/>
        </p:nvSpPr>
        <p:spPr>
          <a:xfrm>
            <a:off x="819150" y="5946458"/>
            <a:ext cx="5397500" cy="1032129"/>
          </a:xfrm>
          <a:prstGeom prst="roundRect">
            <a:avLst>
              <a:gd name="adj" fmla="val 7383"/>
            </a:avLst>
          </a:prstGeom>
          <a:solidFill>
            <a:srgbClr val="FFFFFF"/>
          </a:solidFill>
          <a:ln w="9525">
            <a:solidFill>
              <a:srgbClr val="E8DDCF"/>
            </a:solidFill>
            <a:prstDash val="solid"/>
          </a:ln>
        </p:spPr>
      </p:sp>
      <p:sp>
        <p:nvSpPr>
          <p:cNvPr id="33" name="Hình chữ nhật: Góc Tròn 32">
            <a:extLst>
              <a:ext uri="{FF2B5EF4-FFF2-40B4-BE49-F238E27FC236}">
                <a16:creationId xmlns:a16="http://schemas.microsoft.com/office/drawing/2014/main" id="{9197C416-4FD9-41F4-820B-AA5E9DBA462C}"/>
              </a:ext>
            </a:extLst>
          </p:cNvPr>
          <p:cNvSpPr>
            <a:spLocks noGrp="1"/>
          </p:cNvSpPr>
          <p:nvPr/>
        </p:nvSpPr>
        <p:spPr>
          <a:xfrm>
            <a:off x="1028700" y="6134100"/>
            <a:ext cx="104775" cy="323850"/>
          </a:xfrm>
          <a:prstGeom prst="roundRect">
            <a:avLst>
              <a:gd name="adj" fmla="val 50000"/>
            </a:avLst>
          </a:prstGeom>
          <a:solidFill>
            <a:srgbClr val="77B8A4"/>
          </a:solidFill>
        </p:spPr>
      </p:sp>
      <p:sp>
        <p:nvSpPr>
          <p:cNvPr id="34" name="Hình chữ nhật 33">
            <a:extLst>
              <a:ext uri="{FF2B5EF4-FFF2-40B4-BE49-F238E27FC236}">
                <a16:creationId xmlns:a16="http://schemas.microsoft.com/office/drawing/2014/main" id="{9D69AFCE-5AB4-464F-ADCF-188110FF072D}"/>
              </a:ext>
            </a:extLst>
          </p:cNvPr>
          <p:cNvSpPr>
            <a:spLocks noGrp="1"/>
          </p:cNvSpPr>
          <p:nvPr/>
        </p:nvSpPr>
        <p:spPr>
          <a:xfrm>
            <a:off x="1238250" y="6115050"/>
            <a:ext cx="478155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Dễ đọc</a:t>
            </a:r>
          </a:p>
        </p:txBody>
      </p:sp>
      <p:sp>
        <p:nvSpPr>
          <p:cNvPr id="35" name="Hình chữ nhật 34">
            <a:extLst>
              <a:ext uri="{FF2B5EF4-FFF2-40B4-BE49-F238E27FC236}">
                <a16:creationId xmlns:a16="http://schemas.microsoft.com/office/drawing/2014/main" id="{84D65504-BEAB-4144-BEFE-862669B4DA3C}"/>
              </a:ext>
            </a:extLst>
          </p:cNvPr>
          <p:cNvSpPr>
            <a:spLocks noGrp="1"/>
          </p:cNvSpPr>
          <p:nvPr/>
        </p:nvSpPr>
        <p:spPr>
          <a:xfrm>
            <a:off x="1028700" y="6553200"/>
            <a:ext cx="4972050" cy="266700"/>
          </a:xfrm>
          <a:prstGeom prst="rect">
            <a:avLst/>
          </a:prstGeom>
        </p:spPr>
        <p:txBody>
          <a:bodyPr lIns="0" tIns="0" rIns="0" bIns="0"/>
          <a:lstStyle/>
          <a:p>
            <a:pPr>
              <a:lnSpc>
                <a:spcPct val="120000"/>
              </a:lnSpc>
              <a:buNone/>
              <a:defRPr sz="1425">
                <a:solidFill>
                  <a:srgbClr val="647067"/>
                </a:solidFill>
              </a:defRPr>
            </a:pPr>
            <a:r>
              <a:rPr sz="1425">
                <a:solidFill>
                  <a:srgbClr val="647067"/>
                </a:solidFill>
              </a:rPr>
              <a:t>HTTP layer không trộn trực tiếp với business logic.</a:t>
            </a:r>
          </a:p>
        </p:txBody>
      </p:sp>
      <p:sp>
        <p:nvSpPr>
          <p:cNvPr id="36" name="Hình chữ nhật: Góc Tròn 35">
            <a:extLst>
              <a:ext uri="{FF2B5EF4-FFF2-40B4-BE49-F238E27FC236}">
                <a16:creationId xmlns:a16="http://schemas.microsoft.com/office/drawing/2014/main" id="{0362AE88-6C7F-409A-9383-3957A9BDC3EF}"/>
              </a:ext>
            </a:extLst>
          </p:cNvPr>
          <p:cNvSpPr>
            <a:spLocks noGrp="1"/>
          </p:cNvSpPr>
          <p:nvPr/>
        </p:nvSpPr>
        <p:spPr>
          <a:xfrm>
            <a:off x="6445250" y="5946458"/>
            <a:ext cx="5397500" cy="1032129"/>
          </a:xfrm>
          <a:prstGeom prst="roundRect">
            <a:avLst>
              <a:gd name="adj" fmla="val 7383"/>
            </a:avLst>
          </a:prstGeom>
          <a:solidFill>
            <a:srgbClr val="FFFFFF"/>
          </a:solidFill>
          <a:ln w="9525">
            <a:solidFill>
              <a:srgbClr val="E8DDCF"/>
            </a:solidFill>
            <a:prstDash val="solid"/>
          </a:ln>
        </p:spPr>
      </p:sp>
      <p:sp>
        <p:nvSpPr>
          <p:cNvPr id="37" name="Hình chữ nhật: Góc Tròn 36">
            <a:extLst>
              <a:ext uri="{FF2B5EF4-FFF2-40B4-BE49-F238E27FC236}">
                <a16:creationId xmlns:a16="http://schemas.microsoft.com/office/drawing/2014/main" id="{C12B89F7-8D6B-4D13-977C-DBA5E57ACBB0}"/>
              </a:ext>
            </a:extLst>
          </p:cNvPr>
          <p:cNvSpPr>
            <a:spLocks noGrp="1"/>
          </p:cNvSpPr>
          <p:nvPr/>
        </p:nvSpPr>
        <p:spPr>
          <a:xfrm>
            <a:off x="6667500" y="6134100"/>
            <a:ext cx="104775" cy="323850"/>
          </a:xfrm>
          <a:prstGeom prst="roundRect">
            <a:avLst>
              <a:gd name="adj" fmla="val 50000"/>
            </a:avLst>
          </a:prstGeom>
          <a:solidFill>
            <a:srgbClr val="D9B760"/>
          </a:solidFill>
        </p:spPr>
      </p:sp>
      <p:sp>
        <p:nvSpPr>
          <p:cNvPr id="38" name="Hình chữ nhật 37">
            <a:extLst>
              <a:ext uri="{FF2B5EF4-FFF2-40B4-BE49-F238E27FC236}">
                <a16:creationId xmlns:a16="http://schemas.microsoft.com/office/drawing/2014/main" id="{E7F20250-091B-487E-A554-43A89694003A}"/>
              </a:ext>
            </a:extLst>
          </p:cNvPr>
          <p:cNvSpPr>
            <a:spLocks noGrp="1"/>
          </p:cNvSpPr>
          <p:nvPr/>
        </p:nvSpPr>
        <p:spPr>
          <a:xfrm>
            <a:off x="6858000" y="6115050"/>
            <a:ext cx="478155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Dễ mở rộng</a:t>
            </a:r>
          </a:p>
        </p:txBody>
      </p:sp>
      <p:sp>
        <p:nvSpPr>
          <p:cNvPr id="39" name="Hình chữ nhật 38">
            <a:extLst>
              <a:ext uri="{FF2B5EF4-FFF2-40B4-BE49-F238E27FC236}">
                <a16:creationId xmlns:a16="http://schemas.microsoft.com/office/drawing/2014/main" id="{BA366F0C-E05B-4880-907C-58ECF999FA84}"/>
              </a:ext>
            </a:extLst>
          </p:cNvPr>
          <p:cNvSpPr>
            <a:spLocks noGrp="1"/>
          </p:cNvSpPr>
          <p:nvPr/>
        </p:nvSpPr>
        <p:spPr>
          <a:xfrm>
            <a:off x="6648450" y="6553200"/>
            <a:ext cx="4972050" cy="266700"/>
          </a:xfrm>
          <a:prstGeom prst="rect">
            <a:avLst/>
          </a:prstGeom>
        </p:spPr>
        <p:txBody>
          <a:bodyPr lIns="0" tIns="0" rIns="0" bIns="0"/>
          <a:lstStyle/>
          <a:p>
            <a:pPr>
              <a:lnSpc>
                <a:spcPct val="120000"/>
              </a:lnSpc>
              <a:buNone/>
              <a:defRPr sz="1425">
                <a:solidFill>
                  <a:srgbClr val="647067"/>
                </a:solidFill>
              </a:defRPr>
            </a:pPr>
            <a:r>
              <a:rPr sz="1425">
                <a:solidFill>
                  <a:srgbClr val="647067"/>
                </a:solidFill>
              </a:rPr>
              <a:t>Service có thể gọi payment, AI, email mà controller vẫn gọn.</a:t>
            </a:r>
          </a:p>
        </p:txBody>
      </p:sp>
      <p:sp>
        <p:nvSpPr>
          <p:cNvPr id="40" name="Hình chữ nhật: Góc Tròn 39">
            <a:extLst>
              <a:ext uri="{FF2B5EF4-FFF2-40B4-BE49-F238E27FC236}">
                <a16:creationId xmlns:a16="http://schemas.microsoft.com/office/drawing/2014/main" id="{923772AF-5673-4847-8BFC-897BC48E61C1}"/>
              </a:ext>
            </a:extLst>
          </p:cNvPr>
          <p:cNvSpPr>
            <a:spLocks noGrp="1"/>
          </p:cNvSpPr>
          <p:nvPr/>
        </p:nvSpPr>
        <p:spPr>
          <a:xfrm>
            <a:off x="12071350" y="5946458"/>
            <a:ext cx="5397500" cy="1032129"/>
          </a:xfrm>
          <a:prstGeom prst="roundRect">
            <a:avLst>
              <a:gd name="adj" fmla="val 7383"/>
            </a:avLst>
          </a:prstGeom>
          <a:solidFill>
            <a:srgbClr val="FFFFFF"/>
          </a:solidFill>
          <a:ln w="9525">
            <a:solidFill>
              <a:srgbClr val="E8DDCF"/>
            </a:solidFill>
            <a:prstDash val="solid"/>
          </a:ln>
        </p:spPr>
      </p:sp>
      <p:sp>
        <p:nvSpPr>
          <p:cNvPr id="41" name="Hình chữ nhật: Góc Tròn 40">
            <a:extLst>
              <a:ext uri="{FF2B5EF4-FFF2-40B4-BE49-F238E27FC236}">
                <a16:creationId xmlns:a16="http://schemas.microsoft.com/office/drawing/2014/main" id="{E467F5CC-8C0A-4572-B4A1-BEE78070394A}"/>
              </a:ext>
            </a:extLst>
          </p:cNvPr>
          <p:cNvSpPr>
            <a:spLocks noGrp="1"/>
          </p:cNvSpPr>
          <p:nvPr/>
        </p:nvSpPr>
        <p:spPr>
          <a:xfrm>
            <a:off x="12268200" y="6134100"/>
            <a:ext cx="104775" cy="323850"/>
          </a:xfrm>
          <a:prstGeom prst="roundRect">
            <a:avLst>
              <a:gd name="adj" fmla="val 50000"/>
            </a:avLst>
          </a:prstGeom>
          <a:solidFill>
            <a:srgbClr val="F39A8A"/>
          </a:solidFill>
        </p:spPr>
      </p:sp>
      <p:sp>
        <p:nvSpPr>
          <p:cNvPr id="42" name="Hình chữ nhật 41">
            <a:extLst>
              <a:ext uri="{FF2B5EF4-FFF2-40B4-BE49-F238E27FC236}">
                <a16:creationId xmlns:a16="http://schemas.microsoft.com/office/drawing/2014/main" id="{62D69DDA-66AB-4C22-AEB1-42199827EBC5}"/>
              </a:ext>
            </a:extLst>
          </p:cNvPr>
          <p:cNvSpPr>
            <a:spLocks noGrp="1"/>
          </p:cNvSpPr>
          <p:nvPr/>
        </p:nvSpPr>
        <p:spPr>
          <a:xfrm>
            <a:off x="12477750" y="6115050"/>
            <a:ext cx="478155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Dễ kiểm soát</a:t>
            </a:r>
          </a:p>
        </p:txBody>
      </p:sp>
      <p:sp>
        <p:nvSpPr>
          <p:cNvPr id="43" name="Hình chữ nhật 42">
            <a:extLst>
              <a:ext uri="{FF2B5EF4-FFF2-40B4-BE49-F238E27FC236}">
                <a16:creationId xmlns:a16="http://schemas.microsoft.com/office/drawing/2014/main" id="{7F6126CC-C740-4279-8EAD-17ED001B0AF7}"/>
              </a:ext>
            </a:extLst>
          </p:cNvPr>
          <p:cNvSpPr>
            <a:spLocks noGrp="1"/>
          </p:cNvSpPr>
          <p:nvPr/>
        </p:nvSpPr>
        <p:spPr>
          <a:xfrm>
            <a:off x="12287250" y="6553200"/>
            <a:ext cx="4972050" cy="266700"/>
          </a:xfrm>
          <a:prstGeom prst="rect">
            <a:avLst/>
          </a:prstGeom>
        </p:spPr>
        <p:txBody>
          <a:bodyPr lIns="0" tIns="0" rIns="0" bIns="0"/>
          <a:lstStyle/>
          <a:p>
            <a:pPr>
              <a:lnSpc>
                <a:spcPct val="120000"/>
              </a:lnSpc>
              <a:buNone/>
              <a:defRPr sz="1425">
                <a:solidFill>
                  <a:srgbClr val="647067"/>
                </a:solidFill>
              </a:defRPr>
            </a:pPr>
            <a:r>
              <a:rPr sz="1425">
                <a:solidFill>
                  <a:srgbClr val="647067"/>
                </a:solidFill>
              </a:rPr>
              <a:t>Middleware tập trung auth, role, validate, upload và error.</a:t>
            </a:r>
          </a:p>
        </p:txBody>
      </p:sp>
    </p:spTree>
    <p:extLst>
      <p:ext uri="{BB962C8B-B14F-4D97-AF65-F5344CB8AC3E}">
        <p14:creationId xmlns:p14="http://schemas.microsoft.com/office/powerpoint/2010/main" val="17452153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background">
            <a:extLst>
              <a:ext uri="{FF2B5EF4-FFF2-40B4-BE49-F238E27FC236}">
                <a16:creationId xmlns:a16="http://schemas.microsoft.com/office/drawing/2014/main" id="{D9CEF098-C78B-4F3A-9DE7-B9CD2F0E949B}"/>
              </a:ext>
            </a:extLst>
          </p:cNvPr>
          <p:cNvSpPr>
            <a:spLocks noGrp="1"/>
          </p:cNvSpPr>
          <p:nvPr/>
        </p:nvSpPr>
        <p:spPr>
          <a:xfrm>
            <a:off x="0" y="0"/>
            <a:ext cx="18288000" cy="10287000"/>
          </a:xfrm>
          <a:prstGeom prst="rect">
            <a:avLst/>
          </a:prstGeom>
          <a:solidFill>
            <a:srgbClr val="FFFDF8"/>
          </a:solidFill>
        </p:spPr>
      </p:sp>
      <p:sp>
        <p:nvSpPr>
          <p:cNvPr id="2" name="top-band">
            <a:extLst>
              <a:ext uri="{FF2B5EF4-FFF2-40B4-BE49-F238E27FC236}">
                <a16:creationId xmlns:a16="http://schemas.microsoft.com/office/drawing/2014/main" id="{7AC54CF2-6F71-4012-AB59-66682F7EF905}"/>
              </a:ext>
            </a:extLst>
          </p:cNvPr>
          <p:cNvSpPr>
            <a:spLocks noGrp="1"/>
          </p:cNvSpPr>
          <p:nvPr/>
        </p:nvSpPr>
        <p:spPr>
          <a:xfrm>
            <a:off x="0" y="0"/>
            <a:ext cx="18288000" cy="152400"/>
          </a:xfrm>
          <a:prstGeom prst="rect">
            <a:avLst/>
          </a:prstGeom>
          <a:solidFill>
            <a:srgbClr val="7E3D4A"/>
          </a:solidFill>
        </p:spPr>
      </p:sp>
      <p:sp>
        <p:nvSpPr>
          <p:cNvPr id="3" name="bottom-band">
            <a:extLst>
              <a:ext uri="{FF2B5EF4-FFF2-40B4-BE49-F238E27FC236}">
                <a16:creationId xmlns:a16="http://schemas.microsoft.com/office/drawing/2014/main" id="{90CC50FC-9AE2-4F53-B242-393E16F8FEC8}"/>
              </a:ext>
            </a:extLst>
          </p:cNvPr>
          <p:cNvSpPr>
            <a:spLocks noGrp="1"/>
          </p:cNvSpPr>
          <p:nvPr/>
        </p:nvSpPr>
        <p:spPr>
          <a:xfrm>
            <a:off x="0" y="0"/>
            <a:ext cx="18288000" cy="76200"/>
          </a:xfrm>
          <a:prstGeom prst="rect">
            <a:avLst/>
          </a:prstGeom>
          <a:solidFill>
            <a:srgbClr val="D9B760"/>
          </a:solidFill>
        </p:spPr>
      </p:sp>
      <p:sp>
        <p:nvSpPr>
          <p:cNvPr id="4" name="Hình chữ nhật: Góc Tròn 3">
            <a:extLst>
              <a:ext uri="{FF2B5EF4-FFF2-40B4-BE49-F238E27FC236}">
                <a16:creationId xmlns:a16="http://schemas.microsoft.com/office/drawing/2014/main" id="{A4E39CFF-D84B-4F42-96D9-D75CC99D9896}"/>
              </a:ext>
            </a:extLst>
          </p:cNvPr>
          <p:cNvSpPr>
            <a:spLocks noGrp="1"/>
          </p:cNvSpPr>
          <p:nvPr/>
        </p:nvSpPr>
        <p:spPr>
          <a:xfrm>
            <a:off x="838200" y="647700"/>
            <a:ext cx="400050" cy="95250"/>
          </a:xfrm>
          <a:prstGeom prst="roundRect">
            <a:avLst>
              <a:gd name="adj" fmla="val 50000"/>
            </a:avLst>
          </a:prstGeom>
          <a:solidFill>
            <a:srgbClr val="7E3D4A"/>
          </a:solidFill>
        </p:spPr>
      </p:sp>
      <p:sp>
        <p:nvSpPr>
          <p:cNvPr id="5" name="Hình chữ nhật 4">
            <a:extLst>
              <a:ext uri="{FF2B5EF4-FFF2-40B4-BE49-F238E27FC236}">
                <a16:creationId xmlns:a16="http://schemas.microsoft.com/office/drawing/2014/main" id="{A1B3103A-5A54-46AB-B63E-F940A744FE5F}"/>
              </a:ext>
            </a:extLst>
          </p:cNvPr>
          <p:cNvSpPr>
            <a:spLocks noGrp="1"/>
          </p:cNvSpPr>
          <p:nvPr/>
        </p:nvSpPr>
        <p:spPr>
          <a:xfrm>
            <a:off x="1371600" y="571500"/>
            <a:ext cx="15544800" cy="228600"/>
          </a:xfrm>
          <a:prstGeom prst="rect">
            <a:avLst/>
          </a:prstGeom>
        </p:spPr>
        <p:txBody>
          <a:bodyPr lIns="0" tIns="0" rIns="0" bIns="0"/>
          <a:lstStyle/>
          <a:p>
            <a:pPr>
              <a:lnSpc>
                <a:spcPct val="125000"/>
              </a:lnSpc>
              <a:buNone/>
              <a:defRPr sz="1200" b="1">
                <a:solidFill>
                  <a:srgbClr val="7E3D4A"/>
                </a:solidFill>
              </a:defRPr>
            </a:pPr>
            <a:r>
              <a:rPr sz="1200" b="1">
                <a:solidFill>
                  <a:srgbClr val="7E3D4A"/>
                </a:solidFill>
              </a:rPr>
              <a:t>API</a:t>
            </a:r>
          </a:p>
        </p:txBody>
      </p:sp>
      <p:sp>
        <p:nvSpPr>
          <p:cNvPr id="6" name="Hình chữ nhật 5">
            <a:extLst>
              <a:ext uri="{FF2B5EF4-FFF2-40B4-BE49-F238E27FC236}">
                <a16:creationId xmlns:a16="http://schemas.microsoft.com/office/drawing/2014/main" id="{8CFA5218-1D1A-47E3-BCB2-F262AF1C9E94}"/>
              </a:ext>
            </a:extLst>
          </p:cNvPr>
          <p:cNvSpPr>
            <a:spLocks noGrp="1"/>
          </p:cNvSpPr>
          <p:nvPr/>
        </p:nvSpPr>
        <p:spPr>
          <a:xfrm>
            <a:off x="17068800" y="571500"/>
            <a:ext cx="400050" cy="228600"/>
          </a:xfrm>
          <a:prstGeom prst="rect">
            <a:avLst/>
          </a:prstGeom>
        </p:spPr>
        <p:txBody>
          <a:bodyPr lIns="0" tIns="0" rIns="0" bIns="0"/>
          <a:lstStyle/>
          <a:p>
            <a:pPr>
              <a:lnSpc>
                <a:spcPct val="120000"/>
              </a:lnSpc>
              <a:buNone/>
              <a:defRPr sz="1275" b="1">
                <a:solidFill>
                  <a:srgbClr val="7E3D4A"/>
                </a:solidFill>
              </a:defRPr>
            </a:pPr>
            <a:r>
              <a:rPr sz="1275" b="1">
                <a:solidFill>
                  <a:srgbClr val="7E3D4A"/>
                </a:solidFill>
              </a:rPr>
              <a:t>14/30</a:t>
            </a:r>
          </a:p>
        </p:txBody>
      </p:sp>
      <p:sp>
        <p:nvSpPr>
          <p:cNvPr id="7" name="slide-title">
            <a:extLst>
              <a:ext uri="{FF2B5EF4-FFF2-40B4-BE49-F238E27FC236}">
                <a16:creationId xmlns:a16="http://schemas.microsoft.com/office/drawing/2014/main" id="{7E9022E0-F535-464A-941B-6BBBDEB93342}"/>
              </a:ext>
            </a:extLst>
          </p:cNvPr>
          <p:cNvSpPr>
            <a:spLocks noGrp="1"/>
          </p:cNvSpPr>
          <p:nvPr/>
        </p:nvSpPr>
        <p:spPr>
          <a:xfrm>
            <a:off x="819150" y="933450"/>
            <a:ext cx="16649700" cy="590550"/>
          </a:xfrm>
          <a:prstGeom prst="rect">
            <a:avLst/>
          </a:prstGeom>
        </p:spPr>
        <p:txBody>
          <a:bodyPr lIns="0" tIns="0" rIns="0" bIns="0"/>
          <a:lstStyle/>
          <a:p>
            <a:pPr>
              <a:lnSpc>
                <a:spcPct val="105000"/>
              </a:lnSpc>
              <a:buNone/>
              <a:defRPr sz="3600" b="1">
                <a:solidFill>
                  <a:srgbClr val="151515"/>
                </a:solidFill>
              </a:defRPr>
            </a:pPr>
            <a:r>
              <a:rPr sz="3600" b="1">
                <a:solidFill>
                  <a:srgbClr val="151515"/>
                </a:solidFill>
              </a:rPr>
              <a:t>Các nhóm endpoint chính phục vụ hành trình mua hàng</a:t>
            </a:r>
          </a:p>
        </p:txBody>
      </p:sp>
      <p:sp>
        <p:nvSpPr>
          <p:cNvPr id="8" name="title-rule">
            <a:extLst>
              <a:ext uri="{FF2B5EF4-FFF2-40B4-BE49-F238E27FC236}">
                <a16:creationId xmlns:a16="http://schemas.microsoft.com/office/drawing/2014/main" id="{E93FE731-E70E-4FB4-BB60-B7EA633A4D39}"/>
              </a:ext>
            </a:extLst>
          </p:cNvPr>
          <p:cNvSpPr>
            <a:spLocks noGrp="1"/>
          </p:cNvSpPr>
          <p:nvPr/>
        </p:nvSpPr>
        <p:spPr>
          <a:xfrm>
            <a:off x="819150" y="1619250"/>
            <a:ext cx="1905000" cy="38100"/>
          </a:xfrm>
          <a:prstGeom prst="rect">
            <a:avLst/>
          </a:prstGeom>
          <a:solidFill>
            <a:srgbClr val="7E3D4A"/>
          </a:solidFill>
          <a:ln w="0">
            <a:solidFill>
              <a:srgbClr val="7E3D4A"/>
            </a:solidFill>
            <a:prstDash val="solid"/>
          </a:ln>
        </p:spPr>
      </p:sp>
      <p:sp>
        <p:nvSpPr>
          <p:cNvPr id="9" name="Hình chữ nhật 8">
            <a:extLst>
              <a:ext uri="{FF2B5EF4-FFF2-40B4-BE49-F238E27FC236}">
                <a16:creationId xmlns:a16="http://schemas.microsoft.com/office/drawing/2014/main" id="{DE64F9A3-BDC8-4B76-A8EC-F14D44906E7D}"/>
              </a:ext>
            </a:extLst>
          </p:cNvPr>
          <p:cNvSpPr>
            <a:spLocks noGrp="1"/>
          </p:cNvSpPr>
          <p:nvPr/>
        </p:nvSpPr>
        <p:spPr>
          <a:xfrm>
            <a:off x="819150" y="1933194"/>
            <a:ext cx="3517542" cy="436893"/>
          </a:xfrm>
          <a:prstGeom prst="rect">
            <a:avLst/>
          </a:prstGeom>
          <a:solidFill>
            <a:srgbClr val="DDF4EB"/>
          </a:solidFill>
          <a:ln w="9525">
            <a:solidFill>
              <a:srgbClr val="E8DDCF"/>
            </a:solidFill>
            <a:prstDash val="solid"/>
          </a:ln>
        </p:spPr>
      </p:sp>
      <p:sp>
        <p:nvSpPr>
          <p:cNvPr id="10" name="Hình chữ nhật 9">
            <a:extLst>
              <a:ext uri="{FF2B5EF4-FFF2-40B4-BE49-F238E27FC236}">
                <a16:creationId xmlns:a16="http://schemas.microsoft.com/office/drawing/2014/main" id="{7ECB9CBC-D2A0-45B2-9E1A-06046483DE4F}"/>
              </a:ext>
            </a:extLst>
          </p:cNvPr>
          <p:cNvSpPr>
            <a:spLocks noGrp="1"/>
          </p:cNvSpPr>
          <p:nvPr/>
        </p:nvSpPr>
        <p:spPr>
          <a:xfrm>
            <a:off x="952500" y="2038350"/>
            <a:ext cx="3276600" cy="228600"/>
          </a:xfrm>
          <a:prstGeom prst="rect">
            <a:avLst/>
          </a:prstGeom>
        </p:spPr>
        <p:txBody>
          <a:bodyPr lIns="0" tIns="0" rIns="0" bIns="0"/>
          <a:lstStyle/>
          <a:p>
            <a:pPr>
              <a:lnSpc>
                <a:spcPct val="117000"/>
              </a:lnSpc>
              <a:buNone/>
              <a:defRPr sz="1275" b="1">
                <a:solidFill>
                  <a:srgbClr val="25384A"/>
                </a:solidFill>
              </a:defRPr>
            </a:pPr>
            <a:r>
              <a:rPr sz="1275" b="1">
                <a:solidFill>
                  <a:srgbClr val="25384A"/>
                </a:solidFill>
              </a:rPr>
              <a:t>Module</a:t>
            </a:r>
          </a:p>
        </p:txBody>
      </p:sp>
      <p:sp>
        <p:nvSpPr>
          <p:cNvPr id="11" name="Hình chữ nhật 10">
            <a:extLst>
              <a:ext uri="{FF2B5EF4-FFF2-40B4-BE49-F238E27FC236}">
                <a16:creationId xmlns:a16="http://schemas.microsoft.com/office/drawing/2014/main" id="{AAB39D91-CE80-49E8-A5A2-6092C0ABDD38}"/>
              </a:ext>
            </a:extLst>
          </p:cNvPr>
          <p:cNvSpPr>
            <a:spLocks noGrp="1"/>
          </p:cNvSpPr>
          <p:nvPr/>
        </p:nvSpPr>
        <p:spPr>
          <a:xfrm>
            <a:off x="4336692" y="1933194"/>
            <a:ext cx="5862570" cy="436893"/>
          </a:xfrm>
          <a:prstGeom prst="rect">
            <a:avLst/>
          </a:prstGeom>
          <a:solidFill>
            <a:srgbClr val="DDF4EB"/>
          </a:solidFill>
          <a:ln w="9525">
            <a:solidFill>
              <a:srgbClr val="E8DDCF"/>
            </a:solidFill>
            <a:prstDash val="solid"/>
          </a:ln>
        </p:spPr>
      </p:sp>
      <p:sp>
        <p:nvSpPr>
          <p:cNvPr id="12" name="Hình chữ nhật 11">
            <a:extLst>
              <a:ext uri="{FF2B5EF4-FFF2-40B4-BE49-F238E27FC236}">
                <a16:creationId xmlns:a16="http://schemas.microsoft.com/office/drawing/2014/main" id="{1B6F041F-333B-4FD5-8A22-82914524F4E5}"/>
              </a:ext>
            </a:extLst>
          </p:cNvPr>
          <p:cNvSpPr>
            <a:spLocks noGrp="1"/>
          </p:cNvSpPr>
          <p:nvPr/>
        </p:nvSpPr>
        <p:spPr>
          <a:xfrm>
            <a:off x="4457700" y="2038350"/>
            <a:ext cx="5619750" cy="228600"/>
          </a:xfrm>
          <a:prstGeom prst="rect">
            <a:avLst/>
          </a:prstGeom>
        </p:spPr>
        <p:txBody>
          <a:bodyPr lIns="0" tIns="0" rIns="0" bIns="0"/>
          <a:lstStyle/>
          <a:p>
            <a:pPr>
              <a:lnSpc>
                <a:spcPct val="117000"/>
              </a:lnSpc>
              <a:buNone/>
              <a:defRPr sz="1275" b="1">
                <a:solidFill>
                  <a:srgbClr val="25384A"/>
                </a:solidFill>
              </a:defRPr>
            </a:pPr>
            <a:r>
              <a:rPr sz="1275" b="1">
                <a:solidFill>
                  <a:srgbClr val="25384A"/>
                </a:solidFill>
              </a:rPr>
              <a:t>Endpoint nhóm</a:t>
            </a:r>
          </a:p>
        </p:txBody>
      </p:sp>
      <p:sp>
        <p:nvSpPr>
          <p:cNvPr id="13" name="Hình chữ nhật 12">
            <a:extLst>
              <a:ext uri="{FF2B5EF4-FFF2-40B4-BE49-F238E27FC236}">
                <a16:creationId xmlns:a16="http://schemas.microsoft.com/office/drawing/2014/main" id="{2046DF87-BD88-48F9-B119-A074660EC255}"/>
              </a:ext>
            </a:extLst>
          </p:cNvPr>
          <p:cNvSpPr>
            <a:spLocks noGrp="1"/>
          </p:cNvSpPr>
          <p:nvPr/>
        </p:nvSpPr>
        <p:spPr>
          <a:xfrm>
            <a:off x="10199263" y="1933194"/>
            <a:ext cx="7269587" cy="436893"/>
          </a:xfrm>
          <a:prstGeom prst="rect">
            <a:avLst/>
          </a:prstGeom>
          <a:solidFill>
            <a:srgbClr val="DDF4EB"/>
          </a:solidFill>
          <a:ln w="9525">
            <a:solidFill>
              <a:srgbClr val="E8DDCF"/>
            </a:solidFill>
            <a:prstDash val="solid"/>
          </a:ln>
        </p:spPr>
      </p:sp>
      <p:sp>
        <p:nvSpPr>
          <p:cNvPr id="14" name="Hình chữ nhật 13">
            <a:extLst>
              <a:ext uri="{FF2B5EF4-FFF2-40B4-BE49-F238E27FC236}">
                <a16:creationId xmlns:a16="http://schemas.microsoft.com/office/drawing/2014/main" id="{CE6AC690-B6E2-4C91-8FA2-061468A081EB}"/>
              </a:ext>
            </a:extLst>
          </p:cNvPr>
          <p:cNvSpPr>
            <a:spLocks noGrp="1"/>
          </p:cNvSpPr>
          <p:nvPr/>
        </p:nvSpPr>
        <p:spPr>
          <a:xfrm>
            <a:off x="10325100" y="2038350"/>
            <a:ext cx="7029450" cy="228600"/>
          </a:xfrm>
          <a:prstGeom prst="rect">
            <a:avLst/>
          </a:prstGeom>
        </p:spPr>
        <p:txBody>
          <a:bodyPr lIns="0" tIns="0" rIns="0" bIns="0"/>
          <a:lstStyle/>
          <a:p>
            <a:pPr>
              <a:lnSpc>
                <a:spcPct val="117000"/>
              </a:lnSpc>
              <a:buNone/>
              <a:defRPr sz="1275" b="1">
                <a:solidFill>
                  <a:srgbClr val="25384A"/>
                </a:solidFill>
              </a:defRPr>
            </a:pPr>
            <a:r>
              <a:rPr sz="1275" b="1">
                <a:solidFill>
                  <a:srgbClr val="25384A"/>
                </a:solidFill>
              </a:rPr>
              <a:t>Chức năng</a:t>
            </a:r>
          </a:p>
        </p:txBody>
      </p:sp>
      <p:sp>
        <p:nvSpPr>
          <p:cNvPr id="15" name="Hình chữ nhật 14">
            <a:extLst>
              <a:ext uri="{FF2B5EF4-FFF2-40B4-BE49-F238E27FC236}">
                <a16:creationId xmlns:a16="http://schemas.microsoft.com/office/drawing/2014/main" id="{798775A0-BA5C-420D-9966-6951665A9E49}"/>
              </a:ext>
            </a:extLst>
          </p:cNvPr>
          <p:cNvSpPr>
            <a:spLocks noGrp="1"/>
          </p:cNvSpPr>
          <p:nvPr/>
        </p:nvSpPr>
        <p:spPr>
          <a:xfrm>
            <a:off x="819150" y="2370087"/>
            <a:ext cx="3517542" cy="436893"/>
          </a:xfrm>
          <a:prstGeom prst="rect">
            <a:avLst/>
          </a:prstGeom>
          <a:solidFill>
            <a:srgbClr val="FFFFFF"/>
          </a:solidFill>
          <a:ln w="9525">
            <a:solidFill>
              <a:srgbClr val="E8DDCF"/>
            </a:solidFill>
            <a:prstDash val="solid"/>
          </a:ln>
        </p:spPr>
      </p:sp>
      <p:sp>
        <p:nvSpPr>
          <p:cNvPr id="16" name="Hình chữ nhật 15">
            <a:extLst>
              <a:ext uri="{FF2B5EF4-FFF2-40B4-BE49-F238E27FC236}">
                <a16:creationId xmlns:a16="http://schemas.microsoft.com/office/drawing/2014/main" id="{62EC5B98-29FD-499C-9D58-AA199C1A26C7}"/>
              </a:ext>
            </a:extLst>
          </p:cNvPr>
          <p:cNvSpPr>
            <a:spLocks noGrp="1"/>
          </p:cNvSpPr>
          <p:nvPr/>
        </p:nvSpPr>
        <p:spPr>
          <a:xfrm>
            <a:off x="952500" y="2476500"/>
            <a:ext cx="3276600" cy="228600"/>
          </a:xfrm>
          <a:prstGeom prst="rect">
            <a:avLst/>
          </a:prstGeom>
        </p:spPr>
        <p:txBody>
          <a:bodyPr lIns="0" tIns="0" rIns="0" bIns="0"/>
          <a:lstStyle/>
          <a:p>
            <a:pPr>
              <a:lnSpc>
                <a:spcPct val="117000"/>
              </a:lnSpc>
              <a:buNone/>
              <a:defRPr sz="1275" b="0">
                <a:solidFill>
                  <a:srgbClr val="151515"/>
                </a:solidFill>
              </a:defRPr>
            </a:pPr>
            <a:r>
              <a:rPr sz="1275" b="0">
                <a:solidFill>
                  <a:srgbClr val="151515"/>
                </a:solidFill>
              </a:rPr>
              <a:t>Auth</a:t>
            </a:r>
          </a:p>
        </p:txBody>
      </p:sp>
      <p:sp>
        <p:nvSpPr>
          <p:cNvPr id="17" name="Hình chữ nhật 16">
            <a:extLst>
              <a:ext uri="{FF2B5EF4-FFF2-40B4-BE49-F238E27FC236}">
                <a16:creationId xmlns:a16="http://schemas.microsoft.com/office/drawing/2014/main" id="{EAACEBCD-933C-491F-B8FE-B5C48DCD0458}"/>
              </a:ext>
            </a:extLst>
          </p:cNvPr>
          <p:cNvSpPr>
            <a:spLocks noGrp="1"/>
          </p:cNvSpPr>
          <p:nvPr/>
        </p:nvSpPr>
        <p:spPr>
          <a:xfrm>
            <a:off x="4336692" y="2370087"/>
            <a:ext cx="5862570" cy="436893"/>
          </a:xfrm>
          <a:prstGeom prst="rect">
            <a:avLst/>
          </a:prstGeom>
          <a:solidFill>
            <a:srgbClr val="FFFFFF"/>
          </a:solidFill>
          <a:ln w="9525">
            <a:solidFill>
              <a:srgbClr val="E8DDCF"/>
            </a:solidFill>
            <a:prstDash val="solid"/>
          </a:ln>
        </p:spPr>
      </p:sp>
      <p:sp>
        <p:nvSpPr>
          <p:cNvPr id="18" name="Hình chữ nhật 17">
            <a:extLst>
              <a:ext uri="{FF2B5EF4-FFF2-40B4-BE49-F238E27FC236}">
                <a16:creationId xmlns:a16="http://schemas.microsoft.com/office/drawing/2014/main" id="{09D15335-9283-4D93-95A5-D137B6401026}"/>
              </a:ext>
            </a:extLst>
          </p:cNvPr>
          <p:cNvSpPr>
            <a:spLocks noGrp="1"/>
          </p:cNvSpPr>
          <p:nvPr/>
        </p:nvSpPr>
        <p:spPr>
          <a:xfrm>
            <a:off x="4457700" y="2476500"/>
            <a:ext cx="5619750" cy="228600"/>
          </a:xfrm>
          <a:prstGeom prst="rect">
            <a:avLst/>
          </a:prstGeom>
        </p:spPr>
        <p:txBody>
          <a:bodyPr lIns="0" tIns="0" rIns="0" bIns="0"/>
          <a:lstStyle/>
          <a:p>
            <a:pPr>
              <a:lnSpc>
                <a:spcPct val="117000"/>
              </a:lnSpc>
              <a:buNone/>
              <a:defRPr sz="1275" b="0">
                <a:solidFill>
                  <a:srgbClr val="151515"/>
                </a:solidFill>
              </a:defRPr>
            </a:pPr>
            <a:r>
              <a:rPr sz="1275" b="0">
                <a:solidFill>
                  <a:srgbClr val="151515"/>
                </a:solidFill>
              </a:rPr>
              <a:t>/api/v1/auth/*</a:t>
            </a:r>
          </a:p>
        </p:txBody>
      </p:sp>
      <p:sp>
        <p:nvSpPr>
          <p:cNvPr id="19" name="Hình chữ nhật 18">
            <a:extLst>
              <a:ext uri="{FF2B5EF4-FFF2-40B4-BE49-F238E27FC236}">
                <a16:creationId xmlns:a16="http://schemas.microsoft.com/office/drawing/2014/main" id="{90E4E5AC-3E05-4503-9F6B-454F2426576D}"/>
              </a:ext>
            </a:extLst>
          </p:cNvPr>
          <p:cNvSpPr>
            <a:spLocks noGrp="1"/>
          </p:cNvSpPr>
          <p:nvPr/>
        </p:nvSpPr>
        <p:spPr>
          <a:xfrm>
            <a:off x="10199263" y="2370087"/>
            <a:ext cx="7269587" cy="436893"/>
          </a:xfrm>
          <a:prstGeom prst="rect">
            <a:avLst/>
          </a:prstGeom>
          <a:solidFill>
            <a:srgbClr val="FFFFFF"/>
          </a:solidFill>
          <a:ln w="9525">
            <a:solidFill>
              <a:srgbClr val="E8DDCF"/>
            </a:solidFill>
            <a:prstDash val="solid"/>
          </a:ln>
        </p:spPr>
      </p:sp>
      <p:sp>
        <p:nvSpPr>
          <p:cNvPr id="20" name="Hình chữ nhật 19">
            <a:extLst>
              <a:ext uri="{FF2B5EF4-FFF2-40B4-BE49-F238E27FC236}">
                <a16:creationId xmlns:a16="http://schemas.microsoft.com/office/drawing/2014/main" id="{0A5774E9-E8D7-4937-B50A-DB0AADCDCB84}"/>
              </a:ext>
            </a:extLst>
          </p:cNvPr>
          <p:cNvSpPr>
            <a:spLocks noGrp="1"/>
          </p:cNvSpPr>
          <p:nvPr/>
        </p:nvSpPr>
        <p:spPr>
          <a:xfrm>
            <a:off x="10325100" y="2476500"/>
            <a:ext cx="7029450" cy="228600"/>
          </a:xfrm>
          <a:prstGeom prst="rect">
            <a:avLst/>
          </a:prstGeom>
        </p:spPr>
        <p:txBody>
          <a:bodyPr lIns="0" tIns="0" rIns="0" bIns="0"/>
          <a:lstStyle/>
          <a:p>
            <a:pPr>
              <a:lnSpc>
                <a:spcPct val="117000"/>
              </a:lnSpc>
              <a:buNone/>
              <a:defRPr sz="1275" b="0">
                <a:solidFill>
                  <a:srgbClr val="151515"/>
                </a:solidFill>
              </a:defRPr>
            </a:pPr>
            <a:r>
              <a:rPr sz="1275" b="0">
                <a:solidFill>
                  <a:srgbClr val="151515"/>
                </a:solidFill>
              </a:rPr>
              <a:t>Register, OTP, login, OAuth, profile, forgot/reset password</a:t>
            </a:r>
          </a:p>
        </p:txBody>
      </p:sp>
      <p:sp>
        <p:nvSpPr>
          <p:cNvPr id="21" name="Hình chữ nhật 20">
            <a:extLst>
              <a:ext uri="{FF2B5EF4-FFF2-40B4-BE49-F238E27FC236}">
                <a16:creationId xmlns:a16="http://schemas.microsoft.com/office/drawing/2014/main" id="{6A0B13B7-E19C-4372-A767-9456A66DB9A3}"/>
              </a:ext>
            </a:extLst>
          </p:cNvPr>
          <p:cNvSpPr>
            <a:spLocks noGrp="1"/>
          </p:cNvSpPr>
          <p:nvPr/>
        </p:nvSpPr>
        <p:spPr>
          <a:xfrm>
            <a:off x="819150" y="2806979"/>
            <a:ext cx="3517542" cy="436893"/>
          </a:xfrm>
          <a:prstGeom prst="rect">
            <a:avLst/>
          </a:prstGeom>
          <a:solidFill>
            <a:srgbClr val="FBF6EE"/>
          </a:solidFill>
          <a:ln w="9525">
            <a:solidFill>
              <a:srgbClr val="E8DDCF"/>
            </a:solidFill>
            <a:prstDash val="solid"/>
          </a:ln>
        </p:spPr>
      </p:sp>
      <p:sp>
        <p:nvSpPr>
          <p:cNvPr id="22" name="Hình chữ nhật 21">
            <a:extLst>
              <a:ext uri="{FF2B5EF4-FFF2-40B4-BE49-F238E27FC236}">
                <a16:creationId xmlns:a16="http://schemas.microsoft.com/office/drawing/2014/main" id="{525D1761-D170-4ACE-9DF9-6E0C9680F42C}"/>
              </a:ext>
            </a:extLst>
          </p:cNvPr>
          <p:cNvSpPr>
            <a:spLocks noGrp="1"/>
          </p:cNvSpPr>
          <p:nvPr/>
        </p:nvSpPr>
        <p:spPr>
          <a:xfrm>
            <a:off x="952500" y="2914650"/>
            <a:ext cx="3276600" cy="228600"/>
          </a:xfrm>
          <a:prstGeom prst="rect">
            <a:avLst/>
          </a:prstGeom>
        </p:spPr>
        <p:txBody>
          <a:bodyPr lIns="0" tIns="0" rIns="0" bIns="0"/>
          <a:lstStyle/>
          <a:p>
            <a:pPr>
              <a:lnSpc>
                <a:spcPct val="117000"/>
              </a:lnSpc>
              <a:buNone/>
              <a:defRPr sz="1275" b="0">
                <a:solidFill>
                  <a:srgbClr val="151515"/>
                </a:solidFill>
              </a:defRPr>
            </a:pPr>
            <a:r>
              <a:rPr sz="1275" b="0">
                <a:solidFill>
                  <a:srgbClr val="151515"/>
                </a:solidFill>
              </a:rPr>
              <a:t>Products</a:t>
            </a:r>
          </a:p>
        </p:txBody>
      </p:sp>
      <p:sp>
        <p:nvSpPr>
          <p:cNvPr id="23" name="Hình chữ nhật 22">
            <a:extLst>
              <a:ext uri="{FF2B5EF4-FFF2-40B4-BE49-F238E27FC236}">
                <a16:creationId xmlns:a16="http://schemas.microsoft.com/office/drawing/2014/main" id="{F3A42F83-9280-4913-AC3F-02F452EA9A7F}"/>
              </a:ext>
            </a:extLst>
          </p:cNvPr>
          <p:cNvSpPr>
            <a:spLocks noGrp="1"/>
          </p:cNvSpPr>
          <p:nvPr/>
        </p:nvSpPr>
        <p:spPr>
          <a:xfrm>
            <a:off x="4336692" y="2806979"/>
            <a:ext cx="5862570" cy="436893"/>
          </a:xfrm>
          <a:prstGeom prst="rect">
            <a:avLst/>
          </a:prstGeom>
          <a:solidFill>
            <a:srgbClr val="FBF6EE"/>
          </a:solidFill>
          <a:ln w="9525">
            <a:solidFill>
              <a:srgbClr val="E8DDCF"/>
            </a:solidFill>
            <a:prstDash val="solid"/>
          </a:ln>
        </p:spPr>
      </p:sp>
      <p:sp>
        <p:nvSpPr>
          <p:cNvPr id="24" name="Hình chữ nhật 23">
            <a:extLst>
              <a:ext uri="{FF2B5EF4-FFF2-40B4-BE49-F238E27FC236}">
                <a16:creationId xmlns:a16="http://schemas.microsoft.com/office/drawing/2014/main" id="{C1133B26-B40B-4172-AD8C-343D49848B44}"/>
              </a:ext>
            </a:extLst>
          </p:cNvPr>
          <p:cNvSpPr>
            <a:spLocks noGrp="1"/>
          </p:cNvSpPr>
          <p:nvPr/>
        </p:nvSpPr>
        <p:spPr>
          <a:xfrm>
            <a:off x="4457700" y="2914650"/>
            <a:ext cx="5619750" cy="228600"/>
          </a:xfrm>
          <a:prstGeom prst="rect">
            <a:avLst/>
          </a:prstGeom>
        </p:spPr>
        <p:txBody>
          <a:bodyPr lIns="0" tIns="0" rIns="0" bIns="0"/>
          <a:lstStyle/>
          <a:p>
            <a:pPr>
              <a:lnSpc>
                <a:spcPct val="117000"/>
              </a:lnSpc>
              <a:buNone/>
              <a:defRPr sz="1275" b="0">
                <a:solidFill>
                  <a:srgbClr val="151515"/>
                </a:solidFill>
              </a:defRPr>
            </a:pPr>
            <a:r>
              <a:rPr sz="1275" b="0">
                <a:solidFill>
                  <a:srgbClr val="151515"/>
                </a:solidFill>
              </a:rPr>
              <a:t>/api/v1/products/*</a:t>
            </a:r>
          </a:p>
        </p:txBody>
      </p:sp>
      <p:sp>
        <p:nvSpPr>
          <p:cNvPr id="25" name="Hình chữ nhật 24">
            <a:extLst>
              <a:ext uri="{FF2B5EF4-FFF2-40B4-BE49-F238E27FC236}">
                <a16:creationId xmlns:a16="http://schemas.microsoft.com/office/drawing/2014/main" id="{88E2795F-8976-429B-BE37-096F7A41E666}"/>
              </a:ext>
            </a:extLst>
          </p:cNvPr>
          <p:cNvSpPr>
            <a:spLocks noGrp="1"/>
          </p:cNvSpPr>
          <p:nvPr/>
        </p:nvSpPr>
        <p:spPr>
          <a:xfrm>
            <a:off x="10199263" y="2806979"/>
            <a:ext cx="7269587" cy="436893"/>
          </a:xfrm>
          <a:prstGeom prst="rect">
            <a:avLst/>
          </a:prstGeom>
          <a:solidFill>
            <a:srgbClr val="FBF6EE"/>
          </a:solidFill>
          <a:ln w="9525">
            <a:solidFill>
              <a:srgbClr val="E8DDCF"/>
            </a:solidFill>
            <a:prstDash val="solid"/>
          </a:ln>
        </p:spPr>
      </p:sp>
      <p:sp>
        <p:nvSpPr>
          <p:cNvPr id="26" name="Hình chữ nhật 25">
            <a:extLst>
              <a:ext uri="{FF2B5EF4-FFF2-40B4-BE49-F238E27FC236}">
                <a16:creationId xmlns:a16="http://schemas.microsoft.com/office/drawing/2014/main" id="{4DA62B83-89F6-445D-A3AD-36CC66261161}"/>
              </a:ext>
            </a:extLst>
          </p:cNvPr>
          <p:cNvSpPr>
            <a:spLocks noGrp="1"/>
          </p:cNvSpPr>
          <p:nvPr/>
        </p:nvSpPr>
        <p:spPr>
          <a:xfrm>
            <a:off x="10325100" y="2914650"/>
            <a:ext cx="7029450" cy="228600"/>
          </a:xfrm>
          <a:prstGeom prst="rect">
            <a:avLst/>
          </a:prstGeom>
        </p:spPr>
        <p:txBody>
          <a:bodyPr lIns="0" tIns="0" rIns="0" bIns="0"/>
          <a:lstStyle/>
          <a:p>
            <a:pPr>
              <a:lnSpc>
                <a:spcPct val="117000"/>
              </a:lnSpc>
              <a:buNone/>
              <a:defRPr sz="1275" b="0">
                <a:solidFill>
                  <a:srgbClr val="151515"/>
                </a:solidFill>
              </a:defRPr>
            </a:pPr>
            <a:r>
              <a:rPr sz="1275" b="0">
                <a:solidFill>
                  <a:srgbClr val="151515"/>
                </a:solidFill>
              </a:rPr>
              <a:t>List, detail, featured, new arrivals, sale, related, review</a:t>
            </a:r>
          </a:p>
        </p:txBody>
      </p:sp>
      <p:sp>
        <p:nvSpPr>
          <p:cNvPr id="27" name="Hình chữ nhật 26">
            <a:extLst>
              <a:ext uri="{FF2B5EF4-FFF2-40B4-BE49-F238E27FC236}">
                <a16:creationId xmlns:a16="http://schemas.microsoft.com/office/drawing/2014/main" id="{991FBBE1-ADBD-4C55-A820-4C3D4E4A5833}"/>
              </a:ext>
            </a:extLst>
          </p:cNvPr>
          <p:cNvSpPr>
            <a:spLocks noGrp="1"/>
          </p:cNvSpPr>
          <p:nvPr/>
        </p:nvSpPr>
        <p:spPr>
          <a:xfrm>
            <a:off x="819150" y="3243872"/>
            <a:ext cx="3517542" cy="436893"/>
          </a:xfrm>
          <a:prstGeom prst="rect">
            <a:avLst/>
          </a:prstGeom>
          <a:solidFill>
            <a:srgbClr val="FFFFFF"/>
          </a:solidFill>
          <a:ln w="9525">
            <a:solidFill>
              <a:srgbClr val="E8DDCF"/>
            </a:solidFill>
            <a:prstDash val="solid"/>
          </a:ln>
        </p:spPr>
      </p:sp>
      <p:sp>
        <p:nvSpPr>
          <p:cNvPr id="28" name="Hình chữ nhật 27">
            <a:extLst>
              <a:ext uri="{FF2B5EF4-FFF2-40B4-BE49-F238E27FC236}">
                <a16:creationId xmlns:a16="http://schemas.microsoft.com/office/drawing/2014/main" id="{B562426F-EEC5-49AC-AC5B-71271438D879}"/>
              </a:ext>
            </a:extLst>
          </p:cNvPr>
          <p:cNvSpPr>
            <a:spLocks noGrp="1"/>
          </p:cNvSpPr>
          <p:nvPr/>
        </p:nvSpPr>
        <p:spPr>
          <a:xfrm>
            <a:off x="952500" y="3352800"/>
            <a:ext cx="3276600" cy="228600"/>
          </a:xfrm>
          <a:prstGeom prst="rect">
            <a:avLst/>
          </a:prstGeom>
        </p:spPr>
        <p:txBody>
          <a:bodyPr lIns="0" tIns="0" rIns="0" bIns="0"/>
          <a:lstStyle/>
          <a:p>
            <a:pPr>
              <a:lnSpc>
                <a:spcPct val="117000"/>
              </a:lnSpc>
              <a:buNone/>
              <a:defRPr sz="1275" b="0">
                <a:solidFill>
                  <a:srgbClr val="151515"/>
                </a:solidFill>
              </a:defRPr>
            </a:pPr>
            <a:r>
              <a:rPr sz="1275" b="0">
                <a:solidFill>
                  <a:srgbClr val="151515"/>
                </a:solidFill>
              </a:rPr>
              <a:t>Orders / Payments</a:t>
            </a:r>
          </a:p>
        </p:txBody>
      </p:sp>
      <p:sp>
        <p:nvSpPr>
          <p:cNvPr id="29" name="Hình chữ nhật 28">
            <a:extLst>
              <a:ext uri="{FF2B5EF4-FFF2-40B4-BE49-F238E27FC236}">
                <a16:creationId xmlns:a16="http://schemas.microsoft.com/office/drawing/2014/main" id="{C6C592E5-25DA-4214-8F3A-F1987877D14D}"/>
              </a:ext>
            </a:extLst>
          </p:cNvPr>
          <p:cNvSpPr>
            <a:spLocks noGrp="1"/>
          </p:cNvSpPr>
          <p:nvPr/>
        </p:nvSpPr>
        <p:spPr>
          <a:xfrm>
            <a:off x="4336692" y="3243872"/>
            <a:ext cx="5862570" cy="436893"/>
          </a:xfrm>
          <a:prstGeom prst="rect">
            <a:avLst/>
          </a:prstGeom>
          <a:solidFill>
            <a:srgbClr val="FFFFFF"/>
          </a:solidFill>
          <a:ln w="9525">
            <a:solidFill>
              <a:srgbClr val="E8DDCF"/>
            </a:solidFill>
            <a:prstDash val="solid"/>
          </a:ln>
        </p:spPr>
      </p:sp>
      <p:sp>
        <p:nvSpPr>
          <p:cNvPr id="30" name="Hình chữ nhật 29">
            <a:extLst>
              <a:ext uri="{FF2B5EF4-FFF2-40B4-BE49-F238E27FC236}">
                <a16:creationId xmlns:a16="http://schemas.microsoft.com/office/drawing/2014/main" id="{774C7F08-EC0F-452F-9E8D-41174FBDB22B}"/>
              </a:ext>
            </a:extLst>
          </p:cNvPr>
          <p:cNvSpPr>
            <a:spLocks noGrp="1"/>
          </p:cNvSpPr>
          <p:nvPr/>
        </p:nvSpPr>
        <p:spPr>
          <a:xfrm>
            <a:off x="4457700" y="3352800"/>
            <a:ext cx="5619750" cy="228600"/>
          </a:xfrm>
          <a:prstGeom prst="rect">
            <a:avLst/>
          </a:prstGeom>
        </p:spPr>
        <p:txBody>
          <a:bodyPr lIns="0" tIns="0" rIns="0" bIns="0"/>
          <a:lstStyle/>
          <a:p>
            <a:pPr>
              <a:lnSpc>
                <a:spcPct val="117000"/>
              </a:lnSpc>
              <a:buNone/>
              <a:defRPr sz="1275" b="0">
                <a:solidFill>
                  <a:srgbClr val="151515"/>
                </a:solidFill>
              </a:defRPr>
            </a:pPr>
            <a:r>
              <a:rPr sz="1275" b="0">
                <a:solidFill>
                  <a:srgbClr val="151515"/>
                </a:solidFill>
              </a:rPr>
              <a:t>/api/v1/orders/* + /payments/*</a:t>
            </a:r>
          </a:p>
        </p:txBody>
      </p:sp>
      <p:sp>
        <p:nvSpPr>
          <p:cNvPr id="31" name="Hình chữ nhật 30">
            <a:extLst>
              <a:ext uri="{FF2B5EF4-FFF2-40B4-BE49-F238E27FC236}">
                <a16:creationId xmlns:a16="http://schemas.microsoft.com/office/drawing/2014/main" id="{D9FC5451-E862-48B5-A22A-DCF5A88EE0F3}"/>
              </a:ext>
            </a:extLst>
          </p:cNvPr>
          <p:cNvSpPr>
            <a:spLocks noGrp="1"/>
          </p:cNvSpPr>
          <p:nvPr/>
        </p:nvSpPr>
        <p:spPr>
          <a:xfrm>
            <a:off x="10199263" y="3243872"/>
            <a:ext cx="7269587" cy="436893"/>
          </a:xfrm>
          <a:prstGeom prst="rect">
            <a:avLst/>
          </a:prstGeom>
          <a:solidFill>
            <a:srgbClr val="FFFFFF"/>
          </a:solidFill>
          <a:ln w="9525">
            <a:solidFill>
              <a:srgbClr val="E8DDCF"/>
            </a:solidFill>
            <a:prstDash val="solid"/>
          </a:ln>
        </p:spPr>
      </p:sp>
      <p:sp>
        <p:nvSpPr>
          <p:cNvPr id="32" name="Hình chữ nhật 31">
            <a:extLst>
              <a:ext uri="{FF2B5EF4-FFF2-40B4-BE49-F238E27FC236}">
                <a16:creationId xmlns:a16="http://schemas.microsoft.com/office/drawing/2014/main" id="{13B16C71-9F54-4320-A6B1-320008FD7524}"/>
              </a:ext>
            </a:extLst>
          </p:cNvPr>
          <p:cNvSpPr>
            <a:spLocks noGrp="1"/>
          </p:cNvSpPr>
          <p:nvPr/>
        </p:nvSpPr>
        <p:spPr>
          <a:xfrm>
            <a:off x="10325100" y="3352800"/>
            <a:ext cx="7029450" cy="228600"/>
          </a:xfrm>
          <a:prstGeom prst="rect">
            <a:avLst/>
          </a:prstGeom>
        </p:spPr>
        <p:txBody>
          <a:bodyPr lIns="0" tIns="0" rIns="0" bIns="0"/>
          <a:lstStyle/>
          <a:p>
            <a:pPr>
              <a:lnSpc>
                <a:spcPct val="117000"/>
              </a:lnSpc>
              <a:buNone/>
              <a:defRPr sz="1275" b="0">
                <a:solidFill>
                  <a:srgbClr val="151515"/>
                </a:solidFill>
              </a:defRPr>
            </a:pPr>
            <a:r>
              <a:rPr sz="1275" b="0">
                <a:solidFill>
                  <a:srgbClr val="151515"/>
                </a:solidFill>
              </a:rPr>
              <a:t>Tạo đơn, kiểm tra tồn kho, VNPay, MoMo, PayPal callback/webhook</a:t>
            </a:r>
          </a:p>
        </p:txBody>
      </p:sp>
      <p:sp>
        <p:nvSpPr>
          <p:cNvPr id="33" name="Hình chữ nhật 32">
            <a:extLst>
              <a:ext uri="{FF2B5EF4-FFF2-40B4-BE49-F238E27FC236}">
                <a16:creationId xmlns:a16="http://schemas.microsoft.com/office/drawing/2014/main" id="{5684933F-6388-4026-B50F-711DD5A92A40}"/>
              </a:ext>
            </a:extLst>
          </p:cNvPr>
          <p:cNvSpPr>
            <a:spLocks noGrp="1"/>
          </p:cNvSpPr>
          <p:nvPr/>
        </p:nvSpPr>
        <p:spPr>
          <a:xfrm>
            <a:off x="819150" y="3680765"/>
            <a:ext cx="3517542" cy="436893"/>
          </a:xfrm>
          <a:prstGeom prst="rect">
            <a:avLst/>
          </a:prstGeom>
          <a:solidFill>
            <a:srgbClr val="FBF6EE"/>
          </a:solidFill>
          <a:ln w="9525">
            <a:solidFill>
              <a:srgbClr val="E8DDCF"/>
            </a:solidFill>
            <a:prstDash val="solid"/>
          </a:ln>
        </p:spPr>
      </p:sp>
      <p:sp>
        <p:nvSpPr>
          <p:cNvPr id="34" name="Hình chữ nhật 33">
            <a:extLst>
              <a:ext uri="{FF2B5EF4-FFF2-40B4-BE49-F238E27FC236}">
                <a16:creationId xmlns:a16="http://schemas.microsoft.com/office/drawing/2014/main" id="{22F96B97-0021-44EF-BE29-29E61911D1E8}"/>
              </a:ext>
            </a:extLst>
          </p:cNvPr>
          <p:cNvSpPr>
            <a:spLocks noGrp="1"/>
          </p:cNvSpPr>
          <p:nvPr/>
        </p:nvSpPr>
        <p:spPr>
          <a:xfrm>
            <a:off x="952500" y="3790950"/>
            <a:ext cx="3276600" cy="228600"/>
          </a:xfrm>
          <a:prstGeom prst="rect">
            <a:avLst/>
          </a:prstGeom>
        </p:spPr>
        <p:txBody>
          <a:bodyPr lIns="0" tIns="0" rIns="0" bIns="0"/>
          <a:lstStyle/>
          <a:p>
            <a:pPr>
              <a:lnSpc>
                <a:spcPct val="117000"/>
              </a:lnSpc>
              <a:buNone/>
              <a:defRPr sz="1275" b="0">
                <a:solidFill>
                  <a:srgbClr val="151515"/>
                </a:solidFill>
              </a:defRPr>
            </a:pPr>
            <a:r>
              <a:rPr sz="1275" b="0">
                <a:solidFill>
                  <a:srgbClr val="151515"/>
                </a:solidFill>
              </a:rPr>
              <a:t>Customer utility</a:t>
            </a:r>
          </a:p>
        </p:txBody>
      </p:sp>
      <p:sp>
        <p:nvSpPr>
          <p:cNvPr id="35" name="Hình chữ nhật 34">
            <a:extLst>
              <a:ext uri="{FF2B5EF4-FFF2-40B4-BE49-F238E27FC236}">
                <a16:creationId xmlns:a16="http://schemas.microsoft.com/office/drawing/2014/main" id="{5FBADBD2-35B1-4C8E-B245-6A444222B60A}"/>
              </a:ext>
            </a:extLst>
          </p:cNvPr>
          <p:cNvSpPr>
            <a:spLocks noGrp="1"/>
          </p:cNvSpPr>
          <p:nvPr/>
        </p:nvSpPr>
        <p:spPr>
          <a:xfrm>
            <a:off x="4336692" y="3680765"/>
            <a:ext cx="5862570" cy="436893"/>
          </a:xfrm>
          <a:prstGeom prst="rect">
            <a:avLst/>
          </a:prstGeom>
          <a:solidFill>
            <a:srgbClr val="FBF6EE"/>
          </a:solidFill>
          <a:ln w="9525">
            <a:solidFill>
              <a:srgbClr val="E8DDCF"/>
            </a:solidFill>
            <a:prstDash val="solid"/>
          </a:ln>
        </p:spPr>
      </p:sp>
      <p:sp>
        <p:nvSpPr>
          <p:cNvPr id="36" name="Hình chữ nhật 35">
            <a:extLst>
              <a:ext uri="{FF2B5EF4-FFF2-40B4-BE49-F238E27FC236}">
                <a16:creationId xmlns:a16="http://schemas.microsoft.com/office/drawing/2014/main" id="{887D3244-7970-4959-BF07-90C26C85BDA7}"/>
              </a:ext>
            </a:extLst>
          </p:cNvPr>
          <p:cNvSpPr>
            <a:spLocks noGrp="1"/>
          </p:cNvSpPr>
          <p:nvPr/>
        </p:nvSpPr>
        <p:spPr>
          <a:xfrm>
            <a:off x="4457700" y="3790950"/>
            <a:ext cx="5619750" cy="228600"/>
          </a:xfrm>
          <a:prstGeom prst="rect">
            <a:avLst/>
          </a:prstGeom>
        </p:spPr>
        <p:txBody>
          <a:bodyPr lIns="0" tIns="0" rIns="0" bIns="0"/>
          <a:lstStyle/>
          <a:p>
            <a:pPr>
              <a:lnSpc>
                <a:spcPct val="117000"/>
              </a:lnSpc>
              <a:buNone/>
              <a:defRPr sz="1275" b="0">
                <a:solidFill>
                  <a:srgbClr val="151515"/>
                </a:solidFill>
              </a:defRPr>
            </a:pPr>
            <a:r>
              <a:rPr sz="1275" b="0">
                <a:solidFill>
                  <a:srgbClr val="151515"/>
                </a:solidFill>
              </a:rPr>
              <a:t>/wishlist, /coupons, /settings</a:t>
            </a:r>
          </a:p>
        </p:txBody>
      </p:sp>
      <p:sp>
        <p:nvSpPr>
          <p:cNvPr id="37" name="Hình chữ nhật 36">
            <a:extLst>
              <a:ext uri="{FF2B5EF4-FFF2-40B4-BE49-F238E27FC236}">
                <a16:creationId xmlns:a16="http://schemas.microsoft.com/office/drawing/2014/main" id="{EE8E1A05-A5C2-49EC-B436-0C686F1EEDED}"/>
              </a:ext>
            </a:extLst>
          </p:cNvPr>
          <p:cNvSpPr>
            <a:spLocks noGrp="1"/>
          </p:cNvSpPr>
          <p:nvPr/>
        </p:nvSpPr>
        <p:spPr>
          <a:xfrm>
            <a:off x="10199263" y="3680765"/>
            <a:ext cx="7269587" cy="436893"/>
          </a:xfrm>
          <a:prstGeom prst="rect">
            <a:avLst/>
          </a:prstGeom>
          <a:solidFill>
            <a:srgbClr val="FBF6EE"/>
          </a:solidFill>
          <a:ln w="9525">
            <a:solidFill>
              <a:srgbClr val="E8DDCF"/>
            </a:solidFill>
            <a:prstDash val="solid"/>
          </a:ln>
        </p:spPr>
      </p:sp>
      <p:sp>
        <p:nvSpPr>
          <p:cNvPr id="38" name="Hình chữ nhật 37">
            <a:extLst>
              <a:ext uri="{FF2B5EF4-FFF2-40B4-BE49-F238E27FC236}">
                <a16:creationId xmlns:a16="http://schemas.microsoft.com/office/drawing/2014/main" id="{C97A6D1A-8054-4CEC-8C4E-3A27B7C0DB1F}"/>
              </a:ext>
            </a:extLst>
          </p:cNvPr>
          <p:cNvSpPr>
            <a:spLocks noGrp="1"/>
          </p:cNvSpPr>
          <p:nvPr/>
        </p:nvSpPr>
        <p:spPr>
          <a:xfrm>
            <a:off x="10325100" y="3790950"/>
            <a:ext cx="7029450" cy="228600"/>
          </a:xfrm>
          <a:prstGeom prst="rect">
            <a:avLst/>
          </a:prstGeom>
        </p:spPr>
        <p:txBody>
          <a:bodyPr lIns="0" tIns="0" rIns="0" bIns="0"/>
          <a:lstStyle/>
          <a:p>
            <a:pPr>
              <a:lnSpc>
                <a:spcPct val="117000"/>
              </a:lnSpc>
              <a:buNone/>
              <a:defRPr sz="1275" b="0">
                <a:solidFill>
                  <a:srgbClr val="151515"/>
                </a:solidFill>
              </a:defRPr>
            </a:pPr>
            <a:r>
              <a:rPr sz="1275" b="0">
                <a:solidFill>
                  <a:srgbClr val="151515"/>
                </a:solidFill>
              </a:rPr>
              <a:t>Wishlist, validate coupon, public settings, product attributes</a:t>
            </a:r>
          </a:p>
        </p:txBody>
      </p:sp>
      <p:sp>
        <p:nvSpPr>
          <p:cNvPr id="39" name="Hình chữ nhật 38">
            <a:extLst>
              <a:ext uri="{FF2B5EF4-FFF2-40B4-BE49-F238E27FC236}">
                <a16:creationId xmlns:a16="http://schemas.microsoft.com/office/drawing/2014/main" id="{6EC65BF6-05A1-47F9-A890-6047D33380AD}"/>
              </a:ext>
            </a:extLst>
          </p:cNvPr>
          <p:cNvSpPr>
            <a:spLocks noGrp="1"/>
          </p:cNvSpPr>
          <p:nvPr/>
        </p:nvSpPr>
        <p:spPr>
          <a:xfrm>
            <a:off x="819150" y="4117657"/>
            <a:ext cx="3517542" cy="436893"/>
          </a:xfrm>
          <a:prstGeom prst="rect">
            <a:avLst/>
          </a:prstGeom>
          <a:solidFill>
            <a:srgbClr val="FFFFFF"/>
          </a:solidFill>
          <a:ln w="9525">
            <a:solidFill>
              <a:srgbClr val="E8DDCF"/>
            </a:solidFill>
            <a:prstDash val="solid"/>
          </a:ln>
        </p:spPr>
      </p:sp>
      <p:sp>
        <p:nvSpPr>
          <p:cNvPr id="40" name="Hình chữ nhật 39">
            <a:extLst>
              <a:ext uri="{FF2B5EF4-FFF2-40B4-BE49-F238E27FC236}">
                <a16:creationId xmlns:a16="http://schemas.microsoft.com/office/drawing/2014/main" id="{676E439F-1268-45BD-9AC3-AB4613339126}"/>
              </a:ext>
            </a:extLst>
          </p:cNvPr>
          <p:cNvSpPr>
            <a:spLocks noGrp="1"/>
          </p:cNvSpPr>
          <p:nvPr/>
        </p:nvSpPr>
        <p:spPr>
          <a:xfrm>
            <a:off x="952500" y="4229100"/>
            <a:ext cx="3276600" cy="228600"/>
          </a:xfrm>
          <a:prstGeom prst="rect">
            <a:avLst/>
          </a:prstGeom>
        </p:spPr>
        <p:txBody>
          <a:bodyPr lIns="0" tIns="0" rIns="0" bIns="0"/>
          <a:lstStyle/>
          <a:p>
            <a:pPr>
              <a:lnSpc>
                <a:spcPct val="117000"/>
              </a:lnSpc>
              <a:buNone/>
              <a:defRPr sz="1275" b="0">
                <a:solidFill>
                  <a:srgbClr val="151515"/>
                </a:solidFill>
              </a:defRPr>
            </a:pPr>
            <a:r>
              <a:rPr sz="1275" b="0">
                <a:solidFill>
                  <a:srgbClr val="151515"/>
                </a:solidFill>
              </a:rPr>
              <a:t>Chat / AI</a:t>
            </a:r>
          </a:p>
        </p:txBody>
      </p:sp>
      <p:sp>
        <p:nvSpPr>
          <p:cNvPr id="41" name="Hình chữ nhật 40">
            <a:extLst>
              <a:ext uri="{FF2B5EF4-FFF2-40B4-BE49-F238E27FC236}">
                <a16:creationId xmlns:a16="http://schemas.microsoft.com/office/drawing/2014/main" id="{589690D2-3DC5-4E09-ABA0-4F488DEDF2F8}"/>
              </a:ext>
            </a:extLst>
          </p:cNvPr>
          <p:cNvSpPr>
            <a:spLocks noGrp="1"/>
          </p:cNvSpPr>
          <p:nvPr/>
        </p:nvSpPr>
        <p:spPr>
          <a:xfrm>
            <a:off x="4336692" y="4117657"/>
            <a:ext cx="5862570" cy="436893"/>
          </a:xfrm>
          <a:prstGeom prst="rect">
            <a:avLst/>
          </a:prstGeom>
          <a:solidFill>
            <a:srgbClr val="FFFFFF"/>
          </a:solidFill>
          <a:ln w="9525">
            <a:solidFill>
              <a:srgbClr val="E8DDCF"/>
            </a:solidFill>
            <a:prstDash val="solid"/>
          </a:ln>
        </p:spPr>
      </p:sp>
      <p:sp>
        <p:nvSpPr>
          <p:cNvPr id="42" name="Hình chữ nhật 41">
            <a:extLst>
              <a:ext uri="{FF2B5EF4-FFF2-40B4-BE49-F238E27FC236}">
                <a16:creationId xmlns:a16="http://schemas.microsoft.com/office/drawing/2014/main" id="{13151E8B-5BA9-472D-B2CE-22DC93604120}"/>
              </a:ext>
            </a:extLst>
          </p:cNvPr>
          <p:cNvSpPr>
            <a:spLocks noGrp="1"/>
          </p:cNvSpPr>
          <p:nvPr/>
        </p:nvSpPr>
        <p:spPr>
          <a:xfrm>
            <a:off x="4457700" y="4229100"/>
            <a:ext cx="5619750" cy="228600"/>
          </a:xfrm>
          <a:prstGeom prst="rect">
            <a:avLst/>
          </a:prstGeom>
        </p:spPr>
        <p:txBody>
          <a:bodyPr lIns="0" tIns="0" rIns="0" bIns="0"/>
          <a:lstStyle/>
          <a:p>
            <a:pPr>
              <a:lnSpc>
                <a:spcPct val="117000"/>
              </a:lnSpc>
              <a:buNone/>
              <a:defRPr sz="1275" b="0">
                <a:solidFill>
                  <a:srgbClr val="151515"/>
                </a:solidFill>
              </a:defRPr>
            </a:pPr>
            <a:r>
              <a:rPr sz="1275" b="0">
                <a:solidFill>
                  <a:srgbClr val="151515"/>
                </a:solidFill>
              </a:rPr>
              <a:t>/api/v1/chat/*</a:t>
            </a:r>
          </a:p>
        </p:txBody>
      </p:sp>
      <p:sp>
        <p:nvSpPr>
          <p:cNvPr id="43" name="Hình chữ nhật 42">
            <a:extLst>
              <a:ext uri="{FF2B5EF4-FFF2-40B4-BE49-F238E27FC236}">
                <a16:creationId xmlns:a16="http://schemas.microsoft.com/office/drawing/2014/main" id="{C85C725B-D25C-4885-9CC1-E725BDA2F733}"/>
              </a:ext>
            </a:extLst>
          </p:cNvPr>
          <p:cNvSpPr>
            <a:spLocks noGrp="1"/>
          </p:cNvSpPr>
          <p:nvPr/>
        </p:nvSpPr>
        <p:spPr>
          <a:xfrm>
            <a:off x="10199263" y="4117657"/>
            <a:ext cx="7269587" cy="436893"/>
          </a:xfrm>
          <a:prstGeom prst="rect">
            <a:avLst/>
          </a:prstGeom>
          <a:solidFill>
            <a:srgbClr val="FFFFFF"/>
          </a:solidFill>
          <a:ln w="9525">
            <a:solidFill>
              <a:srgbClr val="E8DDCF"/>
            </a:solidFill>
            <a:prstDash val="solid"/>
          </a:ln>
        </p:spPr>
      </p:sp>
      <p:sp>
        <p:nvSpPr>
          <p:cNvPr id="44" name="Hình chữ nhật 43">
            <a:extLst>
              <a:ext uri="{FF2B5EF4-FFF2-40B4-BE49-F238E27FC236}">
                <a16:creationId xmlns:a16="http://schemas.microsoft.com/office/drawing/2014/main" id="{6ECC8465-FF7B-4216-AA4B-D3C8ABAE92C7}"/>
              </a:ext>
            </a:extLst>
          </p:cNvPr>
          <p:cNvSpPr>
            <a:spLocks noGrp="1"/>
          </p:cNvSpPr>
          <p:nvPr/>
        </p:nvSpPr>
        <p:spPr>
          <a:xfrm>
            <a:off x="10325100" y="4229100"/>
            <a:ext cx="7029450" cy="228600"/>
          </a:xfrm>
          <a:prstGeom prst="rect">
            <a:avLst/>
          </a:prstGeom>
        </p:spPr>
        <p:txBody>
          <a:bodyPr lIns="0" tIns="0" rIns="0" bIns="0"/>
          <a:lstStyle/>
          <a:p>
            <a:pPr>
              <a:lnSpc>
                <a:spcPct val="117000"/>
              </a:lnSpc>
              <a:buNone/>
              <a:defRPr sz="1275" b="0">
                <a:solidFill>
                  <a:srgbClr val="151515"/>
                </a:solidFill>
              </a:defRPr>
            </a:pPr>
            <a:r>
              <a:rPr sz="1275" b="0">
                <a:solidFill>
                  <a:srgbClr val="151515"/>
                </a:solidFill>
              </a:rPr>
              <a:t>AI chat, greeting, health, history, appearance, voice token</a:t>
            </a:r>
          </a:p>
        </p:txBody>
      </p:sp>
      <p:sp>
        <p:nvSpPr>
          <p:cNvPr id="45" name="Hình chữ nhật 44">
            <a:extLst>
              <a:ext uri="{FF2B5EF4-FFF2-40B4-BE49-F238E27FC236}">
                <a16:creationId xmlns:a16="http://schemas.microsoft.com/office/drawing/2014/main" id="{A9E29445-6B84-463E-A241-F936E2E89764}"/>
              </a:ext>
            </a:extLst>
          </p:cNvPr>
          <p:cNvSpPr>
            <a:spLocks noGrp="1"/>
          </p:cNvSpPr>
          <p:nvPr/>
        </p:nvSpPr>
        <p:spPr>
          <a:xfrm>
            <a:off x="819150" y="4554550"/>
            <a:ext cx="3517542" cy="436893"/>
          </a:xfrm>
          <a:prstGeom prst="rect">
            <a:avLst/>
          </a:prstGeom>
          <a:solidFill>
            <a:srgbClr val="FBF6EE"/>
          </a:solidFill>
          <a:ln w="9525">
            <a:solidFill>
              <a:srgbClr val="E8DDCF"/>
            </a:solidFill>
            <a:prstDash val="solid"/>
          </a:ln>
        </p:spPr>
      </p:sp>
      <p:sp>
        <p:nvSpPr>
          <p:cNvPr id="46" name="Hình chữ nhật 45">
            <a:extLst>
              <a:ext uri="{FF2B5EF4-FFF2-40B4-BE49-F238E27FC236}">
                <a16:creationId xmlns:a16="http://schemas.microsoft.com/office/drawing/2014/main" id="{115A65AB-9C1E-49A5-99F4-7EA4D6A22AC8}"/>
              </a:ext>
            </a:extLst>
          </p:cNvPr>
          <p:cNvSpPr>
            <a:spLocks noGrp="1"/>
          </p:cNvSpPr>
          <p:nvPr/>
        </p:nvSpPr>
        <p:spPr>
          <a:xfrm>
            <a:off x="952500" y="4667250"/>
            <a:ext cx="3276600" cy="228600"/>
          </a:xfrm>
          <a:prstGeom prst="rect">
            <a:avLst/>
          </a:prstGeom>
        </p:spPr>
        <p:txBody>
          <a:bodyPr lIns="0" tIns="0" rIns="0" bIns="0"/>
          <a:lstStyle/>
          <a:p>
            <a:pPr>
              <a:lnSpc>
                <a:spcPct val="117000"/>
              </a:lnSpc>
              <a:buNone/>
              <a:defRPr sz="1275" b="0">
                <a:solidFill>
                  <a:srgbClr val="151515"/>
                </a:solidFill>
              </a:defRPr>
            </a:pPr>
            <a:r>
              <a:rPr sz="1275" b="0">
                <a:solidFill>
                  <a:srgbClr val="151515"/>
                </a:solidFill>
              </a:rPr>
              <a:t>Admin / Content</a:t>
            </a:r>
          </a:p>
        </p:txBody>
      </p:sp>
      <p:sp>
        <p:nvSpPr>
          <p:cNvPr id="47" name="Hình chữ nhật 46">
            <a:extLst>
              <a:ext uri="{FF2B5EF4-FFF2-40B4-BE49-F238E27FC236}">
                <a16:creationId xmlns:a16="http://schemas.microsoft.com/office/drawing/2014/main" id="{3CEF836E-C6D6-4BA2-8386-2F3D0174198B}"/>
              </a:ext>
            </a:extLst>
          </p:cNvPr>
          <p:cNvSpPr>
            <a:spLocks noGrp="1"/>
          </p:cNvSpPr>
          <p:nvPr/>
        </p:nvSpPr>
        <p:spPr>
          <a:xfrm>
            <a:off x="4336692" y="4554550"/>
            <a:ext cx="5862570" cy="436893"/>
          </a:xfrm>
          <a:prstGeom prst="rect">
            <a:avLst/>
          </a:prstGeom>
          <a:solidFill>
            <a:srgbClr val="FBF6EE"/>
          </a:solidFill>
          <a:ln w="9525">
            <a:solidFill>
              <a:srgbClr val="E8DDCF"/>
            </a:solidFill>
            <a:prstDash val="solid"/>
          </a:ln>
        </p:spPr>
      </p:sp>
      <p:sp>
        <p:nvSpPr>
          <p:cNvPr id="48" name="Hình chữ nhật 47">
            <a:extLst>
              <a:ext uri="{FF2B5EF4-FFF2-40B4-BE49-F238E27FC236}">
                <a16:creationId xmlns:a16="http://schemas.microsoft.com/office/drawing/2014/main" id="{9ABBCBFC-6BA4-422D-B469-A1F80F70D5E0}"/>
              </a:ext>
            </a:extLst>
          </p:cNvPr>
          <p:cNvSpPr>
            <a:spLocks noGrp="1"/>
          </p:cNvSpPr>
          <p:nvPr/>
        </p:nvSpPr>
        <p:spPr>
          <a:xfrm>
            <a:off x="4457700" y="4667250"/>
            <a:ext cx="5619750" cy="228600"/>
          </a:xfrm>
          <a:prstGeom prst="rect">
            <a:avLst/>
          </a:prstGeom>
        </p:spPr>
        <p:txBody>
          <a:bodyPr lIns="0" tIns="0" rIns="0" bIns="0"/>
          <a:lstStyle/>
          <a:p>
            <a:pPr>
              <a:lnSpc>
                <a:spcPct val="117000"/>
              </a:lnSpc>
              <a:buNone/>
              <a:defRPr sz="1275" b="0">
                <a:solidFill>
                  <a:srgbClr val="151515"/>
                </a:solidFill>
              </a:defRPr>
            </a:pPr>
            <a:r>
              <a:rPr sz="1275" b="0">
                <a:solidFill>
                  <a:srgbClr val="151515"/>
                </a:solidFill>
              </a:rPr>
              <a:t>/api/v1/admin/* + blogs/banners/popups/page-content</a:t>
            </a:r>
          </a:p>
        </p:txBody>
      </p:sp>
      <p:sp>
        <p:nvSpPr>
          <p:cNvPr id="49" name="Hình chữ nhật 48">
            <a:extLst>
              <a:ext uri="{FF2B5EF4-FFF2-40B4-BE49-F238E27FC236}">
                <a16:creationId xmlns:a16="http://schemas.microsoft.com/office/drawing/2014/main" id="{46F68C6F-6D74-4F82-B64B-0D791ED61D0F}"/>
              </a:ext>
            </a:extLst>
          </p:cNvPr>
          <p:cNvSpPr>
            <a:spLocks noGrp="1"/>
          </p:cNvSpPr>
          <p:nvPr/>
        </p:nvSpPr>
        <p:spPr>
          <a:xfrm>
            <a:off x="10199263" y="4554550"/>
            <a:ext cx="7269587" cy="436893"/>
          </a:xfrm>
          <a:prstGeom prst="rect">
            <a:avLst/>
          </a:prstGeom>
          <a:solidFill>
            <a:srgbClr val="FBF6EE"/>
          </a:solidFill>
          <a:ln w="9525">
            <a:solidFill>
              <a:srgbClr val="E8DDCF"/>
            </a:solidFill>
            <a:prstDash val="solid"/>
          </a:ln>
        </p:spPr>
      </p:sp>
      <p:sp>
        <p:nvSpPr>
          <p:cNvPr id="50" name="Hình chữ nhật 49">
            <a:extLst>
              <a:ext uri="{FF2B5EF4-FFF2-40B4-BE49-F238E27FC236}">
                <a16:creationId xmlns:a16="http://schemas.microsoft.com/office/drawing/2014/main" id="{C6D96D8C-5F88-432A-B0CB-94A204971C21}"/>
              </a:ext>
            </a:extLst>
          </p:cNvPr>
          <p:cNvSpPr>
            <a:spLocks noGrp="1"/>
          </p:cNvSpPr>
          <p:nvPr/>
        </p:nvSpPr>
        <p:spPr>
          <a:xfrm>
            <a:off x="10325100" y="4667250"/>
            <a:ext cx="7029450" cy="228600"/>
          </a:xfrm>
          <a:prstGeom prst="rect">
            <a:avLst/>
          </a:prstGeom>
        </p:spPr>
        <p:txBody>
          <a:bodyPr lIns="0" tIns="0" rIns="0" bIns="0"/>
          <a:lstStyle/>
          <a:p>
            <a:pPr>
              <a:lnSpc>
                <a:spcPct val="117000"/>
              </a:lnSpc>
              <a:buNone/>
              <a:defRPr sz="1275" b="0">
                <a:solidFill>
                  <a:srgbClr val="151515"/>
                </a:solidFill>
              </a:defRPr>
            </a:pPr>
            <a:r>
              <a:rPr sz="1275" b="0">
                <a:solidFill>
                  <a:srgbClr val="151515"/>
                </a:solidFill>
              </a:rPr>
              <a:t>Dashboard, CRUD vận hành, marketing content và settings</a:t>
            </a:r>
          </a:p>
        </p:txBody>
      </p:sp>
    </p:spTree>
    <p:extLst>
      <p:ext uri="{BB962C8B-B14F-4D97-AF65-F5344CB8AC3E}">
        <p14:creationId xmlns:p14="http://schemas.microsoft.com/office/powerpoint/2010/main" val="8887166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background">
            <a:extLst>
              <a:ext uri="{FF2B5EF4-FFF2-40B4-BE49-F238E27FC236}">
                <a16:creationId xmlns:a16="http://schemas.microsoft.com/office/drawing/2014/main" id="{F02B254F-6424-4053-9FB9-9E99B1D2D2F4}"/>
              </a:ext>
            </a:extLst>
          </p:cNvPr>
          <p:cNvSpPr>
            <a:spLocks noGrp="1"/>
          </p:cNvSpPr>
          <p:nvPr/>
        </p:nvSpPr>
        <p:spPr>
          <a:xfrm>
            <a:off x="0" y="0"/>
            <a:ext cx="18288000" cy="10287000"/>
          </a:xfrm>
          <a:prstGeom prst="rect">
            <a:avLst/>
          </a:prstGeom>
          <a:solidFill>
            <a:srgbClr val="FFFDF8"/>
          </a:solidFill>
        </p:spPr>
      </p:sp>
      <p:sp>
        <p:nvSpPr>
          <p:cNvPr id="2" name="top-band">
            <a:extLst>
              <a:ext uri="{FF2B5EF4-FFF2-40B4-BE49-F238E27FC236}">
                <a16:creationId xmlns:a16="http://schemas.microsoft.com/office/drawing/2014/main" id="{8BF53349-47D2-404F-9E6F-0BC23CE38101}"/>
              </a:ext>
            </a:extLst>
          </p:cNvPr>
          <p:cNvSpPr>
            <a:spLocks noGrp="1"/>
          </p:cNvSpPr>
          <p:nvPr/>
        </p:nvSpPr>
        <p:spPr>
          <a:xfrm>
            <a:off x="0" y="0"/>
            <a:ext cx="18288000" cy="152400"/>
          </a:xfrm>
          <a:prstGeom prst="rect">
            <a:avLst/>
          </a:prstGeom>
          <a:solidFill>
            <a:srgbClr val="77B8A4"/>
          </a:solidFill>
        </p:spPr>
      </p:sp>
      <p:sp>
        <p:nvSpPr>
          <p:cNvPr id="3" name="bottom-band">
            <a:extLst>
              <a:ext uri="{FF2B5EF4-FFF2-40B4-BE49-F238E27FC236}">
                <a16:creationId xmlns:a16="http://schemas.microsoft.com/office/drawing/2014/main" id="{436482C5-F321-415B-9D16-D1C7B64BDA21}"/>
              </a:ext>
            </a:extLst>
          </p:cNvPr>
          <p:cNvSpPr>
            <a:spLocks noGrp="1"/>
          </p:cNvSpPr>
          <p:nvPr/>
        </p:nvSpPr>
        <p:spPr>
          <a:xfrm>
            <a:off x="0" y="0"/>
            <a:ext cx="18288000" cy="76200"/>
          </a:xfrm>
          <a:prstGeom prst="rect">
            <a:avLst/>
          </a:prstGeom>
          <a:solidFill>
            <a:srgbClr val="D9B760"/>
          </a:solidFill>
        </p:spPr>
      </p:sp>
      <p:sp>
        <p:nvSpPr>
          <p:cNvPr id="4" name="Hình chữ nhật: Góc Tròn 3">
            <a:extLst>
              <a:ext uri="{FF2B5EF4-FFF2-40B4-BE49-F238E27FC236}">
                <a16:creationId xmlns:a16="http://schemas.microsoft.com/office/drawing/2014/main" id="{EBA5EECC-8A0F-4B74-841D-A8D38212D584}"/>
              </a:ext>
            </a:extLst>
          </p:cNvPr>
          <p:cNvSpPr>
            <a:spLocks noGrp="1"/>
          </p:cNvSpPr>
          <p:nvPr/>
        </p:nvSpPr>
        <p:spPr>
          <a:xfrm>
            <a:off x="838200" y="647700"/>
            <a:ext cx="400050" cy="95250"/>
          </a:xfrm>
          <a:prstGeom prst="roundRect">
            <a:avLst>
              <a:gd name="adj" fmla="val 50000"/>
            </a:avLst>
          </a:prstGeom>
          <a:solidFill>
            <a:srgbClr val="77B8A4"/>
          </a:solidFill>
        </p:spPr>
      </p:sp>
      <p:sp>
        <p:nvSpPr>
          <p:cNvPr id="5" name="Hình chữ nhật 4">
            <a:extLst>
              <a:ext uri="{FF2B5EF4-FFF2-40B4-BE49-F238E27FC236}">
                <a16:creationId xmlns:a16="http://schemas.microsoft.com/office/drawing/2014/main" id="{1B57AFE2-3D6C-4439-BD2F-98BFBFDC3534}"/>
              </a:ext>
            </a:extLst>
          </p:cNvPr>
          <p:cNvSpPr>
            <a:spLocks noGrp="1"/>
          </p:cNvSpPr>
          <p:nvPr/>
        </p:nvSpPr>
        <p:spPr>
          <a:xfrm>
            <a:off x="1371600" y="571500"/>
            <a:ext cx="15544800" cy="228600"/>
          </a:xfrm>
          <a:prstGeom prst="rect">
            <a:avLst/>
          </a:prstGeom>
        </p:spPr>
        <p:txBody>
          <a:bodyPr lIns="0" tIns="0" rIns="0" bIns="0"/>
          <a:lstStyle/>
          <a:p>
            <a:pPr>
              <a:lnSpc>
                <a:spcPct val="125000"/>
              </a:lnSpc>
              <a:buNone/>
              <a:defRPr sz="1200" b="1">
                <a:solidFill>
                  <a:srgbClr val="7E3D4A"/>
                </a:solidFill>
              </a:defRPr>
            </a:pPr>
            <a:r>
              <a:rPr sz="1200" b="1">
                <a:solidFill>
                  <a:srgbClr val="7E3D4A"/>
                </a:solidFill>
              </a:rPr>
              <a:t>DATABASE</a:t>
            </a:r>
          </a:p>
        </p:txBody>
      </p:sp>
      <p:sp>
        <p:nvSpPr>
          <p:cNvPr id="6" name="Hình chữ nhật 5">
            <a:extLst>
              <a:ext uri="{FF2B5EF4-FFF2-40B4-BE49-F238E27FC236}">
                <a16:creationId xmlns:a16="http://schemas.microsoft.com/office/drawing/2014/main" id="{CB10AADB-CE63-4781-BF16-0164FA13AFB0}"/>
              </a:ext>
            </a:extLst>
          </p:cNvPr>
          <p:cNvSpPr>
            <a:spLocks noGrp="1"/>
          </p:cNvSpPr>
          <p:nvPr/>
        </p:nvSpPr>
        <p:spPr>
          <a:xfrm>
            <a:off x="17068800" y="571500"/>
            <a:ext cx="400050" cy="228600"/>
          </a:xfrm>
          <a:prstGeom prst="rect">
            <a:avLst/>
          </a:prstGeom>
        </p:spPr>
        <p:txBody>
          <a:bodyPr lIns="0" tIns="0" rIns="0" bIns="0"/>
          <a:lstStyle/>
          <a:p>
            <a:pPr>
              <a:lnSpc>
                <a:spcPct val="120000"/>
              </a:lnSpc>
              <a:buNone/>
              <a:defRPr sz="1275" b="1">
                <a:solidFill>
                  <a:srgbClr val="7E3D4A"/>
                </a:solidFill>
              </a:defRPr>
            </a:pPr>
            <a:r>
              <a:rPr sz="1275" b="1">
                <a:solidFill>
                  <a:srgbClr val="7E3D4A"/>
                </a:solidFill>
              </a:rPr>
              <a:t>15/30</a:t>
            </a:r>
          </a:p>
        </p:txBody>
      </p:sp>
      <p:sp>
        <p:nvSpPr>
          <p:cNvPr id="7" name="slide-title">
            <a:extLst>
              <a:ext uri="{FF2B5EF4-FFF2-40B4-BE49-F238E27FC236}">
                <a16:creationId xmlns:a16="http://schemas.microsoft.com/office/drawing/2014/main" id="{E02580DA-6A0F-4FB3-909F-BCFD3481DCBC}"/>
              </a:ext>
            </a:extLst>
          </p:cNvPr>
          <p:cNvSpPr>
            <a:spLocks noGrp="1"/>
          </p:cNvSpPr>
          <p:nvPr/>
        </p:nvSpPr>
        <p:spPr>
          <a:xfrm>
            <a:off x="819150" y="933450"/>
            <a:ext cx="16649700" cy="590550"/>
          </a:xfrm>
          <a:prstGeom prst="rect">
            <a:avLst/>
          </a:prstGeom>
        </p:spPr>
        <p:txBody>
          <a:bodyPr lIns="0" tIns="0" rIns="0" bIns="0"/>
          <a:lstStyle/>
          <a:p>
            <a:pPr>
              <a:lnSpc>
                <a:spcPct val="105000"/>
              </a:lnSpc>
              <a:buNone/>
              <a:defRPr sz="3600" b="1">
                <a:solidFill>
                  <a:srgbClr val="151515"/>
                </a:solidFill>
              </a:defRPr>
            </a:pPr>
            <a:r>
              <a:rPr sz="3600" b="1">
                <a:solidFill>
                  <a:srgbClr val="151515"/>
                </a:solidFill>
              </a:rPr>
              <a:t>Database được tổ chức theo các vùng nghiệp vụ</a:t>
            </a:r>
          </a:p>
        </p:txBody>
      </p:sp>
      <p:sp>
        <p:nvSpPr>
          <p:cNvPr id="8" name="title-rule">
            <a:extLst>
              <a:ext uri="{FF2B5EF4-FFF2-40B4-BE49-F238E27FC236}">
                <a16:creationId xmlns:a16="http://schemas.microsoft.com/office/drawing/2014/main" id="{18980E0E-EDDC-4D0E-BBCF-1AA79F1F173F}"/>
              </a:ext>
            </a:extLst>
          </p:cNvPr>
          <p:cNvSpPr>
            <a:spLocks noGrp="1"/>
          </p:cNvSpPr>
          <p:nvPr/>
        </p:nvSpPr>
        <p:spPr>
          <a:xfrm>
            <a:off x="819150" y="1619250"/>
            <a:ext cx="1905000" cy="38100"/>
          </a:xfrm>
          <a:prstGeom prst="rect">
            <a:avLst/>
          </a:prstGeom>
          <a:solidFill>
            <a:srgbClr val="77B8A4"/>
          </a:solidFill>
          <a:ln w="0">
            <a:solidFill>
              <a:srgbClr val="77B8A4"/>
            </a:solidFill>
            <a:prstDash val="solid"/>
          </a:ln>
        </p:spPr>
      </p:sp>
      <p:sp>
        <p:nvSpPr>
          <p:cNvPr id="9" name="Hình chữ nhật: Góc Tròn 8">
            <a:extLst>
              <a:ext uri="{FF2B5EF4-FFF2-40B4-BE49-F238E27FC236}">
                <a16:creationId xmlns:a16="http://schemas.microsoft.com/office/drawing/2014/main" id="{FE78FF9B-C194-440C-951A-D4A041EBDEFE}"/>
              </a:ext>
            </a:extLst>
          </p:cNvPr>
          <p:cNvSpPr>
            <a:spLocks noGrp="1"/>
          </p:cNvSpPr>
          <p:nvPr/>
        </p:nvSpPr>
        <p:spPr>
          <a:xfrm>
            <a:off x="819150" y="4679061"/>
            <a:ext cx="5422900" cy="1059561"/>
          </a:xfrm>
          <a:prstGeom prst="roundRect">
            <a:avLst>
              <a:gd name="adj" fmla="val 7192"/>
            </a:avLst>
          </a:prstGeom>
          <a:solidFill>
            <a:srgbClr val="FFFFFF"/>
          </a:solidFill>
          <a:ln w="9525">
            <a:solidFill>
              <a:srgbClr val="E8DDCF"/>
            </a:solidFill>
            <a:prstDash val="solid"/>
          </a:ln>
        </p:spPr>
      </p:sp>
      <p:sp>
        <p:nvSpPr>
          <p:cNvPr id="10" name="Hình chữ nhật: Góc Tròn 9">
            <a:extLst>
              <a:ext uri="{FF2B5EF4-FFF2-40B4-BE49-F238E27FC236}">
                <a16:creationId xmlns:a16="http://schemas.microsoft.com/office/drawing/2014/main" id="{40A97133-9488-4D17-9360-23C5BE7C6DD5}"/>
              </a:ext>
            </a:extLst>
          </p:cNvPr>
          <p:cNvSpPr>
            <a:spLocks noGrp="1"/>
          </p:cNvSpPr>
          <p:nvPr/>
        </p:nvSpPr>
        <p:spPr>
          <a:xfrm>
            <a:off x="1028700" y="4876800"/>
            <a:ext cx="104775" cy="323850"/>
          </a:xfrm>
          <a:prstGeom prst="roundRect">
            <a:avLst>
              <a:gd name="adj" fmla="val 50000"/>
            </a:avLst>
          </a:prstGeom>
          <a:solidFill>
            <a:srgbClr val="77B8A4"/>
          </a:solidFill>
        </p:spPr>
      </p:sp>
      <p:sp>
        <p:nvSpPr>
          <p:cNvPr id="11" name="Hình chữ nhật 10">
            <a:extLst>
              <a:ext uri="{FF2B5EF4-FFF2-40B4-BE49-F238E27FC236}">
                <a16:creationId xmlns:a16="http://schemas.microsoft.com/office/drawing/2014/main" id="{B0D6634E-6D98-4B06-92F2-76428FE2D888}"/>
              </a:ext>
            </a:extLst>
          </p:cNvPr>
          <p:cNvSpPr>
            <a:spLocks noGrp="1"/>
          </p:cNvSpPr>
          <p:nvPr/>
        </p:nvSpPr>
        <p:spPr>
          <a:xfrm>
            <a:off x="1238250" y="4857750"/>
            <a:ext cx="480060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Người dùng</a:t>
            </a:r>
          </a:p>
        </p:txBody>
      </p:sp>
      <p:sp>
        <p:nvSpPr>
          <p:cNvPr id="12" name="Hình chữ nhật 11">
            <a:extLst>
              <a:ext uri="{FF2B5EF4-FFF2-40B4-BE49-F238E27FC236}">
                <a16:creationId xmlns:a16="http://schemas.microsoft.com/office/drawing/2014/main" id="{43CFF294-3828-40B5-9DAA-87B820D1813B}"/>
              </a:ext>
            </a:extLst>
          </p:cNvPr>
          <p:cNvSpPr>
            <a:spLocks noGrp="1"/>
          </p:cNvSpPr>
          <p:nvPr/>
        </p:nvSpPr>
        <p:spPr>
          <a:xfrm>
            <a:off x="1028700" y="5276850"/>
            <a:ext cx="5010150" cy="304800"/>
          </a:xfrm>
          <a:prstGeom prst="rect">
            <a:avLst/>
          </a:prstGeom>
        </p:spPr>
        <p:txBody>
          <a:bodyPr lIns="0" tIns="0" rIns="0" bIns="0"/>
          <a:lstStyle/>
          <a:p>
            <a:pPr>
              <a:lnSpc>
                <a:spcPct val="120000"/>
              </a:lnSpc>
              <a:buNone/>
              <a:defRPr sz="1575">
                <a:solidFill>
                  <a:srgbClr val="647067"/>
                </a:solidFill>
              </a:defRPr>
            </a:pPr>
            <a:r>
              <a:rPr sz="1575">
                <a:solidFill>
                  <a:srgbClr val="647067"/>
                </a:solidFill>
              </a:rPr>
              <a:t>`users`, `addresses`, `notifications`</a:t>
            </a:r>
          </a:p>
        </p:txBody>
      </p:sp>
      <p:sp>
        <p:nvSpPr>
          <p:cNvPr id="13" name="Hình chữ nhật: Góc Tròn 12">
            <a:extLst>
              <a:ext uri="{FF2B5EF4-FFF2-40B4-BE49-F238E27FC236}">
                <a16:creationId xmlns:a16="http://schemas.microsoft.com/office/drawing/2014/main" id="{60A42FC6-EE88-44B5-9330-AA0D3D54877D}"/>
              </a:ext>
            </a:extLst>
          </p:cNvPr>
          <p:cNvSpPr>
            <a:spLocks noGrp="1"/>
          </p:cNvSpPr>
          <p:nvPr/>
        </p:nvSpPr>
        <p:spPr>
          <a:xfrm>
            <a:off x="6432550" y="4679061"/>
            <a:ext cx="5422900" cy="1059561"/>
          </a:xfrm>
          <a:prstGeom prst="roundRect">
            <a:avLst>
              <a:gd name="adj" fmla="val 7192"/>
            </a:avLst>
          </a:prstGeom>
          <a:solidFill>
            <a:srgbClr val="FFFFFF"/>
          </a:solidFill>
          <a:ln w="9525">
            <a:solidFill>
              <a:srgbClr val="E8DDCF"/>
            </a:solidFill>
            <a:prstDash val="solid"/>
          </a:ln>
        </p:spPr>
      </p:sp>
      <p:sp>
        <p:nvSpPr>
          <p:cNvPr id="14" name="Hình chữ nhật: Góc Tròn 13">
            <a:extLst>
              <a:ext uri="{FF2B5EF4-FFF2-40B4-BE49-F238E27FC236}">
                <a16:creationId xmlns:a16="http://schemas.microsoft.com/office/drawing/2014/main" id="{D3253337-D327-4040-AD44-DCB0CED6450F}"/>
              </a:ext>
            </a:extLst>
          </p:cNvPr>
          <p:cNvSpPr>
            <a:spLocks noGrp="1"/>
          </p:cNvSpPr>
          <p:nvPr/>
        </p:nvSpPr>
        <p:spPr>
          <a:xfrm>
            <a:off x="6629400" y="4876800"/>
            <a:ext cx="104775" cy="323850"/>
          </a:xfrm>
          <a:prstGeom prst="roundRect">
            <a:avLst>
              <a:gd name="adj" fmla="val 50000"/>
            </a:avLst>
          </a:prstGeom>
          <a:solidFill>
            <a:srgbClr val="D9B760"/>
          </a:solidFill>
        </p:spPr>
      </p:sp>
      <p:sp>
        <p:nvSpPr>
          <p:cNvPr id="15" name="Hình chữ nhật 14">
            <a:extLst>
              <a:ext uri="{FF2B5EF4-FFF2-40B4-BE49-F238E27FC236}">
                <a16:creationId xmlns:a16="http://schemas.microsoft.com/office/drawing/2014/main" id="{EAC76A4F-A482-4439-8306-F54ADB943EEB}"/>
              </a:ext>
            </a:extLst>
          </p:cNvPr>
          <p:cNvSpPr>
            <a:spLocks noGrp="1"/>
          </p:cNvSpPr>
          <p:nvPr/>
        </p:nvSpPr>
        <p:spPr>
          <a:xfrm>
            <a:off x="6838950" y="4857750"/>
            <a:ext cx="480060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Sản phẩm</a:t>
            </a:r>
          </a:p>
        </p:txBody>
      </p:sp>
      <p:sp>
        <p:nvSpPr>
          <p:cNvPr id="16" name="Hình chữ nhật 15">
            <a:extLst>
              <a:ext uri="{FF2B5EF4-FFF2-40B4-BE49-F238E27FC236}">
                <a16:creationId xmlns:a16="http://schemas.microsoft.com/office/drawing/2014/main" id="{B083A577-5D59-47E9-96CB-D10B8BC4FE7B}"/>
              </a:ext>
            </a:extLst>
          </p:cNvPr>
          <p:cNvSpPr>
            <a:spLocks noGrp="1"/>
          </p:cNvSpPr>
          <p:nvPr/>
        </p:nvSpPr>
        <p:spPr>
          <a:xfrm>
            <a:off x="6648450" y="5276850"/>
            <a:ext cx="5010150" cy="304800"/>
          </a:xfrm>
          <a:prstGeom prst="rect">
            <a:avLst/>
          </a:prstGeom>
        </p:spPr>
        <p:txBody>
          <a:bodyPr lIns="0" tIns="0" rIns="0" bIns="0"/>
          <a:lstStyle/>
          <a:p>
            <a:pPr>
              <a:lnSpc>
                <a:spcPct val="120000"/>
              </a:lnSpc>
              <a:buNone/>
              <a:defRPr sz="1575">
                <a:solidFill>
                  <a:srgbClr val="647067"/>
                </a:solidFill>
              </a:defRPr>
            </a:pPr>
            <a:r>
              <a:rPr sz="1575">
                <a:solidFill>
                  <a:srgbClr val="647067"/>
                </a:solidFill>
              </a:rPr>
              <a:t>`products`, `variants`, `reviews`, `wishlists`</a:t>
            </a:r>
          </a:p>
        </p:txBody>
      </p:sp>
      <p:sp>
        <p:nvSpPr>
          <p:cNvPr id="17" name="Hình chữ nhật: Góc Tròn 16">
            <a:extLst>
              <a:ext uri="{FF2B5EF4-FFF2-40B4-BE49-F238E27FC236}">
                <a16:creationId xmlns:a16="http://schemas.microsoft.com/office/drawing/2014/main" id="{5A503E5B-09CF-4889-B2CC-83E2C4FF409E}"/>
              </a:ext>
            </a:extLst>
          </p:cNvPr>
          <p:cNvSpPr>
            <a:spLocks noGrp="1"/>
          </p:cNvSpPr>
          <p:nvPr/>
        </p:nvSpPr>
        <p:spPr>
          <a:xfrm>
            <a:off x="12045950" y="4679061"/>
            <a:ext cx="5422900" cy="1059561"/>
          </a:xfrm>
          <a:prstGeom prst="roundRect">
            <a:avLst>
              <a:gd name="adj" fmla="val 7192"/>
            </a:avLst>
          </a:prstGeom>
          <a:solidFill>
            <a:srgbClr val="FFFFFF"/>
          </a:solidFill>
          <a:ln w="9525">
            <a:solidFill>
              <a:srgbClr val="E8DDCF"/>
            </a:solidFill>
            <a:prstDash val="solid"/>
          </a:ln>
        </p:spPr>
      </p:sp>
      <p:sp>
        <p:nvSpPr>
          <p:cNvPr id="18" name="Hình chữ nhật: Góc Tròn 17">
            <a:extLst>
              <a:ext uri="{FF2B5EF4-FFF2-40B4-BE49-F238E27FC236}">
                <a16:creationId xmlns:a16="http://schemas.microsoft.com/office/drawing/2014/main" id="{23C3FE24-C942-4513-8F76-D88C083F24C4}"/>
              </a:ext>
            </a:extLst>
          </p:cNvPr>
          <p:cNvSpPr>
            <a:spLocks noGrp="1"/>
          </p:cNvSpPr>
          <p:nvPr/>
        </p:nvSpPr>
        <p:spPr>
          <a:xfrm>
            <a:off x="12268200" y="4876800"/>
            <a:ext cx="104775" cy="323850"/>
          </a:xfrm>
          <a:prstGeom prst="roundRect">
            <a:avLst>
              <a:gd name="adj" fmla="val 50000"/>
            </a:avLst>
          </a:prstGeom>
          <a:solidFill>
            <a:srgbClr val="F39A8A"/>
          </a:solidFill>
        </p:spPr>
      </p:sp>
      <p:sp>
        <p:nvSpPr>
          <p:cNvPr id="19" name="Hình chữ nhật 18">
            <a:extLst>
              <a:ext uri="{FF2B5EF4-FFF2-40B4-BE49-F238E27FC236}">
                <a16:creationId xmlns:a16="http://schemas.microsoft.com/office/drawing/2014/main" id="{14C43946-AA10-436F-876B-1119B3BE41E5}"/>
              </a:ext>
            </a:extLst>
          </p:cNvPr>
          <p:cNvSpPr>
            <a:spLocks noGrp="1"/>
          </p:cNvSpPr>
          <p:nvPr/>
        </p:nvSpPr>
        <p:spPr>
          <a:xfrm>
            <a:off x="12458700" y="4857750"/>
            <a:ext cx="480060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Đơn hàng</a:t>
            </a:r>
          </a:p>
        </p:txBody>
      </p:sp>
      <p:sp>
        <p:nvSpPr>
          <p:cNvPr id="20" name="Hình chữ nhật 19">
            <a:extLst>
              <a:ext uri="{FF2B5EF4-FFF2-40B4-BE49-F238E27FC236}">
                <a16:creationId xmlns:a16="http://schemas.microsoft.com/office/drawing/2014/main" id="{1409B9F6-E88A-45F3-BD5C-BEA014E5DB93}"/>
              </a:ext>
            </a:extLst>
          </p:cNvPr>
          <p:cNvSpPr>
            <a:spLocks noGrp="1"/>
          </p:cNvSpPr>
          <p:nvPr/>
        </p:nvSpPr>
        <p:spPr>
          <a:xfrm>
            <a:off x="12249150" y="5276850"/>
            <a:ext cx="5010150" cy="304800"/>
          </a:xfrm>
          <a:prstGeom prst="rect">
            <a:avLst/>
          </a:prstGeom>
        </p:spPr>
        <p:txBody>
          <a:bodyPr lIns="0" tIns="0" rIns="0" bIns="0"/>
          <a:lstStyle/>
          <a:p>
            <a:pPr>
              <a:lnSpc>
                <a:spcPct val="120000"/>
              </a:lnSpc>
              <a:buNone/>
              <a:defRPr sz="1575">
                <a:solidFill>
                  <a:srgbClr val="647067"/>
                </a:solidFill>
              </a:defRPr>
            </a:pPr>
            <a:r>
              <a:rPr sz="1575">
                <a:solidFill>
                  <a:srgbClr val="647067"/>
                </a:solidFill>
              </a:rPr>
              <a:t>`orders`, `order_items`</a:t>
            </a:r>
          </a:p>
        </p:txBody>
      </p:sp>
      <p:sp>
        <p:nvSpPr>
          <p:cNvPr id="21" name="Hình chữ nhật: Góc Tròn 20">
            <a:extLst>
              <a:ext uri="{FF2B5EF4-FFF2-40B4-BE49-F238E27FC236}">
                <a16:creationId xmlns:a16="http://schemas.microsoft.com/office/drawing/2014/main" id="{84118300-B6BF-453B-9514-E8B5F99970AB}"/>
              </a:ext>
            </a:extLst>
          </p:cNvPr>
          <p:cNvSpPr>
            <a:spLocks noGrp="1"/>
          </p:cNvSpPr>
          <p:nvPr/>
        </p:nvSpPr>
        <p:spPr>
          <a:xfrm>
            <a:off x="819150" y="5910072"/>
            <a:ext cx="5422900" cy="1059561"/>
          </a:xfrm>
          <a:prstGeom prst="roundRect">
            <a:avLst>
              <a:gd name="adj" fmla="val 7192"/>
            </a:avLst>
          </a:prstGeom>
          <a:solidFill>
            <a:srgbClr val="FFFFFF"/>
          </a:solidFill>
          <a:ln w="9525">
            <a:solidFill>
              <a:srgbClr val="E8DDCF"/>
            </a:solidFill>
            <a:prstDash val="solid"/>
          </a:ln>
        </p:spPr>
      </p:sp>
      <p:sp>
        <p:nvSpPr>
          <p:cNvPr id="22" name="Hình chữ nhật: Góc Tròn 21">
            <a:extLst>
              <a:ext uri="{FF2B5EF4-FFF2-40B4-BE49-F238E27FC236}">
                <a16:creationId xmlns:a16="http://schemas.microsoft.com/office/drawing/2014/main" id="{F9FB4316-4EB0-49BC-9732-5E09E2998FC4}"/>
              </a:ext>
            </a:extLst>
          </p:cNvPr>
          <p:cNvSpPr>
            <a:spLocks noGrp="1"/>
          </p:cNvSpPr>
          <p:nvPr/>
        </p:nvSpPr>
        <p:spPr>
          <a:xfrm>
            <a:off x="1028700" y="6096000"/>
            <a:ext cx="104775" cy="323850"/>
          </a:xfrm>
          <a:prstGeom prst="roundRect">
            <a:avLst>
              <a:gd name="adj" fmla="val 50000"/>
            </a:avLst>
          </a:prstGeom>
          <a:solidFill>
            <a:srgbClr val="87B8D6"/>
          </a:solidFill>
        </p:spPr>
      </p:sp>
      <p:sp>
        <p:nvSpPr>
          <p:cNvPr id="23" name="Hình chữ nhật 22">
            <a:extLst>
              <a:ext uri="{FF2B5EF4-FFF2-40B4-BE49-F238E27FC236}">
                <a16:creationId xmlns:a16="http://schemas.microsoft.com/office/drawing/2014/main" id="{B74EBE8D-30D2-47AE-9A74-8BDF8CCFB06F}"/>
              </a:ext>
            </a:extLst>
          </p:cNvPr>
          <p:cNvSpPr>
            <a:spLocks noGrp="1"/>
          </p:cNvSpPr>
          <p:nvPr/>
        </p:nvSpPr>
        <p:spPr>
          <a:xfrm>
            <a:off x="1238250" y="6076950"/>
            <a:ext cx="480060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Khuyến mãi</a:t>
            </a:r>
          </a:p>
        </p:txBody>
      </p:sp>
      <p:sp>
        <p:nvSpPr>
          <p:cNvPr id="24" name="Hình chữ nhật 23">
            <a:extLst>
              <a:ext uri="{FF2B5EF4-FFF2-40B4-BE49-F238E27FC236}">
                <a16:creationId xmlns:a16="http://schemas.microsoft.com/office/drawing/2014/main" id="{D8847775-5D2F-4027-9BB2-E94FAB187BF0}"/>
              </a:ext>
            </a:extLst>
          </p:cNvPr>
          <p:cNvSpPr>
            <a:spLocks noGrp="1"/>
          </p:cNvSpPr>
          <p:nvPr/>
        </p:nvSpPr>
        <p:spPr>
          <a:xfrm>
            <a:off x="1028700" y="6515100"/>
            <a:ext cx="5010150" cy="304800"/>
          </a:xfrm>
          <a:prstGeom prst="rect">
            <a:avLst/>
          </a:prstGeom>
        </p:spPr>
        <p:txBody>
          <a:bodyPr lIns="0" tIns="0" rIns="0" bIns="0"/>
          <a:lstStyle/>
          <a:p>
            <a:pPr>
              <a:lnSpc>
                <a:spcPct val="120000"/>
              </a:lnSpc>
              <a:buNone/>
              <a:defRPr sz="1575">
                <a:solidFill>
                  <a:srgbClr val="647067"/>
                </a:solidFill>
              </a:defRPr>
            </a:pPr>
            <a:r>
              <a:rPr sz="1575">
                <a:solidFill>
                  <a:srgbClr val="647067"/>
                </a:solidFill>
              </a:rPr>
              <a:t>`coupons`, `coupon_usages`, `coupon_assignments`</a:t>
            </a:r>
          </a:p>
        </p:txBody>
      </p:sp>
      <p:sp>
        <p:nvSpPr>
          <p:cNvPr id="25" name="Hình chữ nhật: Góc Tròn 24">
            <a:extLst>
              <a:ext uri="{FF2B5EF4-FFF2-40B4-BE49-F238E27FC236}">
                <a16:creationId xmlns:a16="http://schemas.microsoft.com/office/drawing/2014/main" id="{C5F34BF7-7A99-4414-8F48-44ABE7C9A6C1}"/>
              </a:ext>
            </a:extLst>
          </p:cNvPr>
          <p:cNvSpPr>
            <a:spLocks noGrp="1"/>
          </p:cNvSpPr>
          <p:nvPr/>
        </p:nvSpPr>
        <p:spPr>
          <a:xfrm>
            <a:off x="6432550" y="5910072"/>
            <a:ext cx="5422900" cy="1059561"/>
          </a:xfrm>
          <a:prstGeom prst="roundRect">
            <a:avLst>
              <a:gd name="adj" fmla="val 7192"/>
            </a:avLst>
          </a:prstGeom>
          <a:solidFill>
            <a:srgbClr val="FFFFFF"/>
          </a:solidFill>
          <a:ln w="9525">
            <a:solidFill>
              <a:srgbClr val="E8DDCF"/>
            </a:solidFill>
            <a:prstDash val="solid"/>
          </a:ln>
        </p:spPr>
      </p:sp>
      <p:sp>
        <p:nvSpPr>
          <p:cNvPr id="26" name="Hình chữ nhật: Góc Tròn 25">
            <a:extLst>
              <a:ext uri="{FF2B5EF4-FFF2-40B4-BE49-F238E27FC236}">
                <a16:creationId xmlns:a16="http://schemas.microsoft.com/office/drawing/2014/main" id="{28CC4792-9349-46B7-9D64-7D001EFC72B4}"/>
              </a:ext>
            </a:extLst>
          </p:cNvPr>
          <p:cNvSpPr>
            <a:spLocks noGrp="1"/>
          </p:cNvSpPr>
          <p:nvPr/>
        </p:nvSpPr>
        <p:spPr>
          <a:xfrm>
            <a:off x="6629400" y="6096000"/>
            <a:ext cx="104775" cy="323850"/>
          </a:xfrm>
          <a:prstGeom prst="roundRect">
            <a:avLst>
              <a:gd name="adj" fmla="val 50000"/>
            </a:avLst>
          </a:prstGeom>
          <a:solidFill>
            <a:srgbClr val="7E3D4A"/>
          </a:solidFill>
        </p:spPr>
      </p:sp>
      <p:sp>
        <p:nvSpPr>
          <p:cNvPr id="27" name="Hình chữ nhật 26">
            <a:extLst>
              <a:ext uri="{FF2B5EF4-FFF2-40B4-BE49-F238E27FC236}">
                <a16:creationId xmlns:a16="http://schemas.microsoft.com/office/drawing/2014/main" id="{574A556A-65B0-4961-8F9E-D0321B2CCE12}"/>
              </a:ext>
            </a:extLst>
          </p:cNvPr>
          <p:cNvSpPr>
            <a:spLocks noGrp="1"/>
          </p:cNvSpPr>
          <p:nvPr/>
        </p:nvSpPr>
        <p:spPr>
          <a:xfrm>
            <a:off x="6838950" y="6076950"/>
            <a:ext cx="480060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AI / chat</a:t>
            </a:r>
          </a:p>
        </p:txBody>
      </p:sp>
      <p:sp>
        <p:nvSpPr>
          <p:cNvPr id="28" name="Hình chữ nhật 27">
            <a:extLst>
              <a:ext uri="{FF2B5EF4-FFF2-40B4-BE49-F238E27FC236}">
                <a16:creationId xmlns:a16="http://schemas.microsoft.com/office/drawing/2014/main" id="{56206EAD-3EE7-4141-A20E-1118D691BB4E}"/>
              </a:ext>
            </a:extLst>
          </p:cNvPr>
          <p:cNvSpPr>
            <a:spLocks noGrp="1"/>
          </p:cNvSpPr>
          <p:nvPr/>
        </p:nvSpPr>
        <p:spPr>
          <a:xfrm>
            <a:off x="6648450" y="6515100"/>
            <a:ext cx="5010150" cy="304800"/>
          </a:xfrm>
          <a:prstGeom prst="rect">
            <a:avLst/>
          </a:prstGeom>
        </p:spPr>
        <p:txBody>
          <a:bodyPr lIns="0" tIns="0" rIns="0" bIns="0"/>
          <a:lstStyle/>
          <a:p>
            <a:pPr>
              <a:lnSpc>
                <a:spcPct val="120000"/>
              </a:lnSpc>
              <a:buNone/>
              <a:defRPr sz="1575">
                <a:solidFill>
                  <a:srgbClr val="647067"/>
                </a:solidFill>
              </a:defRPr>
            </a:pPr>
            <a:r>
              <a:rPr sz="1575">
                <a:solidFill>
                  <a:srgbClr val="647067"/>
                </a:solidFill>
              </a:rPr>
              <a:t>`system_prompts`, `chat_logs`, `chat_sessions`</a:t>
            </a:r>
          </a:p>
        </p:txBody>
      </p:sp>
      <p:sp>
        <p:nvSpPr>
          <p:cNvPr id="29" name="Hình chữ nhật: Góc Tròn 28">
            <a:extLst>
              <a:ext uri="{FF2B5EF4-FFF2-40B4-BE49-F238E27FC236}">
                <a16:creationId xmlns:a16="http://schemas.microsoft.com/office/drawing/2014/main" id="{1D016467-D60D-4CC1-BDAD-B0689D15AEC7}"/>
              </a:ext>
            </a:extLst>
          </p:cNvPr>
          <p:cNvSpPr>
            <a:spLocks noGrp="1"/>
          </p:cNvSpPr>
          <p:nvPr/>
        </p:nvSpPr>
        <p:spPr>
          <a:xfrm>
            <a:off x="12045950" y="5910072"/>
            <a:ext cx="5422900" cy="1059561"/>
          </a:xfrm>
          <a:prstGeom prst="roundRect">
            <a:avLst>
              <a:gd name="adj" fmla="val 7192"/>
            </a:avLst>
          </a:prstGeom>
          <a:solidFill>
            <a:srgbClr val="FFFFFF"/>
          </a:solidFill>
          <a:ln w="9525">
            <a:solidFill>
              <a:srgbClr val="E8DDCF"/>
            </a:solidFill>
            <a:prstDash val="solid"/>
          </a:ln>
        </p:spPr>
      </p:sp>
      <p:sp>
        <p:nvSpPr>
          <p:cNvPr id="30" name="Hình chữ nhật: Góc Tròn 29">
            <a:extLst>
              <a:ext uri="{FF2B5EF4-FFF2-40B4-BE49-F238E27FC236}">
                <a16:creationId xmlns:a16="http://schemas.microsoft.com/office/drawing/2014/main" id="{BA992EF1-9383-4703-B0B4-D83223C17DC4}"/>
              </a:ext>
            </a:extLst>
          </p:cNvPr>
          <p:cNvSpPr>
            <a:spLocks noGrp="1"/>
          </p:cNvSpPr>
          <p:nvPr/>
        </p:nvSpPr>
        <p:spPr>
          <a:xfrm>
            <a:off x="12268200" y="6096000"/>
            <a:ext cx="104775" cy="323850"/>
          </a:xfrm>
          <a:prstGeom prst="roundRect">
            <a:avLst>
              <a:gd name="adj" fmla="val 50000"/>
            </a:avLst>
          </a:prstGeom>
          <a:solidFill>
            <a:srgbClr val="25384A"/>
          </a:solidFill>
        </p:spPr>
      </p:sp>
      <p:sp>
        <p:nvSpPr>
          <p:cNvPr id="31" name="Hình chữ nhật 30">
            <a:extLst>
              <a:ext uri="{FF2B5EF4-FFF2-40B4-BE49-F238E27FC236}">
                <a16:creationId xmlns:a16="http://schemas.microsoft.com/office/drawing/2014/main" id="{A0012B52-A8D0-407B-A3E5-F7305B9CD31D}"/>
              </a:ext>
            </a:extLst>
          </p:cNvPr>
          <p:cNvSpPr>
            <a:spLocks noGrp="1"/>
          </p:cNvSpPr>
          <p:nvPr/>
        </p:nvSpPr>
        <p:spPr>
          <a:xfrm>
            <a:off x="12458700" y="6076950"/>
            <a:ext cx="480060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Nội dung</a:t>
            </a:r>
          </a:p>
        </p:txBody>
      </p:sp>
      <p:sp>
        <p:nvSpPr>
          <p:cNvPr id="32" name="Hình chữ nhật 31">
            <a:extLst>
              <a:ext uri="{FF2B5EF4-FFF2-40B4-BE49-F238E27FC236}">
                <a16:creationId xmlns:a16="http://schemas.microsoft.com/office/drawing/2014/main" id="{6B4CD07A-D43B-4D7F-AF44-13FD14B6A3A4}"/>
              </a:ext>
            </a:extLst>
          </p:cNvPr>
          <p:cNvSpPr>
            <a:spLocks noGrp="1"/>
          </p:cNvSpPr>
          <p:nvPr/>
        </p:nvSpPr>
        <p:spPr>
          <a:xfrm>
            <a:off x="12249150" y="6515100"/>
            <a:ext cx="5010150" cy="304800"/>
          </a:xfrm>
          <a:prstGeom prst="rect">
            <a:avLst/>
          </a:prstGeom>
        </p:spPr>
        <p:txBody>
          <a:bodyPr lIns="0" tIns="0" rIns="0" bIns="0"/>
          <a:lstStyle/>
          <a:p>
            <a:pPr>
              <a:lnSpc>
                <a:spcPct val="120000"/>
              </a:lnSpc>
              <a:buNone/>
              <a:defRPr sz="1575">
                <a:solidFill>
                  <a:srgbClr val="647067"/>
                </a:solidFill>
              </a:defRPr>
            </a:pPr>
            <a:r>
              <a:rPr sz="1575">
                <a:solidFill>
                  <a:srgbClr val="647067"/>
                </a:solidFill>
              </a:rPr>
              <a:t>`banners`, `blogs`, `popups`, `page_contents`, `site_settings`</a:t>
            </a:r>
          </a:p>
        </p:txBody>
      </p:sp>
    </p:spTree>
    <p:extLst>
      <p:ext uri="{BB962C8B-B14F-4D97-AF65-F5344CB8AC3E}">
        <p14:creationId xmlns:p14="http://schemas.microsoft.com/office/powerpoint/2010/main" val="20350354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background">
            <a:extLst>
              <a:ext uri="{FF2B5EF4-FFF2-40B4-BE49-F238E27FC236}">
                <a16:creationId xmlns:a16="http://schemas.microsoft.com/office/drawing/2014/main" id="{37C868A6-EFBF-4285-840E-1A0579240B4B}"/>
              </a:ext>
            </a:extLst>
          </p:cNvPr>
          <p:cNvSpPr>
            <a:spLocks noGrp="1"/>
          </p:cNvSpPr>
          <p:nvPr/>
        </p:nvSpPr>
        <p:spPr>
          <a:xfrm>
            <a:off x="0" y="0"/>
            <a:ext cx="18288000" cy="10287000"/>
          </a:xfrm>
          <a:prstGeom prst="rect">
            <a:avLst/>
          </a:prstGeom>
          <a:solidFill>
            <a:srgbClr val="FFFDF8"/>
          </a:solidFill>
        </p:spPr>
      </p:sp>
      <p:sp>
        <p:nvSpPr>
          <p:cNvPr id="2" name="top-band">
            <a:extLst>
              <a:ext uri="{FF2B5EF4-FFF2-40B4-BE49-F238E27FC236}">
                <a16:creationId xmlns:a16="http://schemas.microsoft.com/office/drawing/2014/main" id="{C4EDCD08-D385-43D7-AC5E-56092A24A384}"/>
              </a:ext>
            </a:extLst>
          </p:cNvPr>
          <p:cNvSpPr>
            <a:spLocks noGrp="1"/>
          </p:cNvSpPr>
          <p:nvPr/>
        </p:nvSpPr>
        <p:spPr>
          <a:xfrm>
            <a:off x="0" y="0"/>
            <a:ext cx="18288000" cy="152400"/>
          </a:xfrm>
          <a:prstGeom prst="rect">
            <a:avLst/>
          </a:prstGeom>
          <a:solidFill>
            <a:srgbClr val="D9B760"/>
          </a:solidFill>
        </p:spPr>
      </p:sp>
      <p:sp>
        <p:nvSpPr>
          <p:cNvPr id="3" name="bottom-band">
            <a:extLst>
              <a:ext uri="{FF2B5EF4-FFF2-40B4-BE49-F238E27FC236}">
                <a16:creationId xmlns:a16="http://schemas.microsoft.com/office/drawing/2014/main" id="{C6E7187B-208E-4785-A5F2-B814EB35B751}"/>
              </a:ext>
            </a:extLst>
          </p:cNvPr>
          <p:cNvSpPr>
            <a:spLocks noGrp="1"/>
          </p:cNvSpPr>
          <p:nvPr/>
        </p:nvSpPr>
        <p:spPr>
          <a:xfrm>
            <a:off x="0" y="0"/>
            <a:ext cx="18288000" cy="76200"/>
          </a:xfrm>
          <a:prstGeom prst="rect">
            <a:avLst/>
          </a:prstGeom>
          <a:solidFill>
            <a:srgbClr val="D9B760"/>
          </a:solidFill>
        </p:spPr>
      </p:sp>
      <p:sp>
        <p:nvSpPr>
          <p:cNvPr id="4" name="Hình chữ nhật: Góc Tròn 3">
            <a:extLst>
              <a:ext uri="{FF2B5EF4-FFF2-40B4-BE49-F238E27FC236}">
                <a16:creationId xmlns:a16="http://schemas.microsoft.com/office/drawing/2014/main" id="{F96E8D4D-B2C4-42C3-8165-E5798B9BEE72}"/>
              </a:ext>
            </a:extLst>
          </p:cNvPr>
          <p:cNvSpPr>
            <a:spLocks noGrp="1"/>
          </p:cNvSpPr>
          <p:nvPr/>
        </p:nvSpPr>
        <p:spPr>
          <a:xfrm>
            <a:off x="838200" y="647700"/>
            <a:ext cx="400050" cy="95250"/>
          </a:xfrm>
          <a:prstGeom prst="roundRect">
            <a:avLst>
              <a:gd name="adj" fmla="val 50000"/>
            </a:avLst>
          </a:prstGeom>
          <a:solidFill>
            <a:srgbClr val="D9B760"/>
          </a:solidFill>
        </p:spPr>
      </p:sp>
      <p:sp>
        <p:nvSpPr>
          <p:cNvPr id="5" name="Hình chữ nhật 4">
            <a:extLst>
              <a:ext uri="{FF2B5EF4-FFF2-40B4-BE49-F238E27FC236}">
                <a16:creationId xmlns:a16="http://schemas.microsoft.com/office/drawing/2014/main" id="{5D94FA4F-E772-4EDC-B549-54044B9D8EFF}"/>
              </a:ext>
            </a:extLst>
          </p:cNvPr>
          <p:cNvSpPr>
            <a:spLocks noGrp="1"/>
          </p:cNvSpPr>
          <p:nvPr/>
        </p:nvSpPr>
        <p:spPr>
          <a:xfrm>
            <a:off x="1371600" y="571500"/>
            <a:ext cx="15544800" cy="228600"/>
          </a:xfrm>
          <a:prstGeom prst="rect">
            <a:avLst/>
          </a:prstGeom>
        </p:spPr>
        <p:txBody>
          <a:bodyPr lIns="0" tIns="0" rIns="0" bIns="0"/>
          <a:lstStyle/>
          <a:p>
            <a:pPr>
              <a:lnSpc>
                <a:spcPct val="125000"/>
              </a:lnSpc>
              <a:buNone/>
              <a:defRPr sz="1200" b="1">
                <a:solidFill>
                  <a:srgbClr val="7E3D4A"/>
                </a:solidFill>
              </a:defRPr>
            </a:pPr>
            <a:r>
              <a:rPr sz="1200" b="1">
                <a:solidFill>
                  <a:srgbClr val="7E3D4A"/>
                </a:solidFill>
              </a:rPr>
              <a:t>DATABASE</a:t>
            </a:r>
          </a:p>
        </p:txBody>
      </p:sp>
      <p:sp>
        <p:nvSpPr>
          <p:cNvPr id="6" name="Hình chữ nhật 5">
            <a:extLst>
              <a:ext uri="{FF2B5EF4-FFF2-40B4-BE49-F238E27FC236}">
                <a16:creationId xmlns:a16="http://schemas.microsoft.com/office/drawing/2014/main" id="{F53BF976-8963-4804-B660-AD230DEE71BD}"/>
              </a:ext>
            </a:extLst>
          </p:cNvPr>
          <p:cNvSpPr>
            <a:spLocks noGrp="1"/>
          </p:cNvSpPr>
          <p:nvPr/>
        </p:nvSpPr>
        <p:spPr>
          <a:xfrm>
            <a:off x="17068800" y="571500"/>
            <a:ext cx="400050" cy="228600"/>
          </a:xfrm>
          <a:prstGeom prst="rect">
            <a:avLst/>
          </a:prstGeom>
        </p:spPr>
        <p:txBody>
          <a:bodyPr lIns="0" tIns="0" rIns="0" bIns="0"/>
          <a:lstStyle/>
          <a:p>
            <a:pPr>
              <a:lnSpc>
                <a:spcPct val="120000"/>
              </a:lnSpc>
              <a:buNone/>
              <a:defRPr sz="1275" b="1">
                <a:solidFill>
                  <a:srgbClr val="7E3D4A"/>
                </a:solidFill>
              </a:defRPr>
            </a:pPr>
            <a:r>
              <a:rPr sz="1275" b="1">
                <a:solidFill>
                  <a:srgbClr val="7E3D4A"/>
                </a:solidFill>
              </a:rPr>
              <a:t>16/30</a:t>
            </a:r>
          </a:p>
        </p:txBody>
      </p:sp>
      <p:sp>
        <p:nvSpPr>
          <p:cNvPr id="7" name="slide-title">
            <a:extLst>
              <a:ext uri="{FF2B5EF4-FFF2-40B4-BE49-F238E27FC236}">
                <a16:creationId xmlns:a16="http://schemas.microsoft.com/office/drawing/2014/main" id="{2BE2A28D-E288-4FC3-ADA8-F86F7E8611C1}"/>
              </a:ext>
            </a:extLst>
          </p:cNvPr>
          <p:cNvSpPr>
            <a:spLocks noGrp="1"/>
          </p:cNvSpPr>
          <p:nvPr/>
        </p:nvSpPr>
        <p:spPr>
          <a:xfrm>
            <a:off x="819150" y="933450"/>
            <a:ext cx="16649700" cy="590550"/>
          </a:xfrm>
          <a:prstGeom prst="rect">
            <a:avLst/>
          </a:prstGeom>
        </p:spPr>
        <p:txBody>
          <a:bodyPr lIns="0" tIns="0" rIns="0" bIns="0"/>
          <a:lstStyle/>
          <a:p>
            <a:pPr>
              <a:lnSpc>
                <a:spcPct val="105000"/>
              </a:lnSpc>
              <a:buNone/>
              <a:defRPr sz="3600" b="1">
                <a:solidFill>
                  <a:srgbClr val="151515"/>
                </a:solidFill>
              </a:defRPr>
            </a:pPr>
            <a:r>
              <a:rPr sz="3600" b="1">
                <a:solidFill>
                  <a:srgbClr val="151515"/>
                </a:solidFill>
              </a:rPr>
              <a:t>ERD rút gọn: product - variant - order là lõi của resale</a:t>
            </a:r>
          </a:p>
        </p:txBody>
      </p:sp>
      <p:sp>
        <p:nvSpPr>
          <p:cNvPr id="8" name="title-rule">
            <a:extLst>
              <a:ext uri="{FF2B5EF4-FFF2-40B4-BE49-F238E27FC236}">
                <a16:creationId xmlns:a16="http://schemas.microsoft.com/office/drawing/2014/main" id="{5A66E025-0813-42BE-83AF-9FD5F169573C}"/>
              </a:ext>
            </a:extLst>
          </p:cNvPr>
          <p:cNvSpPr>
            <a:spLocks noGrp="1"/>
          </p:cNvSpPr>
          <p:nvPr/>
        </p:nvSpPr>
        <p:spPr>
          <a:xfrm>
            <a:off x="819150" y="1619250"/>
            <a:ext cx="1905000" cy="38100"/>
          </a:xfrm>
          <a:prstGeom prst="rect">
            <a:avLst/>
          </a:prstGeom>
          <a:solidFill>
            <a:srgbClr val="D9B760"/>
          </a:solidFill>
          <a:ln w="0">
            <a:solidFill>
              <a:srgbClr val="D9B760"/>
            </a:solidFill>
            <a:prstDash val="solid"/>
          </a:ln>
        </p:spPr>
      </p:sp>
      <p:sp>
        <p:nvSpPr>
          <p:cNvPr id="9" name="Hình chữ nhật: Góc Tròn 8">
            <a:extLst>
              <a:ext uri="{FF2B5EF4-FFF2-40B4-BE49-F238E27FC236}">
                <a16:creationId xmlns:a16="http://schemas.microsoft.com/office/drawing/2014/main" id="{84C1EA9C-2668-44C1-A143-A1B636401DB0}"/>
              </a:ext>
            </a:extLst>
          </p:cNvPr>
          <p:cNvSpPr>
            <a:spLocks noGrp="1"/>
          </p:cNvSpPr>
          <p:nvPr/>
        </p:nvSpPr>
        <p:spPr>
          <a:xfrm>
            <a:off x="4333875" y="4229100"/>
            <a:ext cx="2762250" cy="1143000"/>
          </a:xfrm>
          <a:prstGeom prst="roundRect">
            <a:avLst>
              <a:gd name="adj" fmla="val 6667"/>
            </a:avLst>
          </a:prstGeom>
          <a:solidFill>
            <a:srgbClr val="FFFFFF"/>
          </a:solidFill>
          <a:ln w="9525">
            <a:solidFill>
              <a:srgbClr val="77B8A4"/>
            </a:solidFill>
            <a:prstDash val="solid"/>
          </a:ln>
        </p:spPr>
      </p:sp>
      <p:sp>
        <p:nvSpPr>
          <p:cNvPr id="10" name="Hình chữ nhật 9">
            <a:extLst>
              <a:ext uri="{FF2B5EF4-FFF2-40B4-BE49-F238E27FC236}">
                <a16:creationId xmlns:a16="http://schemas.microsoft.com/office/drawing/2014/main" id="{B58B06EA-2403-426D-AC08-01F233E9ECC7}"/>
              </a:ext>
            </a:extLst>
          </p:cNvPr>
          <p:cNvSpPr>
            <a:spLocks noGrp="1"/>
          </p:cNvSpPr>
          <p:nvPr/>
        </p:nvSpPr>
        <p:spPr>
          <a:xfrm>
            <a:off x="4514850" y="4419600"/>
            <a:ext cx="241935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USERS</a:t>
            </a:r>
          </a:p>
        </p:txBody>
      </p:sp>
      <p:sp>
        <p:nvSpPr>
          <p:cNvPr id="11" name="Hình chữ nhật 10">
            <a:extLst>
              <a:ext uri="{FF2B5EF4-FFF2-40B4-BE49-F238E27FC236}">
                <a16:creationId xmlns:a16="http://schemas.microsoft.com/office/drawing/2014/main" id="{C96BE7A3-ABC8-4166-A2AC-061B4BAE86EC}"/>
              </a:ext>
            </a:extLst>
          </p:cNvPr>
          <p:cNvSpPr>
            <a:spLocks noGrp="1"/>
          </p:cNvSpPr>
          <p:nvPr/>
        </p:nvSpPr>
        <p:spPr>
          <a:xfrm>
            <a:off x="4514850" y="4800600"/>
            <a:ext cx="2419350" cy="4000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orders, addresses, wishlist, reviews, chat logs</a:t>
            </a:r>
          </a:p>
        </p:txBody>
      </p:sp>
      <p:sp>
        <p:nvSpPr>
          <p:cNvPr id="12" name="Hình chữ nhật 11">
            <a:extLst>
              <a:ext uri="{FF2B5EF4-FFF2-40B4-BE49-F238E27FC236}">
                <a16:creationId xmlns:a16="http://schemas.microsoft.com/office/drawing/2014/main" id="{6070ACF5-E349-45B2-9A46-A4D3E58FEAAC}"/>
              </a:ext>
            </a:extLst>
          </p:cNvPr>
          <p:cNvSpPr>
            <a:spLocks noGrp="1"/>
          </p:cNvSpPr>
          <p:nvPr/>
        </p:nvSpPr>
        <p:spPr>
          <a:xfrm>
            <a:off x="7239000" y="4552950"/>
            <a:ext cx="400050" cy="495300"/>
          </a:xfrm>
          <a:prstGeom prst="rect">
            <a:avLst/>
          </a:prstGeom>
        </p:spPr>
        <p:txBody>
          <a:bodyPr lIns="0" tIns="0" rIns="0" bIns="0"/>
          <a:lstStyle/>
          <a:p>
            <a:pPr algn="ctr">
              <a:lnSpc>
                <a:spcPct val="125000"/>
              </a:lnSpc>
              <a:buNone/>
              <a:defRPr sz="2625" b="1">
                <a:solidFill>
                  <a:srgbClr val="D9B760"/>
                </a:solidFill>
              </a:defRPr>
            </a:pPr>
            <a:r>
              <a:rPr sz="2625" b="1">
                <a:solidFill>
                  <a:srgbClr val="D9B760"/>
                </a:solidFill>
              </a:rPr>
              <a:t>→</a:t>
            </a:r>
          </a:p>
        </p:txBody>
      </p:sp>
      <p:sp>
        <p:nvSpPr>
          <p:cNvPr id="13" name="Hình chữ nhật: Góc Tròn 12">
            <a:extLst>
              <a:ext uri="{FF2B5EF4-FFF2-40B4-BE49-F238E27FC236}">
                <a16:creationId xmlns:a16="http://schemas.microsoft.com/office/drawing/2014/main" id="{399B3E2D-3FD4-4220-8E0D-22487D71DA8D}"/>
              </a:ext>
            </a:extLst>
          </p:cNvPr>
          <p:cNvSpPr>
            <a:spLocks noGrp="1"/>
          </p:cNvSpPr>
          <p:nvPr/>
        </p:nvSpPr>
        <p:spPr>
          <a:xfrm>
            <a:off x="7762875" y="4229100"/>
            <a:ext cx="2667000" cy="1143000"/>
          </a:xfrm>
          <a:prstGeom prst="roundRect">
            <a:avLst>
              <a:gd name="adj" fmla="val 6667"/>
            </a:avLst>
          </a:prstGeom>
          <a:solidFill>
            <a:srgbClr val="FFFFFF"/>
          </a:solidFill>
          <a:ln w="9525">
            <a:solidFill>
              <a:srgbClr val="F39A8A"/>
            </a:solidFill>
            <a:prstDash val="solid"/>
          </a:ln>
        </p:spPr>
      </p:sp>
      <p:sp>
        <p:nvSpPr>
          <p:cNvPr id="14" name="Hình chữ nhật 13">
            <a:extLst>
              <a:ext uri="{FF2B5EF4-FFF2-40B4-BE49-F238E27FC236}">
                <a16:creationId xmlns:a16="http://schemas.microsoft.com/office/drawing/2014/main" id="{B6EAA4F2-1204-4C98-87DD-D8F97CED5F34}"/>
              </a:ext>
            </a:extLst>
          </p:cNvPr>
          <p:cNvSpPr>
            <a:spLocks noGrp="1"/>
          </p:cNvSpPr>
          <p:nvPr/>
        </p:nvSpPr>
        <p:spPr>
          <a:xfrm>
            <a:off x="7943850" y="4514850"/>
            <a:ext cx="232410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ORDERS</a:t>
            </a:r>
          </a:p>
        </p:txBody>
      </p:sp>
      <p:sp>
        <p:nvSpPr>
          <p:cNvPr id="15" name="Hình chữ nhật 14">
            <a:extLst>
              <a:ext uri="{FF2B5EF4-FFF2-40B4-BE49-F238E27FC236}">
                <a16:creationId xmlns:a16="http://schemas.microsoft.com/office/drawing/2014/main" id="{9BAA4A2D-6F0A-4248-9BFB-5D618CF1214D}"/>
              </a:ext>
            </a:extLst>
          </p:cNvPr>
          <p:cNvSpPr>
            <a:spLocks noGrp="1"/>
          </p:cNvSpPr>
          <p:nvPr/>
        </p:nvSpPr>
        <p:spPr>
          <a:xfrm>
            <a:off x="7943850" y="4895850"/>
            <a:ext cx="2324100" cy="2095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status, payment, shipping snapshot</a:t>
            </a:r>
          </a:p>
        </p:txBody>
      </p:sp>
      <p:sp>
        <p:nvSpPr>
          <p:cNvPr id="16" name="Hình chữ nhật 15">
            <a:extLst>
              <a:ext uri="{FF2B5EF4-FFF2-40B4-BE49-F238E27FC236}">
                <a16:creationId xmlns:a16="http://schemas.microsoft.com/office/drawing/2014/main" id="{F9DFE5BF-5B71-4BC3-BB30-7BD0F2D8E3FB}"/>
              </a:ext>
            </a:extLst>
          </p:cNvPr>
          <p:cNvSpPr>
            <a:spLocks noGrp="1"/>
          </p:cNvSpPr>
          <p:nvPr/>
        </p:nvSpPr>
        <p:spPr>
          <a:xfrm>
            <a:off x="10572750" y="4552950"/>
            <a:ext cx="400050" cy="495300"/>
          </a:xfrm>
          <a:prstGeom prst="rect">
            <a:avLst/>
          </a:prstGeom>
        </p:spPr>
        <p:txBody>
          <a:bodyPr lIns="0" tIns="0" rIns="0" bIns="0"/>
          <a:lstStyle/>
          <a:p>
            <a:pPr algn="ctr">
              <a:lnSpc>
                <a:spcPct val="125000"/>
              </a:lnSpc>
              <a:buNone/>
              <a:defRPr sz="2625" b="1">
                <a:solidFill>
                  <a:srgbClr val="D9B760"/>
                </a:solidFill>
              </a:defRPr>
            </a:pPr>
            <a:r>
              <a:rPr sz="2625" b="1">
                <a:solidFill>
                  <a:srgbClr val="D9B760"/>
                </a:solidFill>
              </a:rPr>
              <a:t>→</a:t>
            </a:r>
          </a:p>
        </p:txBody>
      </p:sp>
      <p:sp>
        <p:nvSpPr>
          <p:cNvPr id="17" name="Hình chữ nhật: Góc Tròn 16">
            <a:extLst>
              <a:ext uri="{FF2B5EF4-FFF2-40B4-BE49-F238E27FC236}">
                <a16:creationId xmlns:a16="http://schemas.microsoft.com/office/drawing/2014/main" id="{B948E371-688D-4979-873C-40BB88F46E40}"/>
              </a:ext>
            </a:extLst>
          </p:cNvPr>
          <p:cNvSpPr>
            <a:spLocks noGrp="1"/>
          </p:cNvSpPr>
          <p:nvPr/>
        </p:nvSpPr>
        <p:spPr>
          <a:xfrm>
            <a:off x="11096625" y="4229100"/>
            <a:ext cx="2857500" cy="1143000"/>
          </a:xfrm>
          <a:prstGeom prst="roundRect">
            <a:avLst>
              <a:gd name="adj" fmla="val 6667"/>
            </a:avLst>
          </a:prstGeom>
          <a:solidFill>
            <a:srgbClr val="FFFFFF"/>
          </a:solidFill>
          <a:ln w="9525">
            <a:solidFill>
              <a:srgbClr val="7E3D4A"/>
            </a:solidFill>
            <a:prstDash val="solid"/>
          </a:ln>
        </p:spPr>
      </p:sp>
      <p:sp>
        <p:nvSpPr>
          <p:cNvPr id="18" name="Hình chữ nhật 17">
            <a:extLst>
              <a:ext uri="{FF2B5EF4-FFF2-40B4-BE49-F238E27FC236}">
                <a16:creationId xmlns:a16="http://schemas.microsoft.com/office/drawing/2014/main" id="{73E219F8-05A8-4D67-B2C0-893F1622AD9B}"/>
              </a:ext>
            </a:extLst>
          </p:cNvPr>
          <p:cNvSpPr>
            <a:spLocks noGrp="1"/>
          </p:cNvSpPr>
          <p:nvPr/>
        </p:nvSpPr>
        <p:spPr>
          <a:xfrm>
            <a:off x="11277600" y="4514850"/>
            <a:ext cx="251460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ORDER_ITEMS</a:t>
            </a:r>
          </a:p>
        </p:txBody>
      </p:sp>
      <p:sp>
        <p:nvSpPr>
          <p:cNvPr id="19" name="Hình chữ nhật 18">
            <a:extLst>
              <a:ext uri="{FF2B5EF4-FFF2-40B4-BE49-F238E27FC236}">
                <a16:creationId xmlns:a16="http://schemas.microsoft.com/office/drawing/2014/main" id="{B6861431-DC0E-4214-B8BF-D3CD9422F9B7}"/>
              </a:ext>
            </a:extLst>
          </p:cNvPr>
          <p:cNvSpPr>
            <a:spLocks noGrp="1"/>
          </p:cNvSpPr>
          <p:nvPr/>
        </p:nvSpPr>
        <p:spPr>
          <a:xfrm>
            <a:off x="11277600" y="4895850"/>
            <a:ext cx="2514600" cy="2095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product snapshot + variant id</a:t>
            </a:r>
          </a:p>
        </p:txBody>
      </p:sp>
      <p:sp>
        <p:nvSpPr>
          <p:cNvPr id="20" name="Hình chữ nhật: Góc Tròn 19">
            <a:extLst>
              <a:ext uri="{FF2B5EF4-FFF2-40B4-BE49-F238E27FC236}">
                <a16:creationId xmlns:a16="http://schemas.microsoft.com/office/drawing/2014/main" id="{ACF562BB-4542-4651-94AE-9285ED21E6F6}"/>
              </a:ext>
            </a:extLst>
          </p:cNvPr>
          <p:cNvSpPr>
            <a:spLocks noGrp="1"/>
          </p:cNvSpPr>
          <p:nvPr/>
        </p:nvSpPr>
        <p:spPr>
          <a:xfrm>
            <a:off x="4095750" y="5638800"/>
            <a:ext cx="2857500" cy="1143000"/>
          </a:xfrm>
          <a:prstGeom prst="roundRect">
            <a:avLst>
              <a:gd name="adj" fmla="val 6667"/>
            </a:avLst>
          </a:prstGeom>
          <a:solidFill>
            <a:srgbClr val="FFFFFF"/>
          </a:solidFill>
          <a:ln w="9525">
            <a:solidFill>
              <a:srgbClr val="D9B760"/>
            </a:solidFill>
            <a:prstDash val="solid"/>
          </a:ln>
        </p:spPr>
      </p:sp>
      <p:sp>
        <p:nvSpPr>
          <p:cNvPr id="21" name="Hình chữ nhật 20">
            <a:extLst>
              <a:ext uri="{FF2B5EF4-FFF2-40B4-BE49-F238E27FC236}">
                <a16:creationId xmlns:a16="http://schemas.microsoft.com/office/drawing/2014/main" id="{2E2ADDFA-288B-4044-A9AA-110DBF0D0011}"/>
              </a:ext>
            </a:extLst>
          </p:cNvPr>
          <p:cNvSpPr>
            <a:spLocks noGrp="1"/>
          </p:cNvSpPr>
          <p:nvPr/>
        </p:nvSpPr>
        <p:spPr>
          <a:xfrm>
            <a:off x="4267200" y="5924550"/>
            <a:ext cx="251460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PRODUCTS</a:t>
            </a:r>
          </a:p>
        </p:txBody>
      </p:sp>
      <p:sp>
        <p:nvSpPr>
          <p:cNvPr id="22" name="Hình chữ nhật 21">
            <a:extLst>
              <a:ext uri="{FF2B5EF4-FFF2-40B4-BE49-F238E27FC236}">
                <a16:creationId xmlns:a16="http://schemas.microsoft.com/office/drawing/2014/main" id="{5C89A57B-EC67-41B9-B78E-2D0EECBB0111}"/>
              </a:ext>
            </a:extLst>
          </p:cNvPr>
          <p:cNvSpPr>
            <a:spLocks noGrp="1"/>
          </p:cNvSpPr>
          <p:nvPr/>
        </p:nvSpPr>
        <p:spPr>
          <a:xfrm>
            <a:off x="4267200" y="6305550"/>
            <a:ext cx="2514600" cy="2095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name, brand, category, price, images</a:t>
            </a:r>
          </a:p>
        </p:txBody>
      </p:sp>
      <p:sp>
        <p:nvSpPr>
          <p:cNvPr id="23" name="Hình chữ nhật 22">
            <a:extLst>
              <a:ext uri="{FF2B5EF4-FFF2-40B4-BE49-F238E27FC236}">
                <a16:creationId xmlns:a16="http://schemas.microsoft.com/office/drawing/2014/main" id="{79A2AB37-E994-468B-94FC-9DAE3E17F548}"/>
              </a:ext>
            </a:extLst>
          </p:cNvPr>
          <p:cNvSpPr>
            <a:spLocks noGrp="1"/>
          </p:cNvSpPr>
          <p:nvPr/>
        </p:nvSpPr>
        <p:spPr>
          <a:xfrm>
            <a:off x="7086600" y="5962650"/>
            <a:ext cx="400050" cy="495300"/>
          </a:xfrm>
          <a:prstGeom prst="rect">
            <a:avLst/>
          </a:prstGeom>
        </p:spPr>
        <p:txBody>
          <a:bodyPr lIns="0" tIns="0" rIns="0" bIns="0"/>
          <a:lstStyle/>
          <a:p>
            <a:pPr algn="ctr">
              <a:lnSpc>
                <a:spcPct val="125000"/>
              </a:lnSpc>
              <a:buNone/>
              <a:defRPr sz="2625" b="1">
                <a:solidFill>
                  <a:srgbClr val="77B8A4"/>
                </a:solidFill>
              </a:defRPr>
            </a:pPr>
            <a:r>
              <a:rPr sz="2625" b="1">
                <a:solidFill>
                  <a:srgbClr val="77B8A4"/>
                </a:solidFill>
              </a:rPr>
              <a:t>→</a:t>
            </a:r>
          </a:p>
        </p:txBody>
      </p:sp>
      <p:sp>
        <p:nvSpPr>
          <p:cNvPr id="24" name="Hình chữ nhật: Góc Tròn 23">
            <a:extLst>
              <a:ext uri="{FF2B5EF4-FFF2-40B4-BE49-F238E27FC236}">
                <a16:creationId xmlns:a16="http://schemas.microsoft.com/office/drawing/2014/main" id="{14DCFE9B-F34F-404D-8881-74FD5B281E67}"/>
              </a:ext>
            </a:extLst>
          </p:cNvPr>
          <p:cNvSpPr>
            <a:spLocks noGrp="1"/>
          </p:cNvSpPr>
          <p:nvPr/>
        </p:nvSpPr>
        <p:spPr>
          <a:xfrm>
            <a:off x="7620000" y="5638800"/>
            <a:ext cx="2952750" cy="1143000"/>
          </a:xfrm>
          <a:prstGeom prst="roundRect">
            <a:avLst>
              <a:gd name="adj" fmla="val 6667"/>
            </a:avLst>
          </a:prstGeom>
          <a:solidFill>
            <a:srgbClr val="FFFFFF"/>
          </a:solidFill>
          <a:ln w="9525">
            <a:solidFill>
              <a:srgbClr val="87B8D6"/>
            </a:solidFill>
            <a:prstDash val="solid"/>
          </a:ln>
        </p:spPr>
      </p:sp>
      <p:sp>
        <p:nvSpPr>
          <p:cNvPr id="25" name="Hình chữ nhật 24">
            <a:extLst>
              <a:ext uri="{FF2B5EF4-FFF2-40B4-BE49-F238E27FC236}">
                <a16:creationId xmlns:a16="http://schemas.microsoft.com/office/drawing/2014/main" id="{3F61C697-61A7-4F45-B633-B0223D54EDCD}"/>
              </a:ext>
            </a:extLst>
          </p:cNvPr>
          <p:cNvSpPr>
            <a:spLocks noGrp="1"/>
          </p:cNvSpPr>
          <p:nvPr/>
        </p:nvSpPr>
        <p:spPr>
          <a:xfrm>
            <a:off x="7791450" y="5924550"/>
            <a:ext cx="260985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VARIANTS</a:t>
            </a:r>
          </a:p>
        </p:txBody>
      </p:sp>
      <p:sp>
        <p:nvSpPr>
          <p:cNvPr id="26" name="Hình chữ nhật 25">
            <a:extLst>
              <a:ext uri="{FF2B5EF4-FFF2-40B4-BE49-F238E27FC236}">
                <a16:creationId xmlns:a16="http://schemas.microsoft.com/office/drawing/2014/main" id="{869C307B-C45D-41B8-B304-98CB6CEEBE8D}"/>
              </a:ext>
            </a:extLst>
          </p:cNvPr>
          <p:cNvSpPr>
            <a:spLocks noGrp="1"/>
          </p:cNvSpPr>
          <p:nvPr/>
        </p:nvSpPr>
        <p:spPr>
          <a:xfrm>
            <a:off x="7791450" y="6305550"/>
            <a:ext cx="2609850" cy="2095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SKU, size, color, material, status, stock</a:t>
            </a:r>
          </a:p>
        </p:txBody>
      </p:sp>
      <p:sp>
        <p:nvSpPr>
          <p:cNvPr id="27" name="Hình chữ nhật 26">
            <a:extLst>
              <a:ext uri="{FF2B5EF4-FFF2-40B4-BE49-F238E27FC236}">
                <a16:creationId xmlns:a16="http://schemas.microsoft.com/office/drawing/2014/main" id="{944D7C66-D5EE-48C3-A182-C99A9344AC93}"/>
              </a:ext>
            </a:extLst>
          </p:cNvPr>
          <p:cNvSpPr>
            <a:spLocks noGrp="1"/>
          </p:cNvSpPr>
          <p:nvPr/>
        </p:nvSpPr>
        <p:spPr>
          <a:xfrm>
            <a:off x="10706100" y="5962650"/>
            <a:ext cx="400050" cy="495300"/>
          </a:xfrm>
          <a:prstGeom prst="rect">
            <a:avLst/>
          </a:prstGeom>
        </p:spPr>
        <p:txBody>
          <a:bodyPr lIns="0" tIns="0" rIns="0" bIns="0"/>
          <a:lstStyle/>
          <a:p>
            <a:pPr algn="ctr">
              <a:lnSpc>
                <a:spcPct val="125000"/>
              </a:lnSpc>
              <a:buNone/>
              <a:defRPr sz="2625" b="1">
                <a:solidFill>
                  <a:srgbClr val="77B8A4"/>
                </a:solidFill>
              </a:defRPr>
            </a:pPr>
            <a:r>
              <a:rPr sz="2625" b="1">
                <a:solidFill>
                  <a:srgbClr val="77B8A4"/>
                </a:solidFill>
              </a:rPr>
              <a:t>→</a:t>
            </a:r>
          </a:p>
        </p:txBody>
      </p:sp>
      <p:sp>
        <p:nvSpPr>
          <p:cNvPr id="28" name="Hình chữ nhật: Góc Tròn 27">
            <a:extLst>
              <a:ext uri="{FF2B5EF4-FFF2-40B4-BE49-F238E27FC236}">
                <a16:creationId xmlns:a16="http://schemas.microsoft.com/office/drawing/2014/main" id="{2977F1C5-C50B-487E-B5DE-EF22B99F049D}"/>
              </a:ext>
            </a:extLst>
          </p:cNvPr>
          <p:cNvSpPr>
            <a:spLocks noGrp="1"/>
          </p:cNvSpPr>
          <p:nvPr/>
        </p:nvSpPr>
        <p:spPr>
          <a:xfrm>
            <a:off x="11239500" y="5638800"/>
            <a:ext cx="2952750" cy="1143000"/>
          </a:xfrm>
          <a:prstGeom prst="roundRect">
            <a:avLst>
              <a:gd name="adj" fmla="val 6667"/>
            </a:avLst>
          </a:prstGeom>
          <a:solidFill>
            <a:srgbClr val="FFFFFF"/>
          </a:solidFill>
          <a:ln w="9525">
            <a:solidFill>
              <a:srgbClr val="77B8A4"/>
            </a:solidFill>
            <a:prstDash val="solid"/>
          </a:ln>
        </p:spPr>
      </p:sp>
      <p:sp>
        <p:nvSpPr>
          <p:cNvPr id="29" name="Hình chữ nhật 28">
            <a:extLst>
              <a:ext uri="{FF2B5EF4-FFF2-40B4-BE49-F238E27FC236}">
                <a16:creationId xmlns:a16="http://schemas.microsoft.com/office/drawing/2014/main" id="{77C6372D-1F41-446F-B2C8-64868FDA43DB}"/>
              </a:ext>
            </a:extLst>
          </p:cNvPr>
          <p:cNvSpPr>
            <a:spLocks noGrp="1"/>
          </p:cNvSpPr>
          <p:nvPr/>
        </p:nvSpPr>
        <p:spPr>
          <a:xfrm>
            <a:off x="11410950" y="5924550"/>
            <a:ext cx="260985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REVIEWS / WISHLISTS</a:t>
            </a:r>
          </a:p>
        </p:txBody>
      </p:sp>
      <p:sp>
        <p:nvSpPr>
          <p:cNvPr id="30" name="Hình chữ nhật 29">
            <a:extLst>
              <a:ext uri="{FF2B5EF4-FFF2-40B4-BE49-F238E27FC236}">
                <a16:creationId xmlns:a16="http://schemas.microsoft.com/office/drawing/2014/main" id="{14075D10-440B-4C2F-919D-198A30FE0F18}"/>
              </a:ext>
            </a:extLst>
          </p:cNvPr>
          <p:cNvSpPr>
            <a:spLocks noGrp="1"/>
          </p:cNvSpPr>
          <p:nvPr/>
        </p:nvSpPr>
        <p:spPr>
          <a:xfrm>
            <a:off x="11410950" y="6305550"/>
            <a:ext cx="2609850" cy="2095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social proof + saved items</a:t>
            </a:r>
          </a:p>
        </p:txBody>
      </p:sp>
      <p:sp>
        <p:nvSpPr>
          <p:cNvPr id="31" name="Hình chữ nhật 30">
            <a:extLst>
              <a:ext uri="{FF2B5EF4-FFF2-40B4-BE49-F238E27FC236}">
                <a16:creationId xmlns:a16="http://schemas.microsoft.com/office/drawing/2014/main" id="{DD8E8F5D-71B5-491D-857D-9ED8CE559BAF}"/>
              </a:ext>
            </a:extLst>
          </p:cNvPr>
          <p:cNvSpPr>
            <a:spLocks noGrp="1"/>
          </p:cNvSpPr>
          <p:nvPr/>
        </p:nvSpPr>
        <p:spPr>
          <a:xfrm>
            <a:off x="819150" y="7048500"/>
            <a:ext cx="16649700" cy="381000"/>
          </a:xfrm>
          <a:prstGeom prst="rect">
            <a:avLst/>
          </a:prstGeom>
        </p:spPr>
        <p:txBody>
          <a:bodyPr lIns="0" tIns="0" rIns="0" bIns="0"/>
          <a:lstStyle/>
          <a:p>
            <a:pPr algn="ctr">
              <a:lnSpc>
                <a:spcPct val="120000"/>
              </a:lnSpc>
              <a:buNone/>
              <a:defRPr sz="2025" b="1">
                <a:solidFill>
                  <a:srgbClr val="151515"/>
                </a:solidFill>
              </a:defRPr>
            </a:pPr>
            <a:r>
              <a:rPr sz="2025" b="1">
                <a:solidFill>
                  <a:srgbClr val="151515"/>
                </a:solidFill>
              </a:rPr>
              <a:t>Điểm thiết kế quan trọng: `variants` đại diện cho từng item vật lý; `order_items` lưu snapshot để lịch sử đơn không bị đổi khi catalog thay đổi.</a:t>
            </a:r>
          </a:p>
        </p:txBody>
      </p:sp>
    </p:spTree>
    <p:extLst>
      <p:ext uri="{BB962C8B-B14F-4D97-AF65-F5344CB8AC3E}">
        <p14:creationId xmlns:p14="http://schemas.microsoft.com/office/powerpoint/2010/main" val="8327821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background">
            <a:extLst>
              <a:ext uri="{FF2B5EF4-FFF2-40B4-BE49-F238E27FC236}">
                <a16:creationId xmlns:a16="http://schemas.microsoft.com/office/drawing/2014/main" id="{24CFFFA1-5CFA-4824-ABA8-E18ED090B1D8}"/>
              </a:ext>
            </a:extLst>
          </p:cNvPr>
          <p:cNvSpPr>
            <a:spLocks noGrp="1"/>
          </p:cNvSpPr>
          <p:nvPr/>
        </p:nvSpPr>
        <p:spPr>
          <a:xfrm>
            <a:off x="0" y="0"/>
            <a:ext cx="18288000" cy="10287000"/>
          </a:xfrm>
          <a:prstGeom prst="rect">
            <a:avLst/>
          </a:prstGeom>
          <a:solidFill>
            <a:srgbClr val="FFFDF8"/>
          </a:solidFill>
        </p:spPr>
      </p:sp>
      <p:sp>
        <p:nvSpPr>
          <p:cNvPr id="2" name="top-band">
            <a:extLst>
              <a:ext uri="{FF2B5EF4-FFF2-40B4-BE49-F238E27FC236}">
                <a16:creationId xmlns:a16="http://schemas.microsoft.com/office/drawing/2014/main" id="{331EA125-E3D6-4207-B5DB-EFF3DF63FBEE}"/>
              </a:ext>
            </a:extLst>
          </p:cNvPr>
          <p:cNvSpPr>
            <a:spLocks noGrp="1"/>
          </p:cNvSpPr>
          <p:nvPr/>
        </p:nvSpPr>
        <p:spPr>
          <a:xfrm>
            <a:off x="0" y="0"/>
            <a:ext cx="18288000" cy="152400"/>
          </a:xfrm>
          <a:prstGeom prst="rect">
            <a:avLst/>
          </a:prstGeom>
          <a:solidFill>
            <a:srgbClr val="F39A8A"/>
          </a:solidFill>
        </p:spPr>
      </p:sp>
      <p:sp>
        <p:nvSpPr>
          <p:cNvPr id="3" name="bottom-band">
            <a:extLst>
              <a:ext uri="{FF2B5EF4-FFF2-40B4-BE49-F238E27FC236}">
                <a16:creationId xmlns:a16="http://schemas.microsoft.com/office/drawing/2014/main" id="{C97839E9-8F5C-4445-AD44-90B70F505C2D}"/>
              </a:ext>
            </a:extLst>
          </p:cNvPr>
          <p:cNvSpPr>
            <a:spLocks noGrp="1"/>
          </p:cNvSpPr>
          <p:nvPr/>
        </p:nvSpPr>
        <p:spPr>
          <a:xfrm>
            <a:off x="0" y="0"/>
            <a:ext cx="18288000" cy="76200"/>
          </a:xfrm>
          <a:prstGeom prst="rect">
            <a:avLst/>
          </a:prstGeom>
          <a:solidFill>
            <a:srgbClr val="D9B760"/>
          </a:solidFill>
        </p:spPr>
      </p:sp>
      <p:sp>
        <p:nvSpPr>
          <p:cNvPr id="4" name="Hình chữ nhật: Góc Tròn 3">
            <a:extLst>
              <a:ext uri="{FF2B5EF4-FFF2-40B4-BE49-F238E27FC236}">
                <a16:creationId xmlns:a16="http://schemas.microsoft.com/office/drawing/2014/main" id="{7F14FEE2-F45F-4A00-9300-4E314500769E}"/>
              </a:ext>
            </a:extLst>
          </p:cNvPr>
          <p:cNvSpPr>
            <a:spLocks noGrp="1"/>
          </p:cNvSpPr>
          <p:nvPr/>
        </p:nvSpPr>
        <p:spPr>
          <a:xfrm>
            <a:off x="838200" y="647700"/>
            <a:ext cx="400050" cy="95250"/>
          </a:xfrm>
          <a:prstGeom prst="roundRect">
            <a:avLst>
              <a:gd name="adj" fmla="val 50000"/>
            </a:avLst>
          </a:prstGeom>
          <a:solidFill>
            <a:srgbClr val="F39A8A"/>
          </a:solidFill>
        </p:spPr>
      </p:sp>
      <p:sp>
        <p:nvSpPr>
          <p:cNvPr id="5" name="Hình chữ nhật 4">
            <a:extLst>
              <a:ext uri="{FF2B5EF4-FFF2-40B4-BE49-F238E27FC236}">
                <a16:creationId xmlns:a16="http://schemas.microsoft.com/office/drawing/2014/main" id="{4043D680-108D-42CC-8891-F8D935430E49}"/>
              </a:ext>
            </a:extLst>
          </p:cNvPr>
          <p:cNvSpPr>
            <a:spLocks noGrp="1"/>
          </p:cNvSpPr>
          <p:nvPr/>
        </p:nvSpPr>
        <p:spPr>
          <a:xfrm>
            <a:off x="1371600" y="571500"/>
            <a:ext cx="15544800" cy="228600"/>
          </a:xfrm>
          <a:prstGeom prst="rect">
            <a:avLst/>
          </a:prstGeom>
        </p:spPr>
        <p:txBody>
          <a:bodyPr lIns="0" tIns="0" rIns="0" bIns="0"/>
          <a:lstStyle/>
          <a:p>
            <a:pPr>
              <a:lnSpc>
                <a:spcPct val="125000"/>
              </a:lnSpc>
              <a:buNone/>
              <a:defRPr sz="1200" b="1">
                <a:solidFill>
                  <a:srgbClr val="7E3D4A"/>
                </a:solidFill>
              </a:defRPr>
            </a:pPr>
            <a:r>
              <a:rPr sz="1200" b="1">
                <a:solidFill>
                  <a:srgbClr val="7E3D4A"/>
                </a:solidFill>
              </a:rPr>
              <a:t>CUSTOMER</a:t>
            </a:r>
          </a:p>
        </p:txBody>
      </p:sp>
      <p:sp>
        <p:nvSpPr>
          <p:cNvPr id="6" name="Hình chữ nhật 5">
            <a:extLst>
              <a:ext uri="{FF2B5EF4-FFF2-40B4-BE49-F238E27FC236}">
                <a16:creationId xmlns:a16="http://schemas.microsoft.com/office/drawing/2014/main" id="{39EB1EC7-38EF-4C4A-BC98-3C243DE5B5E5}"/>
              </a:ext>
            </a:extLst>
          </p:cNvPr>
          <p:cNvSpPr>
            <a:spLocks noGrp="1"/>
          </p:cNvSpPr>
          <p:nvPr/>
        </p:nvSpPr>
        <p:spPr>
          <a:xfrm>
            <a:off x="17068800" y="571500"/>
            <a:ext cx="400050" cy="228600"/>
          </a:xfrm>
          <a:prstGeom prst="rect">
            <a:avLst/>
          </a:prstGeom>
        </p:spPr>
        <p:txBody>
          <a:bodyPr lIns="0" tIns="0" rIns="0" bIns="0"/>
          <a:lstStyle/>
          <a:p>
            <a:pPr>
              <a:lnSpc>
                <a:spcPct val="120000"/>
              </a:lnSpc>
              <a:buNone/>
              <a:defRPr sz="1275" b="1">
                <a:solidFill>
                  <a:srgbClr val="7E3D4A"/>
                </a:solidFill>
              </a:defRPr>
            </a:pPr>
            <a:r>
              <a:rPr sz="1275" b="1" dirty="0">
                <a:solidFill>
                  <a:srgbClr val="7E3D4A"/>
                </a:solidFill>
              </a:rPr>
              <a:t>17/30</a:t>
            </a:r>
          </a:p>
        </p:txBody>
      </p:sp>
      <p:sp>
        <p:nvSpPr>
          <p:cNvPr id="7" name="slide-title">
            <a:extLst>
              <a:ext uri="{FF2B5EF4-FFF2-40B4-BE49-F238E27FC236}">
                <a16:creationId xmlns:a16="http://schemas.microsoft.com/office/drawing/2014/main" id="{3E1176F8-0D11-4B22-87EB-D8F8541CABE7}"/>
              </a:ext>
            </a:extLst>
          </p:cNvPr>
          <p:cNvSpPr>
            <a:spLocks noGrp="1"/>
          </p:cNvSpPr>
          <p:nvPr/>
        </p:nvSpPr>
        <p:spPr>
          <a:xfrm>
            <a:off x="819150" y="933450"/>
            <a:ext cx="16649700" cy="590550"/>
          </a:xfrm>
          <a:prstGeom prst="rect">
            <a:avLst/>
          </a:prstGeom>
        </p:spPr>
        <p:txBody>
          <a:bodyPr lIns="0" tIns="0" rIns="0" bIns="0"/>
          <a:lstStyle/>
          <a:p>
            <a:pPr>
              <a:lnSpc>
                <a:spcPct val="105000"/>
              </a:lnSpc>
              <a:buNone/>
              <a:defRPr sz="3600" b="1">
                <a:solidFill>
                  <a:srgbClr val="151515"/>
                </a:solidFill>
              </a:defRPr>
            </a:pPr>
            <a:r>
              <a:rPr sz="3600" b="1">
                <a:solidFill>
                  <a:srgbClr val="151515"/>
                </a:solidFill>
              </a:rPr>
              <a:t>Module khách hàng đi từ tài khoản đến hậu mãi</a:t>
            </a:r>
          </a:p>
        </p:txBody>
      </p:sp>
      <p:sp>
        <p:nvSpPr>
          <p:cNvPr id="8" name="title-rule">
            <a:extLst>
              <a:ext uri="{FF2B5EF4-FFF2-40B4-BE49-F238E27FC236}">
                <a16:creationId xmlns:a16="http://schemas.microsoft.com/office/drawing/2014/main" id="{796CBDA9-A9C8-48F4-B41C-2C1D1DA462DB}"/>
              </a:ext>
            </a:extLst>
          </p:cNvPr>
          <p:cNvSpPr>
            <a:spLocks noGrp="1"/>
          </p:cNvSpPr>
          <p:nvPr/>
        </p:nvSpPr>
        <p:spPr>
          <a:xfrm>
            <a:off x="819150" y="1619250"/>
            <a:ext cx="1905000" cy="38100"/>
          </a:xfrm>
          <a:prstGeom prst="rect">
            <a:avLst/>
          </a:prstGeom>
          <a:solidFill>
            <a:srgbClr val="F39A8A"/>
          </a:solidFill>
          <a:ln w="0">
            <a:solidFill>
              <a:srgbClr val="F39A8A"/>
            </a:solidFill>
            <a:prstDash val="solid"/>
          </a:ln>
        </p:spPr>
      </p:sp>
      <p:sp>
        <p:nvSpPr>
          <p:cNvPr id="9" name="Hình chữ nhật: Góc Tròn 8">
            <a:extLst>
              <a:ext uri="{FF2B5EF4-FFF2-40B4-BE49-F238E27FC236}">
                <a16:creationId xmlns:a16="http://schemas.microsoft.com/office/drawing/2014/main" id="{AAD2BAAD-8A76-48B1-A4AD-A72DC38D598C}"/>
              </a:ext>
            </a:extLst>
          </p:cNvPr>
          <p:cNvSpPr>
            <a:spLocks noGrp="1"/>
          </p:cNvSpPr>
          <p:nvPr/>
        </p:nvSpPr>
        <p:spPr>
          <a:xfrm>
            <a:off x="2628900" y="4667250"/>
            <a:ext cx="2000250" cy="990600"/>
          </a:xfrm>
          <a:prstGeom prst="roundRect">
            <a:avLst>
              <a:gd name="adj" fmla="val 7692"/>
            </a:avLst>
          </a:prstGeom>
          <a:solidFill>
            <a:srgbClr val="FFFFFF"/>
          </a:solidFill>
          <a:ln w="9525">
            <a:solidFill>
              <a:srgbClr val="77B8A4"/>
            </a:solidFill>
            <a:prstDash val="solid"/>
          </a:ln>
        </p:spPr>
      </p:sp>
      <p:sp>
        <p:nvSpPr>
          <p:cNvPr id="10" name="Hình chữ nhật 9">
            <a:extLst>
              <a:ext uri="{FF2B5EF4-FFF2-40B4-BE49-F238E27FC236}">
                <a16:creationId xmlns:a16="http://schemas.microsoft.com/office/drawing/2014/main" id="{6520D84B-90BC-432C-9665-FFE0AC9AD319}"/>
              </a:ext>
            </a:extLst>
          </p:cNvPr>
          <p:cNvSpPr>
            <a:spLocks noGrp="1"/>
          </p:cNvSpPr>
          <p:nvPr/>
        </p:nvSpPr>
        <p:spPr>
          <a:xfrm>
            <a:off x="2800350" y="4876800"/>
            <a:ext cx="165735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Auth</a:t>
            </a:r>
          </a:p>
        </p:txBody>
      </p:sp>
      <p:sp>
        <p:nvSpPr>
          <p:cNvPr id="11" name="Hình chữ nhật 10">
            <a:extLst>
              <a:ext uri="{FF2B5EF4-FFF2-40B4-BE49-F238E27FC236}">
                <a16:creationId xmlns:a16="http://schemas.microsoft.com/office/drawing/2014/main" id="{C3D027C0-E643-4D2A-B78E-AFB4A4F96622}"/>
              </a:ext>
            </a:extLst>
          </p:cNvPr>
          <p:cNvSpPr>
            <a:spLocks noGrp="1"/>
          </p:cNvSpPr>
          <p:nvPr/>
        </p:nvSpPr>
        <p:spPr>
          <a:xfrm>
            <a:off x="2800350" y="5257800"/>
            <a:ext cx="1657350" cy="2095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Register, OTP, OAuth, reset</a:t>
            </a:r>
          </a:p>
        </p:txBody>
      </p:sp>
      <p:sp>
        <p:nvSpPr>
          <p:cNvPr id="12" name="Hình chữ nhật 11">
            <a:extLst>
              <a:ext uri="{FF2B5EF4-FFF2-40B4-BE49-F238E27FC236}">
                <a16:creationId xmlns:a16="http://schemas.microsoft.com/office/drawing/2014/main" id="{663EAE38-2D70-41BC-9CAC-FA8E49BCAA4E}"/>
              </a:ext>
            </a:extLst>
          </p:cNvPr>
          <p:cNvSpPr>
            <a:spLocks noGrp="1"/>
          </p:cNvSpPr>
          <p:nvPr/>
        </p:nvSpPr>
        <p:spPr>
          <a:xfrm>
            <a:off x="4724400" y="4914900"/>
            <a:ext cx="400050" cy="495300"/>
          </a:xfrm>
          <a:prstGeom prst="rect">
            <a:avLst/>
          </a:prstGeom>
        </p:spPr>
        <p:txBody>
          <a:bodyPr lIns="0" tIns="0" rIns="0" bIns="0"/>
          <a:lstStyle/>
          <a:p>
            <a:pPr algn="ctr">
              <a:lnSpc>
                <a:spcPct val="125000"/>
              </a:lnSpc>
              <a:buNone/>
              <a:defRPr sz="2625" b="1">
                <a:solidFill>
                  <a:srgbClr val="F39A8A"/>
                </a:solidFill>
              </a:defRPr>
            </a:pPr>
            <a:r>
              <a:rPr sz="2625" b="1">
                <a:solidFill>
                  <a:srgbClr val="F39A8A"/>
                </a:solidFill>
              </a:rPr>
              <a:t>→</a:t>
            </a:r>
          </a:p>
        </p:txBody>
      </p:sp>
      <p:sp>
        <p:nvSpPr>
          <p:cNvPr id="13" name="Hình chữ nhật: Góc Tròn 12">
            <a:extLst>
              <a:ext uri="{FF2B5EF4-FFF2-40B4-BE49-F238E27FC236}">
                <a16:creationId xmlns:a16="http://schemas.microsoft.com/office/drawing/2014/main" id="{E277008C-90AA-47EA-9041-9D7FA887D5C3}"/>
              </a:ext>
            </a:extLst>
          </p:cNvPr>
          <p:cNvSpPr>
            <a:spLocks noGrp="1"/>
          </p:cNvSpPr>
          <p:nvPr/>
        </p:nvSpPr>
        <p:spPr>
          <a:xfrm>
            <a:off x="5219700" y="4667250"/>
            <a:ext cx="2000250" cy="990600"/>
          </a:xfrm>
          <a:prstGeom prst="roundRect">
            <a:avLst>
              <a:gd name="adj" fmla="val 7692"/>
            </a:avLst>
          </a:prstGeom>
          <a:solidFill>
            <a:srgbClr val="FFFFFF"/>
          </a:solidFill>
          <a:ln w="9525">
            <a:solidFill>
              <a:srgbClr val="D9B760"/>
            </a:solidFill>
            <a:prstDash val="solid"/>
          </a:ln>
        </p:spPr>
      </p:sp>
      <p:sp>
        <p:nvSpPr>
          <p:cNvPr id="14" name="Hình chữ nhật 13">
            <a:extLst>
              <a:ext uri="{FF2B5EF4-FFF2-40B4-BE49-F238E27FC236}">
                <a16:creationId xmlns:a16="http://schemas.microsoft.com/office/drawing/2014/main" id="{290ACF96-192D-47FC-9CF0-E112189FD477}"/>
              </a:ext>
            </a:extLst>
          </p:cNvPr>
          <p:cNvSpPr>
            <a:spLocks noGrp="1"/>
          </p:cNvSpPr>
          <p:nvPr/>
        </p:nvSpPr>
        <p:spPr>
          <a:xfrm>
            <a:off x="5391150" y="4876800"/>
            <a:ext cx="165735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Browse</a:t>
            </a:r>
          </a:p>
        </p:txBody>
      </p:sp>
      <p:sp>
        <p:nvSpPr>
          <p:cNvPr id="15" name="Hình chữ nhật 14">
            <a:extLst>
              <a:ext uri="{FF2B5EF4-FFF2-40B4-BE49-F238E27FC236}">
                <a16:creationId xmlns:a16="http://schemas.microsoft.com/office/drawing/2014/main" id="{4CEE8631-36E4-462C-9DD1-73C0220686F5}"/>
              </a:ext>
            </a:extLst>
          </p:cNvPr>
          <p:cNvSpPr>
            <a:spLocks noGrp="1"/>
          </p:cNvSpPr>
          <p:nvPr/>
        </p:nvSpPr>
        <p:spPr>
          <a:xfrm>
            <a:off x="5391150" y="5257800"/>
            <a:ext cx="1657350" cy="2095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Shop, search, filter</a:t>
            </a:r>
          </a:p>
        </p:txBody>
      </p:sp>
      <p:sp>
        <p:nvSpPr>
          <p:cNvPr id="16" name="Hình chữ nhật 15">
            <a:extLst>
              <a:ext uri="{FF2B5EF4-FFF2-40B4-BE49-F238E27FC236}">
                <a16:creationId xmlns:a16="http://schemas.microsoft.com/office/drawing/2014/main" id="{970E5A57-03C1-493E-9BA9-10B4FF407784}"/>
              </a:ext>
            </a:extLst>
          </p:cNvPr>
          <p:cNvSpPr>
            <a:spLocks noGrp="1"/>
          </p:cNvSpPr>
          <p:nvPr/>
        </p:nvSpPr>
        <p:spPr>
          <a:xfrm>
            <a:off x="7315200" y="4914900"/>
            <a:ext cx="400050" cy="495300"/>
          </a:xfrm>
          <a:prstGeom prst="rect">
            <a:avLst/>
          </a:prstGeom>
        </p:spPr>
        <p:txBody>
          <a:bodyPr lIns="0" tIns="0" rIns="0" bIns="0"/>
          <a:lstStyle/>
          <a:p>
            <a:pPr algn="ctr">
              <a:lnSpc>
                <a:spcPct val="125000"/>
              </a:lnSpc>
              <a:buNone/>
              <a:defRPr sz="2625" b="1">
                <a:solidFill>
                  <a:srgbClr val="F39A8A"/>
                </a:solidFill>
              </a:defRPr>
            </a:pPr>
            <a:r>
              <a:rPr sz="2625" b="1">
                <a:solidFill>
                  <a:srgbClr val="F39A8A"/>
                </a:solidFill>
              </a:rPr>
              <a:t>→</a:t>
            </a:r>
          </a:p>
        </p:txBody>
      </p:sp>
      <p:sp>
        <p:nvSpPr>
          <p:cNvPr id="17" name="Hình chữ nhật: Góc Tròn 16">
            <a:extLst>
              <a:ext uri="{FF2B5EF4-FFF2-40B4-BE49-F238E27FC236}">
                <a16:creationId xmlns:a16="http://schemas.microsoft.com/office/drawing/2014/main" id="{6DE9A72F-4859-477C-8D6A-546F1B031ACF}"/>
              </a:ext>
            </a:extLst>
          </p:cNvPr>
          <p:cNvSpPr>
            <a:spLocks noGrp="1"/>
          </p:cNvSpPr>
          <p:nvPr/>
        </p:nvSpPr>
        <p:spPr>
          <a:xfrm>
            <a:off x="7810500" y="4667250"/>
            <a:ext cx="2190750" cy="990600"/>
          </a:xfrm>
          <a:prstGeom prst="roundRect">
            <a:avLst>
              <a:gd name="adj" fmla="val 7692"/>
            </a:avLst>
          </a:prstGeom>
          <a:solidFill>
            <a:srgbClr val="FFFFFF"/>
          </a:solidFill>
          <a:ln w="9525">
            <a:solidFill>
              <a:srgbClr val="87B8D6"/>
            </a:solidFill>
            <a:prstDash val="solid"/>
          </a:ln>
        </p:spPr>
      </p:sp>
      <p:sp>
        <p:nvSpPr>
          <p:cNvPr id="18" name="Hình chữ nhật 17">
            <a:extLst>
              <a:ext uri="{FF2B5EF4-FFF2-40B4-BE49-F238E27FC236}">
                <a16:creationId xmlns:a16="http://schemas.microsoft.com/office/drawing/2014/main" id="{CAE44F76-8E11-447C-B596-A789A3DE8F20}"/>
              </a:ext>
            </a:extLst>
          </p:cNvPr>
          <p:cNvSpPr>
            <a:spLocks noGrp="1"/>
          </p:cNvSpPr>
          <p:nvPr/>
        </p:nvSpPr>
        <p:spPr>
          <a:xfrm>
            <a:off x="7981950" y="4876800"/>
            <a:ext cx="184785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Product detail</a:t>
            </a:r>
          </a:p>
        </p:txBody>
      </p:sp>
      <p:sp>
        <p:nvSpPr>
          <p:cNvPr id="19" name="Hình chữ nhật 18">
            <a:extLst>
              <a:ext uri="{FF2B5EF4-FFF2-40B4-BE49-F238E27FC236}">
                <a16:creationId xmlns:a16="http://schemas.microsoft.com/office/drawing/2014/main" id="{026EDA14-8336-4688-A707-726ED52240F8}"/>
              </a:ext>
            </a:extLst>
          </p:cNvPr>
          <p:cNvSpPr>
            <a:spLocks noGrp="1"/>
          </p:cNvSpPr>
          <p:nvPr/>
        </p:nvSpPr>
        <p:spPr>
          <a:xfrm>
            <a:off x="7981950" y="5257800"/>
            <a:ext cx="1847850" cy="2095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Gallery, variant, review</a:t>
            </a:r>
          </a:p>
        </p:txBody>
      </p:sp>
      <p:sp>
        <p:nvSpPr>
          <p:cNvPr id="20" name="Hình chữ nhật 19">
            <a:extLst>
              <a:ext uri="{FF2B5EF4-FFF2-40B4-BE49-F238E27FC236}">
                <a16:creationId xmlns:a16="http://schemas.microsoft.com/office/drawing/2014/main" id="{EF6DB397-C54F-4401-8C4F-B46F12280F5D}"/>
              </a:ext>
            </a:extLst>
          </p:cNvPr>
          <p:cNvSpPr>
            <a:spLocks noGrp="1"/>
          </p:cNvSpPr>
          <p:nvPr/>
        </p:nvSpPr>
        <p:spPr>
          <a:xfrm>
            <a:off x="10096500" y="4914900"/>
            <a:ext cx="400050" cy="495300"/>
          </a:xfrm>
          <a:prstGeom prst="rect">
            <a:avLst/>
          </a:prstGeom>
        </p:spPr>
        <p:txBody>
          <a:bodyPr lIns="0" tIns="0" rIns="0" bIns="0"/>
          <a:lstStyle/>
          <a:p>
            <a:pPr algn="ctr">
              <a:lnSpc>
                <a:spcPct val="125000"/>
              </a:lnSpc>
              <a:buNone/>
              <a:defRPr sz="2625" b="1">
                <a:solidFill>
                  <a:srgbClr val="F39A8A"/>
                </a:solidFill>
              </a:defRPr>
            </a:pPr>
            <a:r>
              <a:rPr sz="2625" b="1">
                <a:solidFill>
                  <a:srgbClr val="F39A8A"/>
                </a:solidFill>
              </a:rPr>
              <a:t>→</a:t>
            </a:r>
          </a:p>
        </p:txBody>
      </p:sp>
      <p:sp>
        <p:nvSpPr>
          <p:cNvPr id="21" name="Hình chữ nhật: Góc Tròn 20">
            <a:extLst>
              <a:ext uri="{FF2B5EF4-FFF2-40B4-BE49-F238E27FC236}">
                <a16:creationId xmlns:a16="http://schemas.microsoft.com/office/drawing/2014/main" id="{8D37728B-3BE8-425F-854F-92BDBD01A3D8}"/>
              </a:ext>
            </a:extLst>
          </p:cNvPr>
          <p:cNvSpPr>
            <a:spLocks noGrp="1"/>
          </p:cNvSpPr>
          <p:nvPr/>
        </p:nvSpPr>
        <p:spPr>
          <a:xfrm>
            <a:off x="10591800" y="4667250"/>
            <a:ext cx="2286000" cy="990600"/>
          </a:xfrm>
          <a:prstGeom prst="roundRect">
            <a:avLst>
              <a:gd name="adj" fmla="val 7692"/>
            </a:avLst>
          </a:prstGeom>
          <a:solidFill>
            <a:srgbClr val="FFFFFF"/>
          </a:solidFill>
          <a:ln w="9525">
            <a:solidFill>
              <a:srgbClr val="7E3D4A"/>
            </a:solidFill>
            <a:prstDash val="solid"/>
          </a:ln>
        </p:spPr>
      </p:sp>
      <p:sp>
        <p:nvSpPr>
          <p:cNvPr id="22" name="Hình chữ nhật 21">
            <a:extLst>
              <a:ext uri="{FF2B5EF4-FFF2-40B4-BE49-F238E27FC236}">
                <a16:creationId xmlns:a16="http://schemas.microsoft.com/office/drawing/2014/main" id="{E2ACC02B-694A-451D-B066-D7EBEDF25FE2}"/>
              </a:ext>
            </a:extLst>
          </p:cNvPr>
          <p:cNvSpPr>
            <a:spLocks noGrp="1"/>
          </p:cNvSpPr>
          <p:nvPr/>
        </p:nvSpPr>
        <p:spPr>
          <a:xfrm>
            <a:off x="10763250" y="4876800"/>
            <a:ext cx="194310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Cart / Checkout</a:t>
            </a:r>
          </a:p>
        </p:txBody>
      </p:sp>
      <p:sp>
        <p:nvSpPr>
          <p:cNvPr id="23" name="Hình chữ nhật 22">
            <a:extLst>
              <a:ext uri="{FF2B5EF4-FFF2-40B4-BE49-F238E27FC236}">
                <a16:creationId xmlns:a16="http://schemas.microsoft.com/office/drawing/2014/main" id="{9DF47E2C-FEB9-436B-83B4-1313D90FC02F}"/>
              </a:ext>
            </a:extLst>
          </p:cNvPr>
          <p:cNvSpPr>
            <a:spLocks noGrp="1"/>
          </p:cNvSpPr>
          <p:nvPr/>
        </p:nvSpPr>
        <p:spPr>
          <a:xfrm>
            <a:off x="10763250" y="5257800"/>
            <a:ext cx="1943100" cy="2095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Coupon, shipping, payment</a:t>
            </a:r>
          </a:p>
        </p:txBody>
      </p:sp>
      <p:sp>
        <p:nvSpPr>
          <p:cNvPr id="24" name="Hình chữ nhật 23">
            <a:extLst>
              <a:ext uri="{FF2B5EF4-FFF2-40B4-BE49-F238E27FC236}">
                <a16:creationId xmlns:a16="http://schemas.microsoft.com/office/drawing/2014/main" id="{BD956871-E1C8-46F1-961C-8E7B25CA7506}"/>
              </a:ext>
            </a:extLst>
          </p:cNvPr>
          <p:cNvSpPr>
            <a:spLocks noGrp="1"/>
          </p:cNvSpPr>
          <p:nvPr/>
        </p:nvSpPr>
        <p:spPr>
          <a:xfrm>
            <a:off x="12973050" y="4914900"/>
            <a:ext cx="400050" cy="495300"/>
          </a:xfrm>
          <a:prstGeom prst="rect">
            <a:avLst/>
          </a:prstGeom>
        </p:spPr>
        <p:txBody>
          <a:bodyPr lIns="0" tIns="0" rIns="0" bIns="0"/>
          <a:lstStyle/>
          <a:p>
            <a:pPr algn="ctr">
              <a:lnSpc>
                <a:spcPct val="125000"/>
              </a:lnSpc>
              <a:buNone/>
              <a:defRPr sz="2625" b="1">
                <a:solidFill>
                  <a:srgbClr val="F39A8A"/>
                </a:solidFill>
              </a:defRPr>
            </a:pPr>
            <a:r>
              <a:rPr sz="2625" b="1">
                <a:solidFill>
                  <a:srgbClr val="F39A8A"/>
                </a:solidFill>
              </a:rPr>
              <a:t>→</a:t>
            </a:r>
          </a:p>
        </p:txBody>
      </p:sp>
      <p:sp>
        <p:nvSpPr>
          <p:cNvPr id="25" name="Hình chữ nhật: Góc Tròn 24">
            <a:extLst>
              <a:ext uri="{FF2B5EF4-FFF2-40B4-BE49-F238E27FC236}">
                <a16:creationId xmlns:a16="http://schemas.microsoft.com/office/drawing/2014/main" id="{FC2ECDF3-D459-4DF1-94AE-50C652402276}"/>
              </a:ext>
            </a:extLst>
          </p:cNvPr>
          <p:cNvSpPr>
            <a:spLocks noGrp="1"/>
          </p:cNvSpPr>
          <p:nvPr/>
        </p:nvSpPr>
        <p:spPr>
          <a:xfrm>
            <a:off x="13468350" y="4667250"/>
            <a:ext cx="2190750" cy="990600"/>
          </a:xfrm>
          <a:prstGeom prst="roundRect">
            <a:avLst>
              <a:gd name="adj" fmla="val 7692"/>
            </a:avLst>
          </a:prstGeom>
          <a:solidFill>
            <a:srgbClr val="FFFFFF"/>
          </a:solidFill>
          <a:ln w="9525">
            <a:solidFill>
              <a:srgbClr val="25384A"/>
            </a:solidFill>
            <a:prstDash val="solid"/>
          </a:ln>
        </p:spPr>
      </p:sp>
      <p:sp>
        <p:nvSpPr>
          <p:cNvPr id="26" name="Hình chữ nhật 25">
            <a:extLst>
              <a:ext uri="{FF2B5EF4-FFF2-40B4-BE49-F238E27FC236}">
                <a16:creationId xmlns:a16="http://schemas.microsoft.com/office/drawing/2014/main" id="{0D0957A3-58BB-4021-9113-1E271A46508C}"/>
              </a:ext>
            </a:extLst>
          </p:cNvPr>
          <p:cNvSpPr>
            <a:spLocks noGrp="1"/>
          </p:cNvSpPr>
          <p:nvPr/>
        </p:nvSpPr>
        <p:spPr>
          <a:xfrm>
            <a:off x="13639800" y="4876800"/>
            <a:ext cx="184785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Post-purchase</a:t>
            </a:r>
          </a:p>
        </p:txBody>
      </p:sp>
      <p:sp>
        <p:nvSpPr>
          <p:cNvPr id="27" name="Hình chữ nhật 26">
            <a:extLst>
              <a:ext uri="{FF2B5EF4-FFF2-40B4-BE49-F238E27FC236}">
                <a16:creationId xmlns:a16="http://schemas.microsoft.com/office/drawing/2014/main" id="{7D853913-C4AA-4C11-A302-5B8A87C7CE46}"/>
              </a:ext>
            </a:extLst>
          </p:cNvPr>
          <p:cNvSpPr>
            <a:spLocks noGrp="1"/>
          </p:cNvSpPr>
          <p:nvPr/>
        </p:nvSpPr>
        <p:spPr>
          <a:xfrm>
            <a:off x="13639800" y="5257800"/>
            <a:ext cx="1847850" cy="2095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Order history, review</a:t>
            </a:r>
          </a:p>
        </p:txBody>
      </p:sp>
      <p:sp>
        <p:nvSpPr>
          <p:cNvPr id="28" name="Hình chữ nhật: Góc Tròn 27">
            <a:extLst>
              <a:ext uri="{FF2B5EF4-FFF2-40B4-BE49-F238E27FC236}">
                <a16:creationId xmlns:a16="http://schemas.microsoft.com/office/drawing/2014/main" id="{7212096E-AB0A-4D01-8D02-DAFAC7A645B0}"/>
              </a:ext>
            </a:extLst>
          </p:cNvPr>
          <p:cNvSpPr>
            <a:spLocks noGrp="1"/>
          </p:cNvSpPr>
          <p:nvPr/>
        </p:nvSpPr>
        <p:spPr>
          <a:xfrm>
            <a:off x="819150" y="5946458"/>
            <a:ext cx="5397500" cy="1032129"/>
          </a:xfrm>
          <a:prstGeom prst="roundRect">
            <a:avLst>
              <a:gd name="adj" fmla="val 7383"/>
            </a:avLst>
          </a:prstGeom>
          <a:solidFill>
            <a:srgbClr val="FFFFFF"/>
          </a:solidFill>
          <a:ln w="9525">
            <a:solidFill>
              <a:srgbClr val="E8DDCF"/>
            </a:solidFill>
            <a:prstDash val="solid"/>
          </a:ln>
        </p:spPr>
      </p:sp>
      <p:sp>
        <p:nvSpPr>
          <p:cNvPr id="29" name="Hình chữ nhật: Góc Tròn 28">
            <a:extLst>
              <a:ext uri="{FF2B5EF4-FFF2-40B4-BE49-F238E27FC236}">
                <a16:creationId xmlns:a16="http://schemas.microsoft.com/office/drawing/2014/main" id="{AAC92D0C-DDEA-4B5E-8ED2-E5CE1B1E10B4}"/>
              </a:ext>
            </a:extLst>
          </p:cNvPr>
          <p:cNvSpPr>
            <a:spLocks noGrp="1"/>
          </p:cNvSpPr>
          <p:nvPr/>
        </p:nvSpPr>
        <p:spPr>
          <a:xfrm>
            <a:off x="1028700" y="6134100"/>
            <a:ext cx="104775" cy="323850"/>
          </a:xfrm>
          <a:prstGeom prst="roundRect">
            <a:avLst>
              <a:gd name="adj" fmla="val 50000"/>
            </a:avLst>
          </a:prstGeom>
          <a:solidFill>
            <a:srgbClr val="D9B760"/>
          </a:solidFill>
        </p:spPr>
      </p:sp>
      <p:sp>
        <p:nvSpPr>
          <p:cNvPr id="30" name="Hình chữ nhật 29">
            <a:extLst>
              <a:ext uri="{FF2B5EF4-FFF2-40B4-BE49-F238E27FC236}">
                <a16:creationId xmlns:a16="http://schemas.microsoft.com/office/drawing/2014/main" id="{58B1E894-2551-45B3-845F-BCBC93374F21}"/>
              </a:ext>
            </a:extLst>
          </p:cNvPr>
          <p:cNvSpPr>
            <a:spLocks noGrp="1"/>
          </p:cNvSpPr>
          <p:nvPr/>
        </p:nvSpPr>
        <p:spPr>
          <a:xfrm>
            <a:off x="1238250" y="6115050"/>
            <a:ext cx="478155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Khám phá</a:t>
            </a:r>
          </a:p>
        </p:txBody>
      </p:sp>
      <p:sp>
        <p:nvSpPr>
          <p:cNvPr id="31" name="Hình chữ nhật 30">
            <a:extLst>
              <a:ext uri="{FF2B5EF4-FFF2-40B4-BE49-F238E27FC236}">
                <a16:creationId xmlns:a16="http://schemas.microsoft.com/office/drawing/2014/main" id="{E4ACC12A-6CA8-4015-AF9C-1B4A110758A2}"/>
              </a:ext>
            </a:extLst>
          </p:cNvPr>
          <p:cNvSpPr>
            <a:spLocks noGrp="1"/>
          </p:cNvSpPr>
          <p:nvPr/>
        </p:nvSpPr>
        <p:spPr>
          <a:xfrm>
            <a:off x="1028700" y="6553200"/>
            <a:ext cx="4972050" cy="266700"/>
          </a:xfrm>
          <a:prstGeom prst="rect">
            <a:avLst/>
          </a:prstGeom>
        </p:spPr>
        <p:txBody>
          <a:bodyPr lIns="0" tIns="0" rIns="0" bIns="0"/>
          <a:lstStyle/>
          <a:p>
            <a:pPr>
              <a:lnSpc>
                <a:spcPct val="120000"/>
              </a:lnSpc>
              <a:buNone/>
              <a:defRPr sz="1425">
                <a:solidFill>
                  <a:srgbClr val="647067"/>
                </a:solidFill>
              </a:defRPr>
            </a:pPr>
            <a:r>
              <a:rPr sz="1425">
                <a:solidFill>
                  <a:srgbClr val="647067"/>
                </a:solidFill>
              </a:rPr>
              <a:t>Featured, new arrivals, category, brand, recently viewed.</a:t>
            </a:r>
          </a:p>
        </p:txBody>
      </p:sp>
      <p:sp>
        <p:nvSpPr>
          <p:cNvPr id="32" name="Hình chữ nhật: Góc Tròn 31">
            <a:extLst>
              <a:ext uri="{FF2B5EF4-FFF2-40B4-BE49-F238E27FC236}">
                <a16:creationId xmlns:a16="http://schemas.microsoft.com/office/drawing/2014/main" id="{57850D1F-3A63-4AA1-9169-5CBB0DB963AC}"/>
              </a:ext>
            </a:extLst>
          </p:cNvPr>
          <p:cNvSpPr>
            <a:spLocks noGrp="1"/>
          </p:cNvSpPr>
          <p:nvPr/>
        </p:nvSpPr>
        <p:spPr>
          <a:xfrm>
            <a:off x="6445250" y="5946458"/>
            <a:ext cx="5397500" cy="1032129"/>
          </a:xfrm>
          <a:prstGeom prst="roundRect">
            <a:avLst>
              <a:gd name="adj" fmla="val 7383"/>
            </a:avLst>
          </a:prstGeom>
          <a:solidFill>
            <a:srgbClr val="FFFFFF"/>
          </a:solidFill>
          <a:ln w="9525">
            <a:solidFill>
              <a:srgbClr val="E8DDCF"/>
            </a:solidFill>
            <a:prstDash val="solid"/>
          </a:ln>
        </p:spPr>
      </p:sp>
      <p:sp>
        <p:nvSpPr>
          <p:cNvPr id="33" name="Hình chữ nhật: Góc Tròn 32">
            <a:extLst>
              <a:ext uri="{FF2B5EF4-FFF2-40B4-BE49-F238E27FC236}">
                <a16:creationId xmlns:a16="http://schemas.microsoft.com/office/drawing/2014/main" id="{DF76C733-8FF6-4785-B82F-AD54B063CB61}"/>
              </a:ext>
            </a:extLst>
          </p:cNvPr>
          <p:cNvSpPr>
            <a:spLocks noGrp="1"/>
          </p:cNvSpPr>
          <p:nvPr/>
        </p:nvSpPr>
        <p:spPr>
          <a:xfrm>
            <a:off x="6667500" y="6134100"/>
            <a:ext cx="104775" cy="323850"/>
          </a:xfrm>
          <a:prstGeom prst="roundRect">
            <a:avLst>
              <a:gd name="adj" fmla="val 50000"/>
            </a:avLst>
          </a:prstGeom>
          <a:solidFill>
            <a:srgbClr val="77B8A4"/>
          </a:solidFill>
        </p:spPr>
      </p:sp>
      <p:sp>
        <p:nvSpPr>
          <p:cNvPr id="34" name="Hình chữ nhật 33">
            <a:extLst>
              <a:ext uri="{FF2B5EF4-FFF2-40B4-BE49-F238E27FC236}">
                <a16:creationId xmlns:a16="http://schemas.microsoft.com/office/drawing/2014/main" id="{8F405A76-84B5-4D78-BA69-DF6D6C0F4354}"/>
              </a:ext>
            </a:extLst>
          </p:cNvPr>
          <p:cNvSpPr>
            <a:spLocks noGrp="1"/>
          </p:cNvSpPr>
          <p:nvPr/>
        </p:nvSpPr>
        <p:spPr>
          <a:xfrm>
            <a:off x="6858000" y="6115050"/>
            <a:ext cx="478155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Lưu giữ</a:t>
            </a:r>
          </a:p>
        </p:txBody>
      </p:sp>
      <p:sp>
        <p:nvSpPr>
          <p:cNvPr id="35" name="Hình chữ nhật 34">
            <a:extLst>
              <a:ext uri="{FF2B5EF4-FFF2-40B4-BE49-F238E27FC236}">
                <a16:creationId xmlns:a16="http://schemas.microsoft.com/office/drawing/2014/main" id="{ABDD1F14-CAE3-4104-ADEB-9E8A71FDF015}"/>
              </a:ext>
            </a:extLst>
          </p:cNvPr>
          <p:cNvSpPr>
            <a:spLocks noGrp="1"/>
          </p:cNvSpPr>
          <p:nvPr/>
        </p:nvSpPr>
        <p:spPr>
          <a:xfrm>
            <a:off x="6648450" y="6553200"/>
            <a:ext cx="4972050" cy="266700"/>
          </a:xfrm>
          <a:prstGeom prst="rect">
            <a:avLst/>
          </a:prstGeom>
        </p:spPr>
        <p:txBody>
          <a:bodyPr lIns="0" tIns="0" rIns="0" bIns="0"/>
          <a:lstStyle/>
          <a:p>
            <a:pPr>
              <a:lnSpc>
                <a:spcPct val="120000"/>
              </a:lnSpc>
              <a:buNone/>
              <a:defRPr sz="1425">
                <a:solidFill>
                  <a:srgbClr val="647067"/>
                </a:solidFill>
              </a:defRPr>
            </a:pPr>
            <a:r>
              <a:rPr sz="1425">
                <a:solidFill>
                  <a:srgbClr val="647067"/>
                </a:solidFill>
              </a:rPr>
              <a:t>Wishlist, compare, address book và profile.</a:t>
            </a:r>
          </a:p>
        </p:txBody>
      </p:sp>
      <p:sp>
        <p:nvSpPr>
          <p:cNvPr id="36" name="Hình chữ nhật: Góc Tròn 35">
            <a:extLst>
              <a:ext uri="{FF2B5EF4-FFF2-40B4-BE49-F238E27FC236}">
                <a16:creationId xmlns:a16="http://schemas.microsoft.com/office/drawing/2014/main" id="{2561B5E3-EBD8-4AA5-8498-E850257AFD08}"/>
              </a:ext>
            </a:extLst>
          </p:cNvPr>
          <p:cNvSpPr>
            <a:spLocks noGrp="1"/>
          </p:cNvSpPr>
          <p:nvPr/>
        </p:nvSpPr>
        <p:spPr>
          <a:xfrm>
            <a:off x="12071350" y="5946458"/>
            <a:ext cx="5397500" cy="1032129"/>
          </a:xfrm>
          <a:prstGeom prst="roundRect">
            <a:avLst>
              <a:gd name="adj" fmla="val 7383"/>
            </a:avLst>
          </a:prstGeom>
          <a:solidFill>
            <a:srgbClr val="FFFFFF"/>
          </a:solidFill>
          <a:ln w="9525">
            <a:solidFill>
              <a:srgbClr val="E8DDCF"/>
            </a:solidFill>
            <a:prstDash val="solid"/>
          </a:ln>
        </p:spPr>
      </p:sp>
      <p:sp>
        <p:nvSpPr>
          <p:cNvPr id="37" name="Hình chữ nhật: Góc Tròn 36">
            <a:extLst>
              <a:ext uri="{FF2B5EF4-FFF2-40B4-BE49-F238E27FC236}">
                <a16:creationId xmlns:a16="http://schemas.microsoft.com/office/drawing/2014/main" id="{230A8DF8-6150-4ABB-9AE5-CDCE71F5DF50}"/>
              </a:ext>
            </a:extLst>
          </p:cNvPr>
          <p:cNvSpPr>
            <a:spLocks noGrp="1"/>
          </p:cNvSpPr>
          <p:nvPr/>
        </p:nvSpPr>
        <p:spPr>
          <a:xfrm>
            <a:off x="12268200" y="6134100"/>
            <a:ext cx="104775" cy="323850"/>
          </a:xfrm>
          <a:prstGeom prst="roundRect">
            <a:avLst>
              <a:gd name="adj" fmla="val 50000"/>
            </a:avLst>
          </a:prstGeom>
          <a:solidFill>
            <a:srgbClr val="F39A8A"/>
          </a:solidFill>
        </p:spPr>
      </p:sp>
      <p:sp>
        <p:nvSpPr>
          <p:cNvPr id="38" name="Hình chữ nhật 37">
            <a:extLst>
              <a:ext uri="{FF2B5EF4-FFF2-40B4-BE49-F238E27FC236}">
                <a16:creationId xmlns:a16="http://schemas.microsoft.com/office/drawing/2014/main" id="{5641DF1C-094A-4587-9BB1-007E2AD42C59}"/>
              </a:ext>
            </a:extLst>
          </p:cNvPr>
          <p:cNvSpPr>
            <a:spLocks noGrp="1"/>
          </p:cNvSpPr>
          <p:nvPr/>
        </p:nvSpPr>
        <p:spPr>
          <a:xfrm>
            <a:off x="12477750" y="6115050"/>
            <a:ext cx="478155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Tương tác</a:t>
            </a:r>
          </a:p>
        </p:txBody>
      </p:sp>
      <p:sp>
        <p:nvSpPr>
          <p:cNvPr id="39" name="Hình chữ nhật 38">
            <a:extLst>
              <a:ext uri="{FF2B5EF4-FFF2-40B4-BE49-F238E27FC236}">
                <a16:creationId xmlns:a16="http://schemas.microsoft.com/office/drawing/2014/main" id="{BFCF784C-3425-48A6-8161-A0E677155DAC}"/>
              </a:ext>
            </a:extLst>
          </p:cNvPr>
          <p:cNvSpPr>
            <a:spLocks noGrp="1"/>
          </p:cNvSpPr>
          <p:nvPr/>
        </p:nvSpPr>
        <p:spPr>
          <a:xfrm>
            <a:off x="12287250" y="6553200"/>
            <a:ext cx="4972050" cy="266700"/>
          </a:xfrm>
          <a:prstGeom prst="rect">
            <a:avLst/>
          </a:prstGeom>
        </p:spPr>
        <p:txBody>
          <a:bodyPr lIns="0" tIns="0" rIns="0" bIns="0"/>
          <a:lstStyle/>
          <a:p>
            <a:pPr>
              <a:lnSpc>
                <a:spcPct val="120000"/>
              </a:lnSpc>
              <a:buNone/>
              <a:defRPr sz="1425">
                <a:solidFill>
                  <a:srgbClr val="647067"/>
                </a:solidFill>
              </a:defRPr>
            </a:pPr>
            <a:r>
              <a:rPr sz="1425">
                <a:solidFill>
                  <a:srgbClr val="647067"/>
                </a:solidFill>
              </a:rPr>
              <a:t>Review đủ điều kiện và AI Stylist hỗ trợ tư vấn.</a:t>
            </a:r>
          </a:p>
        </p:txBody>
      </p:sp>
    </p:spTree>
    <p:extLst>
      <p:ext uri="{BB962C8B-B14F-4D97-AF65-F5344CB8AC3E}">
        <p14:creationId xmlns:p14="http://schemas.microsoft.com/office/powerpoint/2010/main" val="5952769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background">
            <a:extLst>
              <a:ext uri="{FF2B5EF4-FFF2-40B4-BE49-F238E27FC236}">
                <a16:creationId xmlns:a16="http://schemas.microsoft.com/office/drawing/2014/main" id="{D7AB6ABA-8461-4D4C-B995-A78C29C34686}"/>
              </a:ext>
            </a:extLst>
          </p:cNvPr>
          <p:cNvSpPr>
            <a:spLocks noGrp="1"/>
          </p:cNvSpPr>
          <p:nvPr/>
        </p:nvSpPr>
        <p:spPr>
          <a:xfrm>
            <a:off x="0" y="0"/>
            <a:ext cx="18288000" cy="10287000"/>
          </a:xfrm>
          <a:prstGeom prst="rect">
            <a:avLst/>
          </a:prstGeom>
          <a:solidFill>
            <a:srgbClr val="FFFDF8"/>
          </a:solidFill>
        </p:spPr>
      </p:sp>
      <p:sp>
        <p:nvSpPr>
          <p:cNvPr id="2" name="top-band">
            <a:extLst>
              <a:ext uri="{FF2B5EF4-FFF2-40B4-BE49-F238E27FC236}">
                <a16:creationId xmlns:a16="http://schemas.microsoft.com/office/drawing/2014/main" id="{38607AC7-D293-4423-8B5E-6935362A2564}"/>
              </a:ext>
            </a:extLst>
          </p:cNvPr>
          <p:cNvSpPr>
            <a:spLocks noGrp="1"/>
          </p:cNvSpPr>
          <p:nvPr/>
        </p:nvSpPr>
        <p:spPr>
          <a:xfrm>
            <a:off x="0" y="0"/>
            <a:ext cx="18288000" cy="152400"/>
          </a:xfrm>
          <a:prstGeom prst="rect">
            <a:avLst/>
          </a:prstGeom>
          <a:solidFill>
            <a:srgbClr val="77B8A4"/>
          </a:solidFill>
        </p:spPr>
      </p:sp>
      <p:sp>
        <p:nvSpPr>
          <p:cNvPr id="3" name="bottom-band">
            <a:extLst>
              <a:ext uri="{FF2B5EF4-FFF2-40B4-BE49-F238E27FC236}">
                <a16:creationId xmlns:a16="http://schemas.microsoft.com/office/drawing/2014/main" id="{4F1593C5-2E37-47AC-8122-962E5F84C52A}"/>
              </a:ext>
            </a:extLst>
          </p:cNvPr>
          <p:cNvSpPr>
            <a:spLocks noGrp="1"/>
          </p:cNvSpPr>
          <p:nvPr/>
        </p:nvSpPr>
        <p:spPr>
          <a:xfrm>
            <a:off x="0" y="0"/>
            <a:ext cx="18288000" cy="76200"/>
          </a:xfrm>
          <a:prstGeom prst="rect">
            <a:avLst/>
          </a:prstGeom>
          <a:solidFill>
            <a:srgbClr val="D9B760"/>
          </a:solidFill>
        </p:spPr>
      </p:sp>
      <p:sp>
        <p:nvSpPr>
          <p:cNvPr id="4" name="Hình chữ nhật: Góc Tròn 3">
            <a:extLst>
              <a:ext uri="{FF2B5EF4-FFF2-40B4-BE49-F238E27FC236}">
                <a16:creationId xmlns:a16="http://schemas.microsoft.com/office/drawing/2014/main" id="{1459129E-8326-4234-BF59-160885395281}"/>
              </a:ext>
            </a:extLst>
          </p:cNvPr>
          <p:cNvSpPr>
            <a:spLocks noGrp="1"/>
          </p:cNvSpPr>
          <p:nvPr/>
        </p:nvSpPr>
        <p:spPr>
          <a:xfrm>
            <a:off x="838200" y="647700"/>
            <a:ext cx="400050" cy="95250"/>
          </a:xfrm>
          <a:prstGeom prst="roundRect">
            <a:avLst>
              <a:gd name="adj" fmla="val 50000"/>
            </a:avLst>
          </a:prstGeom>
          <a:solidFill>
            <a:srgbClr val="77B8A4"/>
          </a:solidFill>
        </p:spPr>
      </p:sp>
      <p:sp>
        <p:nvSpPr>
          <p:cNvPr id="5" name="Hình chữ nhật 4">
            <a:extLst>
              <a:ext uri="{FF2B5EF4-FFF2-40B4-BE49-F238E27FC236}">
                <a16:creationId xmlns:a16="http://schemas.microsoft.com/office/drawing/2014/main" id="{A12D395D-2D9A-4617-9242-8DB495B94766}"/>
              </a:ext>
            </a:extLst>
          </p:cNvPr>
          <p:cNvSpPr>
            <a:spLocks noGrp="1"/>
          </p:cNvSpPr>
          <p:nvPr/>
        </p:nvSpPr>
        <p:spPr>
          <a:xfrm>
            <a:off x="1371600" y="571500"/>
            <a:ext cx="15544800" cy="228600"/>
          </a:xfrm>
          <a:prstGeom prst="rect">
            <a:avLst/>
          </a:prstGeom>
        </p:spPr>
        <p:txBody>
          <a:bodyPr lIns="0" tIns="0" rIns="0" bIns="0"/>
          <a:lstStyle/>
          <a:p>
            <a:pPr>
              <a:lnSpc>
                <a:spcPct val="125000"/>
              </a:lnSpc>
              <a:buNone/>
              <a:defRPr sz="1200" b="1">
                <a:solidFill>
                  <a:srgbClr val="7E3D4A"/>
                </a:solidFill>
              </a:defRPr>
            </a:pPr>
            <a:r>
              <a:rPr sz="1200" b="1">
                <a:solidFill>
                  <a:srgbClr val="7E3D4A"/>
                </a:solidFill>
              </a:rPr>
              <a:t>ADMIN</a:t>
            </a:r>
          </a:p>
        </p:txBody>
      </p:sp>
      <p:sp>
        <p:nvSpPr>
          <p:cNvPr id="6" name="Hình chữ nhật 5">
            <a:extLst>
              <a:ext uri="{FF2B5EF4-FFF2-40B4-BE49-F238E27FC236}">
                <a16:creationId xmlns:a16="http://schemas.microsoft.com/office/drawing/2014/main" id="{66D6F195-228A-4D81-ADA7-43C691B5E869}"/>
              </a:ext>
            </a:extLst>
          </p:cNvPr>
          <p:cNvSpPr>
            <a:spLocks noGrp="1"/>
          </p:cNvSpPr>
          <p:nvPr/>
        </p:nvSpPr>
        <p:spPr>
          <a:xfrm>
            <a:off x="17068800" y="571500"/>
            <a:ext cx="400050" cy="228600"/>
          </a:xfrm>
          <a:prstGeom prst="rect">
            <a:avLst/>
          </a:prstGeom>
        </p:spPr>
        <p:txBody>
          <a:bodyPr lIns="0" tIns="0" rIns="0" bIns="0"/>
          <a:lstStyle/>
          <a:p>
            <a:pPr>
              <a:lnSpc>
                <a:spcPct val="120000"/>
              </a:lnSpc>
              <a:buNone/>
              <a:defRPr sz="1275" b="1">
                <a:solidFill>
                  <a:srgbClr val="7E3D4A"/>
                </a:solidFill>
              </a:defRPr>
            </a:pPr>
            <a:r>
              <a:rPr sz="1275" b="1">
                <a:solidFill>
                  <a:srgbClr val="7E3D4A"/>
                </a:solidFill>
              </a:rPr>
              <a:t>18/30</a:t>
            </a:r>
          </a:p>
        </p:txBody>
      </p:sp>
      <p:sp>
        <p:nvSpPr>
          <p:cNvPr id="7" name="slide-title">
            <a:extLst>
              <a:ext uri="{FF2B5EF4-FFF2-40B4-BE49-F238E27FC236}">
                <a16:creationId xmlns:a16="http://schemas.microsoft.com/office/drawing/2014/main" id="{5355E1A9-0AAB-4EC5-AC83-401EBDF84ACF}"/>
              </a:ext>
            </a:extLst>
          </p:cNvPr>
          <p:cNvSpPr>
            <a:spLocks noGrp="1"/>
          </p:cNvSpPr>
          <p:nvPr/>
        </p:nvSpPr>
        <p:spPr>
          <a:xfrm>
            <a:off x="819150" y="933450"/>
            <a:ext cx="16649700" cy="590550"/>
          </a:xfrm>
          <a:prstGeom prst="rect">
            <a:avLst/>
          </a:prstGeom>
        </p:spPr>
        <p:txBody>
          <a:bodyPr lIns="0" tIns="0" rIns="0" bIns="0"/>
          <a:lstStyle/>
          <a:p>
            <a:pPr>
              <a:lnSpc>
                <a:spcPct val="105000"/>
              </a:lnSpc>
              <a:buNone/>
              <a:defRPr sz="3600" b="1">
                <a:solidFill>
                  <a:srgbClr val="151515"/>
                </a:solidFill>
              </a:defRPr>
            </a:pPr>
            <a:r>
              <a:rPr sz="3600" b="1">
                <a:solidFill>
                  <a:srgbClr val="151515"/>
                </a:solidFill>
              </a:rPr>
              <a:t>Admin dashboard là trung tâm vận hành</a:t>
            </a:r>
          </a:p>
        </p:txBody>
      </p:sp>
      <p:sp>
        <p:nvSpPr>
          <p:cNvPr id="8" name="title-rule">
            <a:extLst>
              <a:ext uri="{FF2B5EF4-FFF2-40B4-BE49-F238E27FC236}">
                <a16:creationId xmlns:a16="http://schemas.microsoft.com/office/drawing/2014/main" id="{443649EA-7EED-482C-9C11-722462E4805E}"/>
              </a:ext>
            </a:extLst>
          </p:cNvPr>
          <p:cNvSpPr>
            <a:spLocks noGrp="1"/>
          </p:cNvSpPr>
          <p:nvPr/>
        </p:nvSpPr>
        <p:spPr>
          <a:xfrm>
            <a:off x="819150" y="1619250"/>
            <a:ext cx="1905000" cy="38100"/>
          </a:xfrm>
          <a:prstGeom prst="rect">
            <a:avLst/>
          </a:prstGeom>
          <a:solidFill>
            <a:srgbClr val="77B8A4"/>
          </a:solidFill>
          <a:ln w="0">
            <a:solidFill>
              <a:srgbClr val="77B8A4"/>
            </a:solidFill>
            <a:prstDash val="solid"/>
          </a:ln>
        </p:spPr>
      </p:sp>
      <p:sp>
        <p:nvSpPr>
          <p:cNvPr id="9" name="Hình chữ nhật 8">
            <a:extLst>
              <a:ext uri="{FF2B5EF4-FFF2-40B4-BE49-F238E27FC236}">
                <a16:creationId xmlns:a16="http://schemas.microsoft.com/office/drawing/2014/main" id="{5A93580B-87AC-4441-A075-4B62D7D50BBD}"/>
              </a:ext>
            </a:extLst>
          </p:cNvPr>
          <p:cNvSpPr>
            <a:spLocks noGrp="1"/>
          </p:cNvSpPr>
          <p:nvPr/>
        </p:nvSpPr>
        <p:spPr>
          <a:xfrm>
            <a:off x="819150" y="4857750"/>
            <a:ext cx="6915150" cy="1085850"/>
          </a:xfrm>
          <a:prstGeom prst="rect">
            <a:avLst/>
          </a:prstGeom>
        </p:spPr>
        <p:txBody>
          <a:bodyPr lIns="0" tIns="0" rIns="0" bIns="0"/>
          <a:lstStyle/>
          <a:p>
            <a:pPr>
              <a:lnSpc>
                <a:spcPct val="112000"/>
              </a:lnSpc>
              <a:buNone/>
              <a:defRPr sz="3150" b="1">
                <a:solidFill>
                  <a:srgbClr val="151515"/>
                </a:solidFill>
              </a:defRPr>
            </a:pPr>
            <a:r>
              <a:rPr sz="3150" b="1">
                <a:solidFill>
                  <a:srgbClr val="151515"/>
                </a:solidFill>
              </a:rPr>
              <a:t>Một nơi để quản trị toàn bộ vòng đời sản phẩm và trải nghiệm khách.</a:t>
            </a:r>
          </a:p>
        </p:txBody>
      </p:sp>
      <p:sp>
        <p:nvSpPr>
          <p:cNvPr id="10" name="Hình chữ nhật: Góc Tròn 9">
            <a:extLst>
              <a:ext uri="{FF2B5EF4-FFF2-40B4-BE49-F238E27FC236}">
                <a16:creationId xmlns:a16="http://schemas.microsoft.com/office/drawing/2014/main" id="{210E6F6E-6AE8-4EB8-BEA1-28ECB95C988B}"/>
              </a:ext>
            </a:extLst>
          </p:cNvPr>
          <p:cNvSpPr>
            <a:spLocks noGrp="1"/>
          </p:cNvSpPr>
          <p:nvPr/>
        </p:nvSpPr>
        <p:spPr>
          <a:xfrm>
            <a:off x="819150" y="6138177"/>
            <a:ext cx="845249" cy="414338"/>
          </a:xfrm>
          <a:prstGeom prst="roundRect">
            <a:avLst>
              <a:gd name="adj" fmla="val 50000"/>
            </a:avLst>
          </a:prstGeom>
          <a:solidFill>
            <a:srgbClr val="FFFFFF"/>
          </a:solidFill>
          <a:ln w="9525">
            <a:solidFill>
              <a:srgbClr val="D9B760"/>
            </a:solidFill>
            <a:prstDash val="solid"/>
          </a:ln>
        </p:spPr>
      </p:sp>
      <p:sp>
        <p:nvSpPr>
          <p:cNvPr id="11" name="Hình chữ nhật 10">
            <a:extLst>
              <a:ext uri="{FF2B5EF4-FFF2-40B4-BE49-F238E27FC236}">
                <a16:creationId xmlns:a16="http://schemas.microsoft.com/office/drawing/2014/main" id="{383A7743-DCAB-468E-86D9-D53B38847D41}"/>
              </a:ext>
            </a:extLst>
          </p:cNvPr>
          <p:cNvSpPr>
            <a:spLocks noGrp="1"/>
          </p:cNvSpPr>
          <p:nvPr/>
        </p:nvSpPr>
        <p:spPr>
          <a:xfrm>
            <a:off x="990599" y="6229350"/>
            <a:ext cx="573549" cy="247650"/>
          </a:xfrm>
          <a:prstGeom prst="rect">
            <a:avLst/>
          </a:prstGeom>
        </p:spPr>
        <p:txBody>
          <a:bodyPr lIns="0" tIns="0" rIns="0" bIns="0"/>
          <a:lstStyle/>
          <a:p>
            <a:pPr algn="ctr">
              <a:lnSpc>
                <a:spcPct val="125000"/>
              </a:lnSpc>
              <a:buNone/>
              <a:defRPr sz="1275" b="1">
                <a:solidFill>
                  <a:srgbClr val="151515"/>
                </a:solidFill>
              </a:defRPr>
            </a:pPr>
            <a:r>
              <a:rPr sz="1275" b="1" dirty="0">
                <a:solidFill>
                  <a:srgbClr val="151515"/>
                </a:solidFill>
              </a:rPr>
              <a:t>Catalog</a:t>
            </a:r>
          </a:p>
        </p:txBody>
      </p:sp>
      <p:sp>
        <p:nvSpPr>
          <p:cNvPr id="12" name="Hình chữ nhật: Góc Tròn 11">
            <a:extLst>
              <a:ext uri="{FF2B5EF4-FFF2-40B4-BE49-F238E27FC236}">
                <a16:creationId xmlns:a16="http://schemas.microsoft.com/office/drawing/2014/main" id="{C7AAAA9C-21C6-4F91-997D-8499740EC1B4}"/>
              </a:ext>
            </a:extLst>
          </p:cNvPr>
          <p:cNvSpPr>
            <a:spLocks noGrp="1"/>
          </p:cNvSpPr>
          <p:nvPr/>
        </p:nvSpPr>
        <p:spPr>
          <a:xfrm>
            <a:off x="1778699" y="6138177"/>
            <a:ext cx="733997" cy="414338"/>
          </a:xfrm>
          <a:prstGeom prst="roundRect">
            <a:avLst>
              <a:gd name="adj" fmla="val 50000"/>
            </a:avLst>
          </a:prstGeom>
          <a:solidFill>
            <a:srgbClr val="FFFFFF"/>
          </a:solidFill>
          <a:ln w="9525">
            <a:solidFill>
              <a:srgbClr val="F39A8A"/>
            </a:solidFill>
            <a:prstDash val="solid"/>
          </a:ln>
        </p:spPr>
      </p:sp>
      <p:sp>
        <p:nvSpPr>
          <p:cNvPr id="13" name="Hình chữ nhật 12">
            <a:extLst>
              <a:ext uri="{FF2B5EF4-FFF2-40B4-BE49-F238E27FC236}">
                <a16:creationId xmlns:a16="http://schemas.microsoft.com/office/drawing/2014/main" id="{45134D50-2B87-482C-A66B-FBD6D84ED545}"/>
              </a:ext>
            </a:extLst>
          </p:cNvPr>
          <p:cNvSpPr>
            <a:spLocks noGrp="1"/>
          </p:cNvSpPr>
          <p:nvPr/>
        </p:nvSpPr>
        <p:spPr>
          <a:xfrm>
            <a:off x="1943100" y="6229350"/>
            <a:ext cx="400050" cy="247650"/>
          </a:xfrm>
          <a:prstGeom prst="rect">
            <a:avLst/>
          </a:prstGeom>
        </p:spPr>
        <p:txBody>
          <a:bodyPr lIns="0" tIns="0" rIns="0" bIns="0"/>
          <a:lstStyle/>
          <a:p>
            <a:pPr algn="ctr">
              <a:lnSpc>
                <a:spcPct val="125000"/>
              </a:lnSpc>
              <a:buNone/>
              <a:defRPr sz="1275" b="1">
                <a:solidFill>
                  <a:srgbClr val="151515"/>
                </a:solidFill>
              </a:defRPr>
            </a:pPr>
            <a:r>
              <a:rPr sz="1275" b="1">
                <a:solidFill>
                  <a:srgbClr val="151515"/>
                </a:solidFill>
              </a:rPr>
              <a:t>Order</a:t>
            </a:r>
          </a:p>
        </p:txBody>
      </p:sp>
      <p:sp>
        <p:nvSpPr>
          <p:cNvPr id="14" name="Hình chữ nhật: Góc Tròn 13">
            <a:extLst>
              <a:ext uri="{FF2B5EF4-FFF2-40B4-BE49-F238E27FC236}">
                <a16:creationId xmlns:a16="http://schemas.microsoft.com/office/drawing/2014/main" id="{0F5B237B-66E3-4B42-8F87-7AC25F7C1514}"/>
              </a:ext>
            </a:extLst>
          </p:cNvPr>
          <p:cNvSpPr>
            <a:spLocks noGrp="1"/>
          </p:cNvSpPr>
          <p:nvPr/>
        </p:nvSpPr>
        <p:spPr>
          <a:xfrm>
            <a:off x="2731295" y="6138178"/>
            <a:ext cx="774000" cy="414338"/>
          </a:xfrm>
          <a:prstGeom prst="roundRect">
            <a:avLst>
              <a:gd name="adj" fmla="val 50000"/>
            </a:avLst>
          </a:prstGeom>
          <a:solidFill>
            <a:srgbClr val="FFFFFF"/>
          </a:solidFill>
          <a:ln w="9525">
            <a:solidFill>
              <a:srgbClr val="77B8A4"/>
            </a:solidFill>
            <a:prstDash val="solid"/>
          </a:ln>
        </p:spPr>
      </p:sp>
      <p:sp>
        <p:nvSpPr>
          <p:cNvPr id="15" name="Hình chữ nhật 14">
            <a:extLst>
              <a:ext uri="{FF2B5EF4-FFF2-40B4-BE49-F238E27FC236}">
                <a16:creationId xmlns:a16="http://schemas.microsoft.com/office/drawing/2014/main" id="{45435205-4187-4FD7-9BB6-C52AC1B059F4}"/>
              </a:ext>
            </a:extLst>
          </p:cNvPr>
          <p:cNvSpPr>
            <a:spLocks noGrp="1"/>
          </p:cNvSpPr>
          <p:nvPr/>
        </p:nvSpPr>
        <p:spPr>
          <a:xfrm>
            <a:off x="2800350" y="6229350"/>
            <a:ext cx="674942" cy="552450"/>
          </a:xfrm>
          <a:prstGeom prst="rect">
            <a:avLst/>
          </a:prstGeom>
        </p:spPr>
        <p:txBody>
          <a:bodyPr lIns="0" tIns="0" rIns="0" bIns="0"/>
          <a:lstStyle/>
          <a:p>
            <a:pPr algn="ctr">
              <a:lnSpc>
                <a:spcPct val="125000"/>
              </a:lnSpc>
              <a:buNone/>
              <a:defRPr sz="1275" b="1">
                <a:solidFill>
                  <a:srgbClr val="151515"/>
                </a:solidFill>
              </a:defRPr>
            </a:pPr>
            <a:r>
              <a:rPr sz="1275" b="1" dirty="0">
                <a:solidFill>
                  <a:srgbClr val="151515"/>
                </a:solidFill>
              </a:rPr>
              <a:t>Content</a:t>
            </a:r>
          </a:p>
        </p:txBody>
      </p:sp>
      <p:sp>
        <p:nvSpPr>
          <p:cNvPr id="16" name="Hình chữ nhật: Góc Tròn 15">
            <a:extLst>
              <a:ext uri="{FF2B5EF4-FFF2-40B4-BE49-F238E27FC236}">
                <a16:creationId xmlns:a16="http://schemas.microsoft.com/office/drawing/2014/main" id="{FBEA8681-6335-4332-879D-CF6970798E19}"/>
              </a:ext>
            </a:extLst>
          </p:cNvPr>
          <p:cNvSpPr>
            <a:spLocks noGrp="1"/>
          </p:cNvSpPr>
          <p:nvPr/>
        </p:nvSpPr>
        <p:spPr>
          <a:xfrm>
            <a:off x="3723894" y="6138177"/>
            <a:ext cx="484156" cy="414338"/>
          </a:xfrm>
          <a:prstGeom prst="roundRect">
            <a:avLst>
              <a:gd name="adj" fmla="val 50000"/>
            </a:avLst>
          </a:prstGeom>
          <a:solidFill>
            <a:srgbClr val="FFFFFF"/>
          </a:solidFill>
          <a:ln w="9525">
            <a:solidFill>
              <a:srgbClr val="7E3D4A"/>
            </a:solidFill>
            <a:prstDash val="solid"/>
          </a:ln>
        </p:spPr>
      </p:sp>
      <p:sp>
        <p:nvSpPr>
          <p:cNvPr id="17" name="Hình chữ nhật 16">
            <a:extLst>
              <a:ext uri="{FF2B5EF4-FFF2-40B4-BE49-F238E27FC236}">
                <a16:creationId xmlns:a16="http://schemas.microsoft.com/office/drawing/2014/main" id="{96B59CFF-89AC-4B4E-A900-3E420C7CA511}"/>
              </a:ext>
            </a:extLst>
          </p:cNvPr>
          <p:cNvSpPr>
            <a:spLocks noGrp="1"/>
          </p:cNvSpPr>
          <p:nvPr/>
        </p:nvSpPr>
        <p:spPr>
          <a:xfrm>
            <a:off x="3790949" y="6229350"/>
            <a:ext cx="312801" cy="247650"/>
          </a:xfrm>
          <a:prstGeom prst="rect">
            <a:avLst/>
          </a:prstGeom>
        </p:spPr>
        <p:txBody>
          <a:bodyPr lIns="0" tIns="0" rIns="0" bIns="0"/>
          <a:lstStyle/>
          <a:p>
            <a:pPr algn="ctr">
              <a:lnSpc>
                <a:spcPct val="125000"/>
              </a:lnSpc>
              <a:buNone/>
              <a:defRPr sz="1275" b="1">
                <a:solidFill>
                  <a:srgbClr val="151515"/>
                </a:solidFill>
              </a:defRPr>
            </a:pPr>
            <a:r>
              <a:rPr sz="1275" b="1" dirty="0">
                <a:solidFill>
                  <a:srgbClr val="151515"/>
                </a:solidFill>
              </a:rPr>
              <a:t>AI</a:t>
            </a:r>
          </a:p>
        </p:txBody>
      </p:sp>
      <p:sp>
        <p:nvSpPr>
          <p:cNvPr id="18" name="Hình chữ nhật: Góc Tròn 17">
            <a:extLst>
              <a:ext uri="{FF2B5EF4-FFF2-40B4-BE49-F238E27FC236}">
                <a16:creationId xmlns:a16="http://schemas.microsoft.com/office/drawing/2014/main" id="{A349BF4E-D2EB-4A09-9008-3C9278C61A9E}"/>
              </a:ext>
            </a:extLst>
          </p:cNvPr>
          <p:cNvSpPr>
            <a:spLocks noGrp="1"/>
          </p:cNvSpPr>
          <p:nvPr/>
        </p:nvSpPr>
        <p:spPr>
          <a:xfrm>
            <a:off x="8125301" y="1933194"/>
            <a:ext cx="4586049" cy="3805428"/>
          </a:xfrm>
          <a:prstGeom prst="roundRect">
            <a:avLst>
              <a:gd name="adj" fmla="val 2002"/>
            </a:avLst>
          </a:prstGeom>
          <a:solidFill>
            <a:srgbClr val="FFFFFF"/>
          </a:solidFill>
          <a:ln w="9525">
            <a:solidFill>
              <a:srgbClr val="E8DDCF"/>
            </a:solidFill>
            <a:prstDash val="solid"/>
          </a:ln>
        </p:spPr>
      </p:sp>
      <p:sp>
        <p:nvSpPr>
          <p:cNvPr id="19" name="Hình chữ nhật: Góc Tròn 18">
            <a:extLst>
              <a:ext uri="{FF2B5EF4-FFF2-40B4-BE49-F238E27FC236}">
                <a16:creationId xmlns:a16="http://schemas.microsoft.com/office/drawing/2014/main" id="{137A8168-083A-4F67-B282-834765E97DBE}"/>
              </a:ext>
            </a:extLst>
          </p:cNvPr>
          <p:cNvSpPr>
            <a:spLocks noGrp="1"/>
          </p:cNvSpPr>
          <p:nvPr/>
        </p:nvSpPr>
        <p:spPr>
          <a:xfrm>
            <a:off x="8343900" y="2133600"/>
            <a:ext cx="104775" cy="323850"/>
          </a:xfrm>
          <a:prstGeom prst="roundRect">
            <a:avLst>
              <a:gd name="adj" fmla="val 50000"/>
            </a:avLst>
          </a:prstGeom>
          <a:solidFill>
            <a:srgbClr val="77B8A4"/>
          </a:solidFill>
        </p:spPr>
      </p:sp>
      <p:sp>
        <p:nvSpPr>
          <p:cNvPr id="20" name="Hình chữ nhật 19">
            <a:extLst>
              <a:ext uri="{FF2B5EF4-FFF2-40B4-BE49-F238E27FC236}">
                <a16:creationId xmlns:a16="http://schemas.microsoft.com/office/drawing/2014/main" id="{4B979AD6-B88E-47C2-A2DB-28159FAA358A}"/>
              </a:ext>
            </a:extLst>
          </p:cNvPr>
          <p:cNvSpPr>
            <a:spLocks noGrp="1"/>
          </p:cNvSpPr>
          <p:nvPr/>
        </p:nvSpPr>
        <p:spPr>
          <a:xfrm>
            <a:off x="8534400" y="2095500"/>
            <a:ext cx="396240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Dashboard</a:t>
            </a:r>
          </a:p>
        </p:txBody>
      </p:sp>
      <p:sp>
        <p:nvSpPr>
          <p:cNvPr id="21" name="Hình chữ nhật 20">
            <a:extLst>
              <a:ext uri="{FF2B5EF4-FFF2-40B4-BE49-F238E27FC236}">
                <a16:creationId xmlns:a16="http://schemas.microsoft.com/office/drawing/2014/main" id="{3337B4FE-26E8-4D36-9BBE-BF3FEC356F22}"/>
              </a:ext>
            </a:extLst>
          </p:cNvPr>
          <p:cNvSpPr>
            <a:spLocks noGrp="1"/>
          </p:cNvSpPr>
          <p:nvPr/>
        </p:nvSpPr>
        <p:spPr>
          <a:xfrm>
            <a:off x="8343900" y="2533650"/>
            <a:ext cx="4171950" cy="533400"/>
          </a:xfrm>
          <a:prstGeom prst="rect">
            <a:avLst/>
          </a:prstGeom>
        </p:spPr>
        <p:txBody>
          <a:bodyPr lIns="0" tIns="0" rIns="0" bIns="0"/>
          <a:lstStyle/>
          <a:p>
            <a:pPr>
              <a:lnSpc>
                <a:spcPct val="120000"/>
              </a:lnSpc>
              <a:buNone/>
              <a:defRPr sz="1425">
                <a:solidFill>
                  <a:srgbClr val="647067"/>
                </a:solidFill>
              </a:defRPr>
            </a:pPr>
            <a:r>
              <a:rPr sz="1425">
                <a:solidFill>
                  <a:srgbClr val="647067"/>
                </a:solidFill>
              </a:rPr>
              <a:t>Tổng quan, doanh thu tháng, đơn hàng gần đây, thông báo.</a:t>
            </a:r>
          </a:p>
        </p:txBody>
      </p:sp>
      <p:sp>
        <p:nvSpPr>
          <p:cNvPr id="22" name="Hình chữ nhật: Góc Tròn 21">
            <a:extLst>
              <a:ext uri="{FF2B5EF4-FFF2-40B4-BE49-F238E27FC236}">
                <a16:creationId xmlns:a16="http://schemas.microsoft.com/office/drawing/2014/main" id="{06DCDCCB-63CB-4063-90DA-31F75C811BB4}"/>
              </a:ext>
            </a:extLst>
          </p:cNvPr>
          <p:cNvSpPr>
            <a:spLocks noGrp="1"/>
          </p:cNvSpPr>
          <p:nvPr/>
        </p:nvSpPr>
        <p:spPr>
          <a:xfrm>
            <a:off x="12882801" y="1933194"/>
            <a:ext cx="4586049" cy="3805428"/>
          </a:xfrm>
          <a:prstGeom prst="roundRect">
            <a:avLst>
              <a:gd name="adj" fmla="val 2002"/>
            </a:avLst>
          </a:prstGeom>
          <a:solidFill>
            <a:srgbClr val="FFFFFF"/>
          </a:solidFill>
          <a:ln w="9525">
            <a:solidFill>
              <a:srgbClr val="E8DDCF"/>
            </a:solidFill>
            <a:prstDash val="solid"/>
          </a:ln>
        </p:spPr>
      </p:sp>
      <p:sp>
        <p:nvSpPr>
          <p:cNvPr id="23" name="Hình chữ nhật: Góc Tròn 22">
            <a:extLst>
              <a:ext uri="{FF2B5EF4-FFF2-40B4-BE49-F238E27FC236}">
                <a16:creationId xmlns:a16="http://schemas.microsoft.com/office/drawing/2014/main" id="{C977ED68-3E4A-4BA0-A653-18B5AA45F5E3}"/>
              </a:ext>
            </a:extLst>
          </p:cNvPr>
          <p:cNvSpPr>
            <a:spLocks noGrp="1"/>
          </p:cNvSpPr>
          <p:nvPr/>
        </p:nvSpPr>
        <p:spPr>
          <a:xfrm>
            <a:off x="13106400" y="2133600"/>
            <a:ext cx="104775" cy="323850"/>
          </a:xfrm>
          <a:prstGeom prst="roundRect">
            <a:avLst>
              <a:gd name="adj" fmla="val 50000"/>
            </a:avLst>
          </a:prstGeom>
          <a:solidFill>
            <a:srgbClr val="D9B760"/>
          </a:solidFill>
        </p:spPr>
      </p:sp>
      <p:sp>
        <p:nvSpPr>
          <p:cNvPr id="24" name="Hình chữ nhật 23">
            <a:extLst>
              <a:ext uri="{FF2B5EF4-FFF2-40B4-BE49-F238E27FC236}">
                <a16:creationId xmlns:a16="http://schemas.microsoft.com/office/drawing/2014/main" id="{49D78880-197D-4791-8482-F7FAE4694E75}"/>
              </a:ext>
            </a:extLst>
          </p:cNvPr>
          <p:cNvSpPr>
            <a:spLocks noGrp="1"/>
          </p:cNvSpPr>
          <p:nvPr/>
        </p:nvSpPr>
        <p:spPr>
          <a:xfrm>
            <a:off x="13296900" y="2095500"/>
            <a:ext cx="396240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Commerce</a:t>
            </a:r>
          </a:p>
        </p:txBody>
      </p:sp>
      <p:sp>
        <p:nvSpPr>
          <p:cNvPr id="25" name="Hình chữ nhật 24">
            <a:extLst>
              <a:ext uri="{FF2B5EF4-FFF2-40B4-BE49-F238E27FC236}">
                <a16:creationId xmlns:a16="http://schemas.microsoft.com/office/drawing/2014/main" id="{F484013D-9852-4E26-AF13-BA151D5F0159}"/>
              </a:ext>
            </a:extLst>
          </p:cNvPr>
          <p:cNvSpPr>
            <a:spLocks noGrp="1"/>
          </p:cNvSpPr>
          <p:nvPr/>
        </p:nvSpPr>
        <p:spPr>
          <a:xfrm>
            <a:off x="13087350" y="2533650"/>
            <a:ext cx="4171950" cy="533400"/>
          </a:xfrm>
          <a:prstGeom prst="rect">
            <a:avLst/>
          </a:prstGeom>
        </p:spPr>
        <p:txBody>
          <a:bodyPr lIns="0" tIns="0" rIns="0" bIns="0"/>
          <a:lstStyle/>
          <a:p>
            <a:pPr>
              <a:lnSpc>
                <a:spcPct val="120000"/>
              </a:lnSpc>
              <a:buNone/>
              <a:defRPr sz="1425">
                <a:solidFill>
                  <a:srgbClr val="647067"/>
                </a:solidFill>
              </a:defRPr>
            </a:pPr>
            <a:r>
              <a:rPr sz="1425">
                <a:solidFill>
                  <a:srgbClr val="647067"/>
                </a:solidFill>
              </a:rPr>
              <a:t>CRUD sản phẩm, variant, order status, user, coupon, review.</a:t>
            </a:r>
          </a:p>
        </p:txBody>
      </p:sp>
      <p:sp>
        <p:nvSpPr>
          <p:cNvPr id="26" name="Hình chữ nhật: Góc Tròn 25">
            <a:extLst>
              <a:ext uri="{FF2B5EF4-FFF2-40B4-BE49-F238E27FC236}">
                <a16:creationId xmlns:a16="http://schemas.microsoft.com/office/drawing/2014/main" id="{88E98D99-FEAF-4BDF-9786-CB35C76CF0EB}"/>
              </a:ext>
            </a:extLst>
          </p:cNvPr>
          <p:cNvSpPr>
            <a:spLocks noGrp="1"/>
          </p:cNvSpPr>
          <p:nvPr/>
        </p:nvSpPr>
        <p:spPr>
          <a:xfrm>
            <a:off x="8125301" y="5910072"/>
            <a:ext cx="4586049" cy="3805428"/>
          </a:xfrm>
          <a:prstGeom prst="roundRect">
            <a:avLst>
              <a:gd name="adj" fmla="val 2002"/>
            </a:avLst>
          </a:prstGeom>
          <a:solidFill>
            <a:srgbClr val="FFFFFF"/>
          </a:solidFill>
          <a:ln w="9525">
            <a:solidFill>
              <a:srgbClr val="E8DDCF"/>
            </a:solidFill>
            <a:prstDash val="solid"/>
          </a:ln>
        </p:spPr>
      </p:sp>
      <p:sp>
        <p:nvSpPr>
          <p:cNvPr id="27" name="Hình chữ nhật: Góc Tròn 26">
            <a:extLst>
              <a:ext uri="{FF2B5EF4-FFF2-40B4-BE49-F238E27FC236}">
                <a16:creationId xmlns:a16="http://schemas.microsoft.com/office/drawing/2014/main" id="{5F1E5F69-ADAA-41C3-BA0F-846739CEFD82}"/>
              </a:ext>
            </a:extLst>
          </p:cNvPr>
          <p:cNvSpPr>
            <a:spLocks noGrp="1"/>
          </p:cNvSpPr>
          <p:nvPr/>
        </p:nvSpPr>
        <p:spPr>
          <a:xfrm>
            <a:off x="8343900" y="6096000"/>
            <a:ext cx="104775" cy="323850"/>
          </a:xfrm>
          <a:prstGeom prst="roundRect">
            <a:avLst>
              <a:gd name="adj" fmla="val 50000"/>
            </a:avLst>
          </a:prstGeom>
          <a:solidFill>
            <a:srgbClr val="87B8D6"/>
          </a:solidFill>
        </p:spPr>
      </p:sp>
      <p:sp>
        <p:nvSpPr>
          <p:cNvPr id="28" name="Hình chữ nhật 27">
            <a:extLst>
              <a:ext uri="{FF2B5EF4-FFF2-40B4-BE49-F238E27FC236}">
                <a16:creationId xmlns:a16="http://schemas.microsoft.com/office/drawing/2014/main" id="{636E083D-1089-40F7-858D-30ACE0EDAFB0}"/>
              </a:ext>
            </a:extLst>
          </p:cNvPr>
          <p:cNvSpPr>
            <a:spLocks noGrp="1"/>
          </p:cNvSpPr>
          <p:nvPr/>
        </p:nvSpPr>
        <p:spPr>
          <a:xfrm>
            <a:off x="8534400" y="6076950"/>
            <a:ext cx="396240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Content</a:t>
            </a:r>
          </a:p>
        </p:txBody>
      </p:sp>
      <p:sp>
        <p:nvSpPr>
          <p:cNvPr id="29" name="Hình chữ nhật 28">
            <a:extLst>
              <a:ext uri="{FF2B5EF4-FFF2-40B4-BE49-F238E27FC236}">
                <a16:creationId xmlns:a16="http://schemas.microsoft.com/office/drawing/2014/main" id="{65B3CF79-DB2F-43F2-8A3C-B0F2989BF348}"/>
              </a:ext>
            </a:extLst>
          </p:cNvPr>
          <p:cNvSpPr>
            <a:spLocks noGrp="1"/>
          </p:cNvSpPr>
          <p:nvPr/>
        </p:nvSpPr>
        <p:spPr>
          <a:xfrm>
            <a:off x="8343900" y="6515100"/>
            <a:ext cx="4171950" cy="266700"/>
          </a:xfrm>
          <a:prstGeom prst="rect">
            <a:avLst/>
          </a:prstGeom>
        </p:spPr>
        <p:txBody>
          <a:bodyPr lIns="0" tIns="0" rIns="0" bIns="0"/>
          <a:lstStyle/>
          <a:p>
            <a:pPr>
              <a:lnSpc>
                <a:spcPct val="120000"/>
              </a:lnSpc>
              <a:buNone/>
              <a:defRPr sz="1425">
                <a:solidFill>
                  <a:srgbClr val="647067"/>
                </a:solidFill>
              </a:defRPr>
            </a:pPr>
            <a:r>
              <a:rPr sz="1425">
                <a:solidFill>
                  <a:srgbClr val="647067"/>
                </a:solidFill>
              </a:rPr>
              <a:t>Banner, blog, popup, page builder, SEO và site settings.</a:t>
            </a:r>
          </a:p>
        </p:txBody>
      </p:sp>
      <p:sp>
        <p:nvSpPr>
          <p:cNvPr id="30" name="Hình chữ nhật: Góc Tròn 29">
            <a:extLst>
              <a:ext uri="{FF2B5EF4-FFF2-40B4-BE49-F238E27FC236}">
                <a16:creationId xmlns:a16="http://schemas.microsoft.com/office/drawing/2014/main" id="{AF2AD51A-E2A6-456D-8934-146F134B3393}"/>
              </a:ext>
            </a:extLst>
          </p:cNvPr>
          <p:cNvSpPr>
            <a:spLocks noGrp="1"/>
          </p:cNvSpPr>
          <p:nvPr/>
        </p:nvSpPr>
        <p:spPr>
          <a:xfrm>
            <a:off x="12882801" y="5910072"/>
            <a:ext cx="4586049" cy="3805428"/>
          </a:xfrm>
          <a:prstGeom prst="roundRect">
            <a:avLst>
              <a:gd name="adj" fmla="val 2002"/>
            </a:avLst>
          </a:prstGeom>
          <a:solidFill>
            <a:srgbClr val="FFFFFF"/>
          </a:solidFill>
          <a:ln w="9525">
            <a:solidFill>
              <a:srgbClr val="E8DDCF"/>
            </a:solidFill>
            <a:prstDash val="solid"/>
          </a:ln>
        </p:spPr>
      </p:sp>
      <p:sp>
        <p:nvSpPr>
          <p:cNvPr id="31" name="Hình chữ nhật: Góc Tròn 30">
            <a:extLst>
              <a:ext uri="{FF2B5EF4-FFF2-40B4-BE49-F238E27FC236}">
                <a16:creationId xmlns:a16="http://schemas.microsoft.com/office/drawing/2014/main" id="{CC0AF58F-851E-41B2-8B90-A3429EA46865}"/>
              </a:ext>
            </a:extLst>
          </p:cNvPr>
          <p:cNvSpPr>
            <a:spLocks noGrp="1"/>
          </p:cNvSpPr>
          <p:nvPr/>
        </p:nvSpPr>
        <p:spPr>
          <a:xfrm>
            <a:off x="13106400" y="6096000"/>
            <a:ext cx="104775" cy="323850"/>
          </a:xfrm>
          <a:prstGeom prst="roundRect">
            <a:avLst>
              <a:gd name="adj" fmla="val 50000"/>
            </a:avLst>
          </a:prstGeom>
          <a:solidFill>
            <a:srgbClr val="F39A8A"/>
          </a:solidFill>
        </p:spPr>
      </p:sp>
      <p:sp>
        <p:nvSpPr>
          <p:cNvPr id="32" name="Hình chữ nhật 31">
            <a:extLst>
              <a:ext uri="{FF2B5EF4-FFF2-40B4-BE49-F238E27FC236}">
                <a16:creationId xmlns:a16="http://schemas.microsoft.com/office/drawing/2014/main" id="{625E766F-0032-4722-8A32-AEABC13F33B7}"/>
              </a:ext>
            </a:extLst>
          </p:cNvPr>
          <p:cNvSpPr>
            <a:spLocks noGrp="1"/>
          </p:cNvSpPr>
          <p:nvPr/>
        </p:nvSpPr>
        <p:spPr>
          <a:xfrm>
            <a:off x="13296900" y="6076950"/>
            <a:ext cx="396240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AI &amp; chat</a:t>
            </a:r>
          </a:p>
        </p:txBody>
      </p:sp>
      <p:sp>
        <p:nvSpPr>
          <p:cNvPr id="33" name="Hình chữ nhật 32">
            <a:extLst>
              <a:ext uri="{FF2B5EF4-FFF2-40B4-BE49-F238E27FC236}">
                <a16:creationId xmlns:a16="http://schemas.microsoft.com/office/drawing/2014/main" id="{2E414C21-77ED-41D1-8F87-7BDC9292C2D9}"/>
              </a:ext>
            </a:extLst>
          </p:cNvPr>
          <p:cNvSpPr>
            <a:spLocks noGrp="1"/>
          </p:cNvSpPr>
          <p:nvPr/>
        </p:nvSpPr>
        <p:spPr>
          <a:xfrm>
            <a:off x="13087350" y="6515100"/>
            <a:ext cx="4171950" cy="533400"/>
          </a:xfrm>
          <a:prstGeom prst="rect">
            <a:avLst/>
          </a:prstGeom>
        </p:spPr>
        <p:txBody>
          <a:bodyPr lIns="0" tIns="0" rIns="0" bIns="0"/>
          <a:lstStyle/>
          <a:p>
            <a:pPr>
              <a:lnSpc>
                <a:spcPct val="120000"/>
              </a:lnSpc>
              <a:buNone/>
              <a:defRPr sz="1425">
                <a:solidFill>
                  <a:srgbClr val="647067"/>
                </a:solidFill>
              </a:defRPr>
            </a:pPr>
            <a:r>
              <a:rPr sz="1425">
                <a:solidFill>
                  <a:srgbClr val="647067"/>
                </a:solidFill>
              </a:rPr>
              <a:t>System prompt, appearance, voice config, pause AI, admin join chat.</a:t>
            </a:r>
          </a:p>
        </p:txBody>
      </p:sp>
    </p:spTree>
    <p:extLst>
      <p:ext uri="{BB962C8B-B14F-4D97-AF65-F5344CB8AC3E}">
        <p14:creationId xmlns:p14="http://schemas.microsoft.com/office/powerpoint/2010/main" val="17567037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background">
            <a:extLst>
              <a:ext uri="{FF2B5EF4-FFF2-40B4-BE49-F238E27FC236}">
                <a16:creationId xmlns:a16="http://schemas.microsoft.com/office/drawing/2014/main" id="{2F7B8E11-EB2D-45B5-9983-A8A540ABF0D3}"/>
              </a:ext>
            </a:extLst>
          </p:cNvPr>
          <p:cNvSpPr>
            <a:spLocks noGrp="1"/>
          </p:cNvSpPr>
          <p:nvPr/>
        </p:nvSpPr>
        <p:spPr>
          <a:xfrm>
            <a:off x="0" y="0"/>
            <a:ext cx="18288000" cy="10287000"/>
          </a:xfrm>
          <a:prstGeom prst="rect">
            <a:avLst/>
          </a:prstGeom>
          <a:solidFill>
            <a:srgbClr val="FFFDF8"/>
          </a:solidFill>
        </p:spPr>
      </p:sp>
      <p:sp>
        <p:nvSpPr>
          <p:cNvPr id="2" name="top-band">
            <a:extLst>
              <a:ext uri="{FF2B5EF4-FFF2-40B4-BE49-F238E27FC236}">
                <a16:creationId xmlns:a16="http://schemas.microsoft.com/office/drawing/2014/main" id="{C447B46B-4537-485B-97EB-F63C5C10508C}"/>
              </a:ext>
            </a:extLst>
          </p:cNvPr>
          <p:cNvSpPr>
            <a:spLocks noGrp="1"/>
          </p:cNvSpPr>
          <p:nvPr/>
        </p:nvSpPr>
        <p:spPr>
          <a:xfrm>
            <a:off x="0" y="0"/>
            <a:ext cx="18288000" cy="152400"/>
          </a:xfrm>
          <a:prstGeom prst="rect">
            <a:avLst/>
          </a:prstGeom>
          <a:solidFill>
            <a:srgbClr val="D9B760"/>
          </a:solidFill>
        </p:spPr>
      </p:sp>
      <p:sp>
        <p:nvSpPr>
          <p:cNvPr id="3" name="bottom-band">
            <a:extLst>
              <a:ext uri="{FF2B5EF4-FFF2-40B4-BE49-F238E27FC236}">
                <a16:creationId xmlns:a16="http://schemas.microsoft.com/office/drawing/2014/main" id="{C67F7787-A63E-4FAA-A084-8108E9DD9CB0}"/>
              </a:ext>
            </a:extLst>
          </p:cNvPr>
          <p:cNvSpPr>
            <a:spLocks noGrp="1"/>
          </p:cNvSpPr>
          <p:nvPr/>
        </p:nvSpPr>
        <p:spPr>
          <a:xfrm>
            <a:off x="0" y="0"/>
            <a:ext cx="18288000" cy="76200"/>
          </a:xfrm>
          <a:prstGeom prst="rect">
            <a:avLst/>
          </a:prstGeom>
          <a:solidFill>
            <a:srgbClr val="D9B760"/>
          </a:solidFill>
        </p:spPr>
      </p:sp>
      <p:sp>
        <p:nvSpPr>
          <p:cNvPr id="4" name="Hình chữ nhật: Góc Tròn 3">
            <a:extLst>
              <a:ext uri="{FF2B5EF4-FFF2-40B4-BE49-F238E27FC236}">
                <a16:creationId xmlns:a16="http://schemas.microsoft.com/office/drawing/2014/main" id="{B96519FD-AE7E-43DA-ACA8-9C7C938F5DFB}"/>
              </a:ext>
            </a:extLst>
          </p:cNvPr>
          <p:cNvSpPr>
            <a:spLocks noGrp="1"/>
          </p:cNvSpPr>
          <p:nvPr/>
        </p:nvSpPr>
        <p:spPr>
          <a:xfrm>
            <a:off x="838200" y="647700"/>
            <a:ext cx="400050" cy="95250"/>
          </a:xfrm>
          <a:prstGeom prst="roundRect">
            <a:avLst>
              <a:gd name="adj" fmla="val 50000"/>
            </a:avLst>
          </a:prstGeom>
          <a:solidFill>
            <a:srgbClr val="D9B760"/>
          </a:solidFill>
        </p:spPr>
      </p:sp>
      <p:sp>
        <p:nvSpPr>
          <p:cNvPr id="5" name="Hình chữ nhật 4">
            <a:extLst>
              <a:ext uri="{FF2B5EF4-FFF2-40B4-BE49-F238E27FC236}">
                <a16:creationId xmlns:a16="http://schemas.microsoft.com/office/drawing/2014/main" id="{C3F93EA5-0421-4CCA-963C-88EF8FF442E9}"/>
              </a:ext>
            </a:extLst>
          </p:cNvPr>
          <p:cNvSpPr>
            <a:spLocks noGrp="1"/>
          </p:cNvSpPr>
          <p:nvPr/>
        </p:nvSpPr>
        <p:spPr>
          <a:xfrm>
            <a:off x="1371600" y="571500"/>
            <a:ext cx="15544800" cy="228600"/>
          </a:xfrm>
          <a:prstGeom prst="rect">
            <a:avLst/>
          </a:prstGeom>
        </p:spPr>
        <p:txBody>
          <a:bodyPr lIns="0" tIns="0" rIns="0" bIns="0"/>
          <a:lstStyle/>
          <a:p>
            <a:pPr>
              <a:lnSpc>
                <a:spcPct val="125000"/>
              </a:lnSpc>
              <a:buNone/>
              <a:defRPr sz="1200" b="1">
                <a:solidFill>
                  <a:srgbClr val="7E3D4A"/>
                </a:solidFill>
              </a:defRPr>
            </a:pPr>
            <a:r>
              <a:rPr sz="1200" b="1">
                <a:solidFill>
                  <a:srgbClr val="7E3D4A"/>
                </a:solidFill>
              </a:rPr>
              <a:t>AI STYLIST</a:t>
            </a:r>
          </a:p>
        </p:txBody>
      </p:sp>
      <p:sp>
        <p:nvSpPr>
          <p:cNvPr id="6" name="Hình chữ nhật 5">
            <a:extLst>
              <a:ext uri="{FF2B5EF4-FFF2-40B4-BE49-F238E27FC236}">
                <a16:creationId xmlns:a16="http://schemas.microsoft.com/office/drawing/2014/main" id="{D2386BFD-8A8B-4ED7-A232-C09CF46F90D8}"/>
              </a:ext>
            </a:extLst>
          </p:cNvPr>
          <p:cNvSpPr>
            <a:spLocks noGrp="1"/>
          </p:cNvSpPr>
          <p:nvPr/>
        </p:nvSpPr>
        <p:spPr>
          <a:xfrm>
            <a:off x="17068800" y="571500"/>
            <a:ext cx="400050" cy="228600"/>
          </a:xfrm>
          <a:prstGeom prst="rect">
            <a:avLst/>
          </a:prstGeom>
        </p:spPr>
        <p:txBody>
          <a:bodyPr lIns="0" tIns="0" rIns="0" bIns="0"/>
          <a:lstStyle/>
          <a:p>
            <a:pPr>
              <a:lnSpc>
                <a:spcPct val="120000"/>
              </a:lnSpc>
              <a:buNone/>
              <a:defRPr sz="1275" b="1">
                <a:solidFill>
                  <a:srgbClr val="7E3D4A"/>
                </a:solidFill>
              </a:defRPr>
            </a:pPr>
            <a:r>
              <a:rPr sz="1275" b="1">
                <a:solidFill>
                  <a:srgbClr val="7E3D4A"/>
                </a:solidFill>
              </a:rPr>
              <a:t>19/30</a:t>
            </a:r>
          </a:p>
        </p:txBody>
      </p:sp>
      <p:sp>
        <p:nvSpPr>
          <p:cNvPr id="7" name="slide-title">
            <a:extLst>
              <a:ext uri="{FF2B5EF4-FFF2-40B4-BE49-F238E27FC236}">
                <a16:creationId xmlns:a16="http://schemas.microsoft.com/office/drawing/2014/main" id="{5BBE3FCA-B3FA-4D8F-B606-DBE5C48A0BAC}"/>
              </a:ext>
            </a:extLst>
          </p:cNvPr>
          <p:cNvSpPr>
            <a:spLocks noGrp="1"/>
          </p:cNvSpPr>
          <p:nvPr/>
        </p:nvSpPr>
        <p:spPr>
          <a:xfrm>
            <a:off x="819150" y="933450"/>
            <a:ext cx="16649700" cy="590550"/>
          </a:xfrm>
          <a:prstGeom prst="rect">
            <a:avLst/>
          </a:prstGeom>
        </p:spPr>
        <p:txBody>
          <a:bodyPr lIns="0" tIns="0" rIns="0" bIns="0"/>
          <a:lstStyle/>
          <a:p>
            <a:pPr>
              <a:lnSpc>
                <a:spcPct val="105000"/>
              </a:lnSpc>
              <a:buNone/>
              <a:defRPr sz="3600" b="1">
                <a:solidFill>
                  <a:srgbClr val="151515"/>
                </a:solidFill>
              </a:defRPr>
            </a:pPr>
            <a:r>
              <a:rPr sz="3600" b="1">
                <a:solidFill>
                  <a:srgbClr val="151515"/>
                </a:solidFill>
              </a:rPr>
              <a:t>AI chat tư vấn dựa trên dữ liệu sản phẩm thật</a:t>
            </a:r>
          </a:p>
        </p:txBody>
      </p:sp>
      <p:sp>
        <p:nvSpPr>
          <p:cNvPr id="8" name="title-rule">
            <a:extLst>
              <a:ext uri="{FF2B5EF4-FFF2-40B4-BE49-F238E27FC236}">
                <a16:creationId xmlns:a16="http://schemas.microsoft.com/office/drawing/2014/main" id="{48297BC2-4A90-4ACC-A3E4-F69032FE9DFD}"/>
              </a:ext>
            </a:extLst>
          </p:cNvPr>
          <p:cNvSpPr>
            <a:spLocks noGrp="1"/>
          </p:cNvSpPr>
          <p:nvPr/>
        </p:nvSpPr>
        <p:spPr>
          <a:xfrm>
            <a:off x="819150" y="1619250"/>
            <a:ext cx="1905000" cy="38100"/>
          </a:xfrm>
          <a:prstGeom prst="rect">
            <a:avLst/>
          </a:prstGeom>
          <a:solidFill>
            <a:srgbClr val="D9B760"/>
          </a:solidFill>
          <a:ln w="0">
            <a:solidFill>
              <a:srgbClr val="D9B760"/>
            </a:solidFill>
            <a:prstDash val="solid"/>
          </a:ln>
        </p:spPr>
      </p:sp>
      <p:sp>
        <p:nvSpPr>
          <p:cNvPr id="9" name="Hình chữ nhật: Góc Tròn 8">
            <a:extLst>
              <a:ext uri="{FF2B5EF4-FFF2-40B4-BE49-F238E27FC236}">
                <a16:creationId xmlns:a16="http://schemas.microsoft.com/office/drawing/2014/main" id="{DA4DE991-5632-4C22-89FB-171A85DA00E7}"/>
              </a:ext>
            </a:extLst>
          </p:cNvPr>
          <p:cNvSpPr>
            <a:spLocks noGrp="1"/>
          </p:cNvSpPr>
          <p:nvPr/>
        </p:nvSpPr>
        <p:spPr>
          <a:xfrm>
            <a:off x="2533650" y="4667250"/>
            <a:ext cx="2095500" cy="990600"/>
          </a:xfrm>
          <a:prstGeom prst="roundRect">
            <a:avLst>
              <a:gd name="adj" fmla="val 7692"/>
            </a:avLst>
          </a:prstGeom>
          <a:solidFill>
            <a:srgbClr val="FFFFFF"/>
          </a:solidFill>
          <a:ln w="9525">
            <a:solidFill>
              <a:srgbClr val="77B8A4"/>
            </a:solidFill>
            <a:prstDash val="solid"/>
          </a:ln>
        </p:spPr>
      </p:sp>
      <p:sp>
        <p:nvSpPr>
          <p:cNvPr id="10" name="Hình chữ nhật 9">
            <a:extLst>
              <a:ext uri="{FF2B5EF4-FFF2-40B4-BE49-F238E27FC236}">
                <a16:creationId xmlns:a16="http://schemas.microsoft.com/office/drawing/2014/main" id="{016164F9-CA6F-4ECC-9913-AB0983A9EB5C}"/>
              </a:ext>
            </a:extLst>
          </p:cNvPr>
          <p:cNvSpPr>
            <a:spLocks noGrp="1"/>
          </p:cNvSpPr>
          <p:nvPr/>
        </p:nvSpPr>
        <p:spPr>
          <a:xfrm>
            <a:off x="2705100" y="4876800"/>
            <a:ext cx="175260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User message</a:t>
            </a:r>
          </a:p>
        </p:txBody>
      </p:sp>
      <p:sp>
        <p:nvSpPr>
          <p:cNvPr id="11" name="Hình chữ nhật 10">
            <a:extLst>
              <a:ext uri="{FF2B5EF4-FFF2-40B4-BE49-F238E27FC236}">
                <a16:creationId xmlns:a16="http://schemas.microsoft.com/office/drawing/2014/main" id="{9FA37B72-977D-45DE-A1C0-B28D28684004}"/>
              </a:ext>
            </a:extLst>
          </p:cNvPr>
          <p:cNvSpPr>
            <a:spLocks noGrp="1"/>
          </p:cNvSpPr>
          <p:nvPr/>
        </p:nvSpPr>
        <p:spPr>
          <a:xfrm>
            <a:off x="2705100" y="5257800"/>
            <a:ext cx="1752600" cy="2095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Nhu cầu / size / budget</a:t>
            </a:r>
          </a:p>
        </p:txBody>
      </p:sp>
      <p:sp>
        <p:nvSpPr>
          <p:cNvPr id="12" name="Hình chữ nhật 11">
            <a:extLst>
              <a:ext uri="{FF2B5EF4-FFF2-40B4-BE49-F238E27FC236}">
                <a16:creationId xmlns:a16="http://schemas.microsoft.com/office/drawing/2014/main" id="{31228607-BE1F-4901-B9FE-7C2094AF0CD9}"/>
              </a:ext>
            </a:extLst>
          </p:cNvPr>
          <p:cNvSpPr>
            <a:spLocks noGrp="1"/>
          </p:cNvSpPr>
          <p:nvPr/>
        </p:nvSpPr>
        <p:spPr>
          <a:xfrm>
            <a:off x="4724400" y="4914900"/>
            <a:ext cx="400050" cy="495300"/>
          </a:xfrm>
          <a:prstGeom prst="rect">
            <a:avLst/>
          </a:prstGeom>
        </p:spPr>
        <p:txBody>
          <a:bodyPr lIns="0" tIns="0" rIns="0" bIns="0"/>
          <a:lstStyle/>
          <a:p>
            <a:pPr algn="ctr">
              <a:lnSpc>
                <a:spcPct val="125000"/>
              </a:lnSpc>
              <a:buNone/>
              <a:defRPr sz="2625" b="1">
                <a:solidFill>
                  <a:srgbClr val="D9B760"/>
                </a:solidFill>
              </a:defRPr>
            </a:pPr>
            <a:r>
              <a:rPr sz="2625" b="1">
                <a:solidFill>
                  <a:srgbClr val="D9B760"/>
                </a:solidFill>
              </a:rPr>
              <a:t>→</a:t>
            </a:r>
          </a:p>
        </p:txBody>
      </p:sp>
      <p:sp>
        <p:nvSpPr>
          <p:cNvPr id="13" name="Hình chữ nhật: Góc Tròn 12">
            <a:extLst>
              <a:ext uri="{FF2B5EF4-FFF2-40B4-BE49-F238E27FC236}">
                <a16:creationId xmlns:a16="http://schemas.microsoft.com/office/drawing/2014/main" id="{A6CBBF14-F8F8-44E4-918B-A7260D92B206}"/>
              </a:ext>
            </a:extLst>
          </p:cNvPr>
          <p:cNvSpPr>
            <a:spLocks noGrp="1"/>
          </p:cNvSpPr>
          <p:nvPr/>
        </p:nvSpPr>
        <p:spPr>
          <a:xfrm>
            <a:off x="5219700" y="4667250"/>
            <a:ext cx="2000250" cy="990600"/>
          </a:xfrm>
          <a:prstGeom prst="roundRect">
            <a:avLst>
              <a:gd name="adj" fmla="val 7692"/>
            </a:avLst>
          </a:prstGeom>
          <a:solidFill>
            <a:srgbClr val="FFFFFF"/>
          </a:solidFill>
          <a:ln w="9525">
            <a:solidFill>
              <a:srgbClr val="87B8D6"/>
            </a:solidFill>
            <a:prstDash val="solid"/>
          </a:ln>
        </p:spPr>
      </p:sp>
      <p:sp>
        <p:nvSpPr>
          <p:cNvPr id="14" name="Hình chữ nhật 13">
            <a:extLst>
              <a:ext uri="{FF2B5EF4-FFF2-40B4-BE49-F238E27FC236}">
                <a16:creationId xmlns:a16="http://schemas.microsoft.com/office/drawing/2014/main" id="{9513066C-3898-48DC-AF13-D5708B855A76}"/>
              </a:ext>
            </a:extLst>
          </p:cNvPr>
          <p:cNvSpPr>
            <a:spLocks noGrp="1"/>
          </p:cNvSpPr>
          <p:nvPr/>
        </p:nvSpPr>
        <p:spPr>
          <a:xfrm>
            <a:off x="5391150" y="4876800"/>
            <a:ext cx="165735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Chat API</a:t>
            </a:r>
          </a:p>
        </p:txBody>
      </p:sp>
      <p:sp>
        <p:nvSpPr>
          <p:cNvPr id="15" name="Hình chữ nhật 14">
            <a:extLst>
              <a:ext uri="{FF2B5EF4-FFF2-40B4-BE49-F238E27FC236}">
                <a16:creationId xmlns:a16="http://schemas.microsoft.com/office/drawing/2014/main" id="{1C53F635-0631-4C19-B352-7B5A5561EE0D}"/>
              </a:ext>
            </a:extLst>
          </p:cNvPr>
          <p:cNvSpPr>
            <a:spLocks noGrp="1"/>
          </p:cNvSpPr>
          <p:nvPr/>
        </p:nvSpPr>
        <p:spPr>
          <a:xfrm>
            <a:off x="5391150" y="5257800"/>
            <a:ext cx="1657350" cy="2095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POST /api/v1/chat</a:t>
            </a:r>
          </a:p>
        </p:txBody>
      </p:sp>
      <p:sp>
        <p:nvSpPr>
          <p:cNvPr id="16" name="Hình chữ nhật 15">
            <a:extLst>
              <a:ext uri="{FF2B5EF4-FFF2-40B4-BE49-F238E27FC236}">
                <a16:creationId xmlns:a16="http://schemas.microsoft.com/office/drawing/2014/main" id="{4F3D35D2-A00B-4B4B-AE44-36598BEFEE66}"/>
              </a:ext>
            </a:extLst>
          </p:cNvPr>
          <p:cNvSpPr>
            <a:spLocks noGrp="1"/>
          </p:cNvSpPr>
          <p:nvPr/>
        </p:nvSpPr>
        <p:spPr>
          <a:xfrm>
            <a:off x="7315200" y="4914900"/>
            <a:ext cx="400050" cy="495300"/>
          </a:xfrm>
          <a:prstGeom prst="rect">
            <a:avLst/>
          </a:prstGeom>
        </p:spPr>
        <p:txBody>
          <a:bodyPr lIns="0" tIns="0" rIns="0" bIns="0"/>
          <a:lstStyle/>
          <a:p>
            <a:pPr algn="ctr">
              <a:lnSpc>
                <a:spcPct val="125000"/>
              </a:lnSpc>
              <a:buNone/>
              <a:defRPr sz="2625" b="1">
                <a:solidFill>
                  <a:srgbClr val="D9B760"/>
                </a:solidFill>
              </a:defRPr>
            </a:pPr>
            <a:r>
              <a:rPr sz="2625" b="1">
                <a:solidFill>
                  <a:srgbClr val="D9B760"/>
                </a:solidFill>
              </a:rPr>
              <a:t>→</a:t>
            </a:r>
          </a:p>
        </p:txBody>
      </p:sp>
      <p:sp>
        <p:nvSpPr>
          <p:cNvPr id="17" name="Hình chữ nhật: Góc Tròn 16">
            <a:extLst>
              <a:ext uri="{FF2B5EF4-FFF2-40B4-BE49-F238E27FC236}">
                <a16:creationId xmlns:a16="http://schemas.microsoft.com/office/drawing/2014/main" id="{6B7F492D-2EBC-4A6A-AB9F-6ECC4B081C0E}"/>
              </a:ext>
            </a:extLst>
          </p:cNvPr>
          <p:cNvSpPr>
            <a:spLocks noGrp="1"/>
          </p:cNvSpPr>
          <p:nvPr/>
        </p:nvSpPr>
        <p:spPr>
          <a:xfrm>
            <a:off x="7810500" y="4667250"/>
            <a:ext cx="2190750" cy="990600"/>
          </a:xfrm>
          <a:prstGeom prst="roundRect">
            <a:avLst>
              <a:gd name="adj" fmla="val 7692"/>
            </a:avLst>
          </a:prstGeom>
          <a:solidFill>
            <a:srgbClr val="FFFFFF"/>
          </a:solidFill>
          <a:ln w="9525">
            <a:solidFill>
              <a:srgbClr val="7E3D4A"/>
            </a:solidFill>
            <a:prstDash val="solid"/>
          </a:ln>
        </p:spPr>
      </p:sp>
      <p:sp>
        <p:nvSpPr>
          <p:cNvPr id="18" name="Hình chữ nhật 17">
            <a:extLst>
              <a:ext uri="{FF2B5EF4-FFF2-40B4-BE49-F238E27FC236}">
                <a16:creationId xmlns:a16="http://schemas.microsoft.com/office/drawing/2014/main" id="{03CBD932-39DA-4CAB-8228-95EA1BED964A}"/>
              </a:ext>
            </a:extLst>
          </p:cNvPr>
          <p:cNvSpPr>
            <a:spLocks noGrp="1"/>
          </p:cNvSpPr>
          <p:nvPr/>
        </p:nvSpPr>
        <p:spPr>
          <a:xfrm>
            <a:off x="7981950" y="4876800"/>
            <a:ext cx="184785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Stylist Engine</a:t>
            </a:r>
          </a:p>
        </p:txBody>
      </p:sp>
      <p:sp>
        <p:nvSpPr>
          <p:cNvPr id="19" name="Hình chữ nhật 18">
            <a:extLst>
              <a:ext uri="{FF2B5EF4-FFF2-40B4-BE49-F238E27FC236}">
                <a16:creationId xmlns:a16="http://schemas.microsoft.com/office/drawing/2014/main" id="{AE5C565D-0443-4E0E-B1EB-68511A67ABCA}"/>
              </a:ext>
            </a:extLst>
          </p:cNvPr>
          <p:cNvSpPr>
            <a:spLocks noGrp="1"/>
          </p:cNvSpPr>
          <p:nvPr/>
        </p:nvSpPr>
        <p:spPr>
          <a:xfrm>
            <a:off x="7981950" y="5257800"/>
            <a:ext cx="1847850" cy="2095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intent + entity</a:t>
            </a:r>
          </a:p>
        </p:txBody>
      </p:sp>
      <p:sp>
        <p:nvSpPr>
          <p:cNvPr id="20" name="Hình chữ nhật 19">
            <a:extLst>
              <a:ext uri="{FF2B5EF4-FFF2-40B4-BE49-F238E27FC236}">
                <a16:creationId xmlns:a16="http://schemas.microsoft.com/office/drawing/2014/main" id="{DF8DD007-1E64-4ECC-ADB7-32E0A42FC63F}"/>
              </a:ext>
            </a:extLst>
          </p:cNvPr>
          <p:cNvSpPr>
            <a:spLocks noGrp="1"/>
          </p:cNvSpPr>
          <p:nvPr/>
        </p:nvSpPr>
        <p:spPr>
          <a:xfrm>
            <a:off x="10096500" y="4914900"/>
            <a:ext cx="400050" cy="495300"/>
          </a:xfrm>
          <a:prstGeom prst="rect">
            <a:avLst/>
          </a:prstGeom>
        </p:spPr>
        <p:txBody>
          <a:bodyPr lIns="0" tIns="0" rIns="0" bIns="0"/>
          <a:lstStyle/>
          <a:p>
            <a:pPr algn="ctr">
              <a:lnSpc>
                <a:spcPct val="125000"/>
              </a:lnSpc>
              <a:buNone/>
              <a:defRPr sz="2625" b="1">
                <a:solidFill>
                  <a:srgbClr val="D9B760"/>
                </a:solidFill>
              </a:defRPr>
            </a:pPr>
            <a:r>
              <a:rPr sz="2625" b="1">
                <a:solidFill>
                  <a:srgbClr val="D9B760"/>
                </a:solidFill>
              </a:rPr>
              <a:t>→</a:t>
            </a:r>
          </a:p>
        </p:txBody>
      </p:sp>
      <p:sp>
        <p:nvSpPr>
          <p:cNvPr id="21" name="Hình chữ nhật: Góc Tròn 20">
            <a:extLst>
              <a:ext uri="{FF2B5EF4-FFF2-40B4-BE49-F238E27FC236}">
                <a16:creationId xmlns:a16="http://schemas.microsoft.com/office/drawing/2014/main" id="{91D83D84-A71A-470E-965B-272079DC4163}"/>
              </a:ext>
            </a:extLst>
          </p:cNvPr>
          <p:cNvSpPr>
            <a:spLocks noGrp="1"/>
          </p:cNvSpPr>
          <p:nvPr/>
        </p:nvSpPr>
        <p:spPr>
          <a:xfrm>
            <a:off x="10591800" y="4667250"/>
            <a:ext cx="2190750" cy="990600"/>
          </a:xfrm>
          <a:prstGeom prst="roundRect">
            <a:avLst>
              <a:gd name="adj" fmla="val 7692"/>
            </a:avLst>
          </a:prstGeom>
          <a:solidFill>
            <a:srgbClr val="FFFFFF"/>
          </a:solidFill>
          <a:ln w="9525">
            <a:solidFill>
              <a:srgbClr val="F39A8A"/>
            </a:solidFill>
            <a:prstDash val="solid"/>
          </a:ln>
        </p:spPr>
      </p:sp>
      <p:sp>
        <p:nvSpPr>
          <p:cNvPr id="22" name="Hình chữ nhật 21">
            <a:extLst>
              <a:ext uri="{FF2B5EF4-FFF2-40B4-BE49-F238E27FC236}">
                <a16:creationId xmlns:a16="http://schemas.microsoft.com/office/drawing/2014/main" id="{9F34AD37-66B2-4FA5-A1AC-FDEE9AB8B4BD}"/>
              </a:ext>
            </a:extLst>
          </p:cNvPr>
          <p:cNvSpPr>
            <a:spLocks noGrp="1"/>
          </p:cNvSpPr>
          <p:nvPr/>
        </p:nvSpPr>
        <p:spPr>
          <a:xfrm>
            <a:off x="10763250" y="4876800"/>
            <a:ext cx="184785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Product search</a:t>
            </a:r>
          </a:p>
        </p:txBody>
      </p:sp>
      <p:sp>
        <p:nvSpPr>
          <p:cNvPr id="23" name="Hình chữ nhật 22">
            <a:extLst>
              <a:ext uri="{FF2B5EF4-FFF2-40B4-BE49-F238E27FC236}">
                <a16:creationId xmlns:a16="http://schemas.microsoft.com/office/drawing/2014/main" id="{5804B572-CDD8-4193-95DF-463E723C30C8}"/>
              </a:ext>
            </a:extLst>
          </p:cNvPr>
          <p:cNvSpPr>
            <a:spLocks noGrp="1"/>
          </p:cNvSpPr>
          <p:nvPr/>
        </p:nvSpPr>
        <p:spPr>
          <a:xfrm>
            <a:off x="10763250" y="5257800"/>
            <a:ext cx="1847850" cy="2095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database context</a:t>
            </a:r>
          </a:p>
        </p:txBody>
      </p:sp>
      <p:sp>
        <p:nvSpPr>
          <p:cNvPr id="24" name="Hình chữ nhật 23">
            <a:extLst>
              <a:ext uri="{FF2B5EF4-FFF2-40B4-BE49-F238E27FC236}">
                <a16:creationId xmlns:a16="http://schemas.microsoft.com/office/drawing/2014/main" id="{78463B20-75A0-4F61-AA15-7C7E473E3F17}"/>
              </a:ext>
            </a:extLst>
          </p:cNvPr>
          <p:cNvSpPr>
            <a:spLocks noGrp="1"/>
          </p:cNvSpPr>
          <p:nvPr/>
        </p:nvSpPr>
        <p:spPr>
          <a:xfrm>
            <a:off x="12877800" y="4914900"/>
            <a:ext cx="400050" cy="495300"/>
          </a:xfrm>
          <a:prstGeom prst="rect">
            <a:avLst/>
          </a:prstGeom>
        </p:spPr>
        <p:txBody>
          <a:bodyPr lIns="0" tIns="0" rIns="0" bIns="0"/>
          <a:lstStyle/>
          <a:p>
            <a:pPr algn="ctr">
              <a:lnSpc>
                <a:spcPct val="125000"/>
              </a:lnSpc>
              <a:buNone/>
              <a:defRPr sz="2625" b="1">
                <a:solidFill>
                  <a:srgbClr val="D9B760"/>
                </a:solidFill>
              </a:defRPr>
            </a:pPr>
            <a:r>
              <a:rPr sz="2625" b="1">
                <a:solidFill>
                  <a:srgbClr val="D9B760"/>
                </a:solidFill>
              </a:rPr>
              <a:t>→</a:t>
            </a:r>
          </a:p>
        </p:txBody>
      </p:sp>
      <p:sp>
        <p:nvSpPr>
          <p:cNvPr id="25" name="Hình chữ nhật: Góc Tròn 24">
            <a:extLst>
              <a:ext uri="{FF2B5EF4-FFF2-40B4-BE49-F238E27FC236}">
                <a16:creationId xmlns:a16="http://schemas.microsoft.com/office/drawing/2014/main" id="{8DED0987-10D5-470B-9BA7-AC44063FBAE3}"/>
              </a:ext>
            </a:extLst>
          </p:cNvPr>
          <p:cNvSpPr>
            <a:spLocks noGrp="1"/>
          </p:cNvSpPr>
          <p:nvPr/>
        </p:nvSpPr>
        <p:spPr>
          <a:xfrm>
            <a:off x="13373100" y="4667250"/>
            <a:ext cx="2381250" cy="990600"/>
          </a:xfrm>
          <a:prstGeom prst="roundRect">
            <a:avLst>
              <a:gd name="adj" fmla="val 7692"/>
            </a:avLst>
          </a:prstGeom>
          <a:solidFill>
            <a:srgbClr val="FFFFFF"/>
          </a:solidFill>
          <a:ln w="9525">
            <a:solidFill>
              <a:srgbClr val="D9B760"/>
            </a:solidFill>
            <a:prstDash val="solid"/>
          </a:ln>
        </p:spPr>
      </p:sp>
      <p:sp>
        <p:nvSpPr>
          <p:cNvPr id="26" name="Hình chữ nhật 25">
            <a:extLst>
              <a:ext uri="{FF2B5EF4-FFF2-40B4-BE49-F238E27FC236}">
                <a16:creationId xmlns:a16="http://schemas.microsoft.com/office/drawing/2014/main" id="{859C070F-BBB0-4AA7-A03C-FE3D2EEC9263}"/>
              </a:ext>
            </a:extLst>
          </p:cNvPr>
          <p:cNvSpPr>
            <a:spLocks noGrp="1"/>
          </p:cNvSpPr>
          <p:nvPr/>
        </p:nvSpPr>
        <p:spPr>
          <a:xfrm>
            <a:off x="13544550" y="4876800"/>
            <a:ext cx="203835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AI response</a:t>
            </a:r>
          </a:p>
        </p:txBody>
      </p:sp>
      <p:sp>
        <p:nvSpPr>
          <p:cNvPr id="27" name="Hình chữ nhật 26">
            <a:extLst>
              <a:ext uri="{FF2B5EF4-FFF2-40B4-BE49-F238E27FC236}">
                <a16:creationId xmlns:a16="http://schemas.microsoft.com/office/drawing/2014/main" id="{DF4E6C52-3C49-44CB-89A0-3788E0D40CF9}"/>
              </a:ext>
            </a:extLst>
          </p:cNvPr>
          <p:cNvSpPr>
            <a:spLocks noGrp="1"/>
          </p:cNvSpPr>
          <p:nvPr/>
        </p:nvSpPr>
        <p:spPr>
          <a:xfrm>
            <a:off x="13544550" y="5257800"/>
            <a:ext cx="2038350" cy="2095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Gemini/OpenAI/fallback</a:t>
            </a:r>
          </a:p>
        </p:txBody>
      </p:sp>
      <p:sp>
        <p:nvSpPr>
          <p:cNvPr id="28" name="Hình chữ nhật: Góc Tròn 27">
            <a:extLst>
              <a:ext uri="{FF2B5EF4-FFF2-40B4-BE49-F238E27FC236}">
                <a16:creationId xmlns:a16="http://schemas.microsoft.com/office/drawing/2014/main" id="{00BD2E75-1ECD-4534-A5C9-0E1DA9E74167}"/>
              </a:ext>
            </a:extLst>
          </p:cNvPr>
          <p:cNvSpPr>
            <a:spLocks noGrp="1"/>
          </p:cNvSpPr>
          <p:nvPr/>
        </p:nvSpPr>
        <p:spPr>
          <a:xfrm>
            <a:off x="819150" y="5946458"/>
            <a:ext cx="5397500" cy="1032129"/>
          </a:xfrm>
          <a:prstGeom prst="roundRect">
            <a:avLst>
              <a:gd name="adj" fmla="val 7383"/>
            </a:avLst>
          </a:prstGeom>
          <a:solidFill>
            <a:srgbClr val="FFFFFF"/>
          </a:solidFill>
          <a:ln w="9525">
            <a:solidFill>
              <a:srgbClr val="E8DDCF"/>
            </a:solidFill>
            <a:prstDash val="solid"/>
          </a:ln>
        </p:spPr>
      </p:sp>
      <p:sp>
        <p:nvSpPr>
          <p:cNvPr id="29" name="Hình chữ nhật: Góc Tròn 28">
            <a:extLst>
              <a:ext uri="{FF2B5EF4-FFF2-40B4-BE49-F238E27FC236}">
                <a16:creationId xmlns:a16="http://schemas.microsoft.com/office/drawing/2014/main" id="{77CD25B7-ADD7-4282-BDFA-16C520214D4B}"/>
              </a:ext>
            </a:extLst>
          </p:cNvPr>
          <p:cNvSpPr>
            <a:spLocks noGrp="1"/>
          </p:cNvSpPr>
          <p:nvPr/>
        </p:nvSpPr>
        <p:spPr>
          <a:xfrm>
            <a:off x="1028700" y="6134100"/>
            <a:ext cx="104775" cy="323850"/>
          </a:xfrm>
          <a:prstGeom prst="roundRect">
            <a:avLst>
              <a:gd name="adj" fmla="val 50000"/>
            </a:avLst>
          </a:prstGeom>
          <a:solidFill>
            <a:srgbClr val="77B8A4"/>
          </a:solidFill>
        </p:spPr>
      </p:sp>
      <p:sp>
        <p:nvSpPr>
          <p:cNvPr id="30" name="Hình chữ nhật 29">
            <a:extLst>
              <a:ext uri="{FF2B5EF4-FFF2-40B4-BE49-F238E27FC236}">
                <a16:creationId xmlns:a16="http://schemas.microsoft.com/office/drawing/2014/main" id="{7114A27E-4EDA-4D4A-9C36-E821F87FC835}"/>
              </a:ext>
            </a:extLst>
          </p:cNvPr>
          <p:cNvSpPr>
            <a:spLocks noGrp="1"/>
          </p:cNvSpPr>
          <p:nvPr/>
        </p:nvSpPr>
        <p:spPr>
          <a:xfrm>
            <a:off x="1238250" y="6115050"/>
            <a:ext cx="478155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Có session memory</a:t>
            </a:r>
          </a:p>
        </p:txBody>
      </p:sp>
      <p:sp>
        <p:nvSpPr>
          <p:cNvPr id="31" name="Hình chữ nhật 30">
            <a:extLst>
              <a:ext uri="{FF2B5EF4-FFF2-40B4-BE49-F238E27FC236}">
                <a16:creationId xmlns:a16="http://schemas.microsoft.com/office/drawing/2014/main" id="{4045AB9A-078D-404A-BEB1-856B89F31AD4}"/>
              </a:ext>
            </a:extLst>
          </p:cNvPr>
          <p:cNvSpPr>
            <a:spLocks noGrp="1"/>
          </p:cNvSpPr>
          <p:nvPr/>
        </p:nvSpPr>
        <p:spPr>
          <a:xfrm>
            <a:off x="1028700" y="6553200"/>
            <a:ext cx="4972050" cy="266700"/>
          </a:xfrm>
          <a:prstGeom prst="rect">
            <a:avLst/>
          </a:prstGeom>
        </p:spPr>
        <p:txBody>
          <a:bodyPr lIns="0" tIns="0" rIns="0" bIns="0"/>
          <a:lstStyle/>
          <a:p>
            <a:pPr>
              <a:lnSpc>
                <a:spcPct val="120000"/>
              </a:lnSpc>
              <a:buNone/>
              <a:defRPr sz="1425">
                <a:solidFill>
                  <a:srgbClr val="647067"/>
                </a:solidFill>
              </a:defRPr>
            </a:pPr>
            <a:r>
              <a:rPr sz="1425">
                <a:solidFill>
                  <a:srgbClr val="647067"/>
                </a:solidFill>
              </a:rPr>
              <a:t>Giữ ngữ cảnh hội thoại theo chat session.</a:t>
            </a:r>
          </a:p>
        </p:txBody>
      </p:sp>
      <p:sp>
        <p:nvSpPr>
          <p:cNvPr id="32" name="Hình chữ nhật: Góc Tròn 31">
            <a:extLst>
              <a:ext uri="{FF2B5EF4-FFF2-40B4-BE49-F238E27FC236}">
                <a16:creationId xmlns:a16="http://schemas.microsoft.com/office/drawing/2014/main" id="{9CFE6CE0-FB5E-41E1-B64C-A624D605D388}"/>
              </a:ext>
            </a:extLst>
          </p:cNvPr>
          <p:cNvSpPr>
            <a:spLocks noGrp="1"/>
          </p:cNvSpPr>
          <p:nvPr/>
        </p:nvSpPr>
        <p:spPr>
          <a:xfrm>
            <a:off x="6445250" y="5946458"/>
            <a:ext cx="5397500" cy="1032129"/>
          </a:xfrm>
          <a:prstGeom prst="roundRect">
            <a:avLst>
              <a:gd name="adj" fmla="val 7383"/>
            </a:avLst>
          </a:prstGeom>
          <a:solidFill>
            <a:srgbClr val="FFFFFF"/>
          </a:solidFill>
          <a:ln w="9525">
            <a:solidFill>
              <a:srgbClr val="E8DDCF"/>
            </a:solidFill>
            <a:prstDash val="solid"/>
          </a:ln>
        </p:spPr>
      </p:sp>
      <p:sp>
        <p:nvSpPr>
          <p:cNvPr id="33" name="Hình chữ nhật: Góc Tròn 32">
            <a:extLst>
              <a:ext uri="{FF2B5EF4-FFF2-40B4-BE49-F238E27FC236}">
                <a16:creationId xmlns:a16="http://schemas.microsoft.com/office/drawing/2014/main" id="{609F0949-9F0A-4C60-9DA0-6E1F90186699}"/>
              </a:ext>
            </a:extLst>
          </p:cNvPr>
          <p:cNvSpPr>
            <a:spLocks noGrp="1"/>
          </p:cNvSpPr>
          <p:nvPr/>
        </p:nvSpPr>
        <p:spPr>
          <a:xfrm>
            <a:off x="6667500" y="6134100"/>
            <a:ext cx="104775" cy="323850"/>
          </a:xfrm>
          <a:prstGeom prst="roundRect">
            <a:avLst>
              <a:gd name="adj" fmla="val 50000"/>
            </a:avLst>
          </a:prstGeom>
          <a:solidFill>
            <a:srgbClr val="D9B760"/>
          </a:solidFill>
        </p:spPr>
      </p:sp>
      <p:sp>
        <p:nvSpPr>
          <p:cNvPr id="34" name="Hình chữ nhật 33">
            <a:extLst>
              <a:ext uri="{FF2B5EF4-FFF2-40B4-BE49-F238E27FC236}">
                <a16:creationId xmlns:a16="http://schemas.microsoft.com/office/drawing/2014/main" id="{4E6F83A8-C8B5-4A05-B228-229EE2D6F24E}"/>
              </a:ext>
            </a:extLst>
          </p:cNvPr>
          <p:cNvSpPr>
            <a:spLocks noGrp="1"/>
          </p:cNvSpPr>
          <p:nvPr/>
        </p:nvSpPr>
        <p:spPr>
          <a:xfrm>
            <a:off x="6858000" y="6115050"/>
            <a:ext cx="478155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Không bịa catalog</a:t>
            </a:r>
          </a:p>
        </p:txBody>
      </p:sp>
      <p:sp>
        <p:nvSpPr>
          <p:cNvPr id="35" name="Hình chữ nhật 34">
            <a:extLst>
              <a:ext uri="{FF2B5EF4-FFF2-40B4-BE49-F238E27FC236}">
                <a16:creationId xmlns:a16="http://schemas.microsoft.com/office/drawing/2014/main" id="{337DD2B1-524B-46CE-8F35-C78FAB3D9096}"/>
              </a:ext>
            </a:extLst>
          </p:cNvPr>
          <p:cNvSpPr>
            <a:spLocks noGrp="1"/>
          </p:cNvSpPr>
          <p:nvPr/>
        </p:nvSpPr>
        <p:spPr>
          <a:xfrm>
            <a:off x="6648450" y="6553200"/>
            <a:ext cx="4972050" cy="266700"/>
          </a:xfrm>
          <a:prstGeom prst="rect">
            <a:avLst/>
          </a:prstGeom>
        </p:spPr>
        <p:txBody>
          <a:bodyPr lIns="0" tIns="0" rIns="0" bIns="0"/>
          <a:lstStyle/>
          <a:p>
            <a:pPr>
              <a:lnSpc>
                <a:spcPct val="120000"/>
              </a:lnSpc>
              <a:buNone/>
              <a:defRPr sz="1425">
                <a:solidFill>
                  <a:srgbClr val="647067"/>
                </a:solidFill>
              </a:defRPr>
            </a:pPr>
            <a:r>
              <a:rPr sz="1425">
                <a:solidFill>
                  <a:srgbClr val="647067"/>
                </a:solidFill>
              </a:rPr>
              <a:t>Chỉ giới thiệu sản phẩm có trong context data.</a:t>
            </a:r>
          </a:p>
        </p:txBody>
      </p:sp>
      <p:sp>
        <p:nvSpPr>
          <p:cNvPr id="36" name="Hình chữ nhật: Góc Tròn 35">
            <a:extLst>
              <a:ext uri="{FF2B5EF4-FFF2-40B4-BE49-F238E27FC236}">
                <a16:creationId xmlns:a16="http://schemas.microsoft.com/office/drawing/2014/main" id="{6C1D1D6C-0EDD-42D6-8025-8D7142C6B5C6}"/>
              </a:ext>
            </a:extLst>
          </p:cNvPr>
          <p:cNvSpPr>
            <a:spLocks noGrp="1"/>
          </p:cNvSpPr>
          <p:nvPr/>
        </p:nvSpPr>
        <p:spPr>
          <a:xfrm>
            <a:off x="12071350" y="5946458"/>
            <a:ext cx="5397500" cy="1032129"/>
          </a:xfrm>
          <a:prstGeom prst="roundRect">
            <a:avLst>
              <a:gd name="adj" fmla="val 7383"/>
            </a:avLst>
          </a:prstGeom>
          <a:solidFill>
            <a:srgbClr val="FFFFFF"/>
          </a:solidFill>
          <a:ln w="9525">
            <a:solidFill>
              <a:srgbClr val="E8DDCF"/>
            </a:solidFill>
            <a:prstDash val="solid"/>
          </a:ln>
        </p:spPr>
      </p:sp>
      <p:sp>
        <p:nvSpPr>
          <p:cNvPr id="37" name="Hình chữ nhật: Góc Tròn 36">
            <a:extLst>
              <a:ext uri="{FF2B5EF4-FFF2-40B4-BE49-F238E27FC236}">
                <a16:creationId xmlns:a16="http://schemas.microsoft.com/office/drawing/2014/main" id="{298A2A00-0B9A-436E-90A5-85A1D2607A4C}"/>
              </a:ext>
            </a:extLst>
          </p:cNvPr>
          <p:cNvSpPr>
            <a:spLocks noGrp="1"/>
          </p:cNvSpPr>
          <p:nvPr/>
        </p:nvSpPr>
        <p:spPr>
          <a:xfrm>
            <a:off x="12268200" y="6134100"/>
            <a:ext cx="104775" cy="323850"/>
          </a:xfrm>
          <a:prstGeom prst="roundRect">
            <a:avLst>
              <a:gd name="adj" fmla="val 50000"/>
            </a:avLst>
          </a:prstGeom>
          <a:solidFill>
            <a:srgbClr val="F39A8A"/>
          </a:solidFill>
        </p:spPr>
      </p:sp>
      <p:sp>
        <p:nvSpPr>
          <p:cNvPr id="38" name="Hình chữ nhật 37">
            <a:extLst>
              <a:ext uri="{FF2B5EF4-FFF2-40B4-BE49-F238E27FC236}">
                <a16:creationId xmlns:a16="http://schemas.microsoft.com/office/drawing/2014/main" id="{9C84DBBC-934A-4CB4-A244-D871C30BAACA}"/>
              </a:ext>
            </a:extLst>
          </p:cNvPr>
          <p:cNvSpPr>
            <a:spLocks noGrp="1"/>
          </p:cNvSpPr>
          <p:nvPr/>
        </p:nvSpPr>
        <p:spPr>
          <a:xfrm>
            <a:off x="12477750" y="6115050"/>
            <a:ext cx="478155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Admin can thiệp được</a:t>
            </a:r>
          </a:p>
        </p:txBody>
      </p:sp>
      <p:sp>
        <p:nvSpPr>
          <p:cNvPr id="39" name="Hình chữ nhật 38">
            <a:extLst>
              <a:ext uri="{FF2B5EF4-FFF2-40B4-BE49-F238E27FC236}">
                <a16:creationId xmlns:a16="http://schemas.microsoft.com/office/drawing/2014/main" id="{F252277A-E95A-4452-B196-F322BAF91DF0}"/>
              </a:ext>
            </a:extLst>
          </p:cNvPr>
          <p:cNvSpPr>
            <a:spLocks noGrp="1"/>
          </p:cNvSpPr>
          <p:nvPr/>
        </p:nvSpPr>
        <p:spPr>
          <a:xfrm>
            <a:off x="12287250" y="6553200"/>
            <a:ext cx="4972050" cy="266700"/>
          </a:xfrm>
          <a:prstGeom prst="rect">
            <a:avLst/>
          </a:prstGeom>
        </p:spPr>
        <p:txBody>
          <a:bodyPr lIns="0" tIns="0" rIns="0" bIns="0"/>
          <a:lstStyle/>
          <a:p>
            <a:pPr>
              <a:lnSpc>
                <a:spcPct val="120000"/>
              </a:lnSpc>
              <a:buNone/>
              <a:defRPr sz="1425">
                <a:solidFill>
                  <a:srgbClr val="647067"/>
                </a:solidFill>
              </a:defRPr>
            </a:pPr>
            <a:r>
              <a:rPr sz="1425">
                <a:solidFill>
                  <a:srgbClr val="647067"/>
                </a:solidFill>
              </a:rPr>
              <a:t>Pause AI, join chat, gửi tin nhắn và theo dõi lịch sử.</a:t>
            </a:r>
          </a:p>
        </p:txBody>
      </p:sp>
    </p:spTree>
    <p:extLst>
      <p:ext uri="{BB962C8B-B14F-4D97-AF65-F5344CB8AC3E}">
        <p14:creationId xmlns:p14="http://schemas.microsoft.com/office/powerpoint/2010/main" val="5118140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background">
            <a:extLst>
              <a:ext uri="{FF2B5EF4-FFF2-40B4-BE49-F238E27FC236}">
                <a16:creationId xmlns:a16="http://schemas.microsoft.com/office/drawing/2014/main" id="{F4AF8094-D84A-4AC5-89F4-9D57EC07F6DB}"/>
              </a:ext>
            </a:extLst>
          </p:cNvPr>
          <p:cNvSpPr>
            <a:spLocks noGrp="1"/>
          </p:cNvSpPr>
          <p:nvPr/>
        </p:nvSpPr>
        <p:spPr>
          <a:xfrm>
            <a:off x="0" y="0"/>
            <a:ext cx="18288000" cy="10287000"/>
          </a:xfrm>
          <a:prstGeom prst="rect">
            <a:avLst/>
          </a:prstGeom>
          <a:solidFill>
            <a:srgbClr val="FFFDF8"/>
          </a:solidFill>
        </p:spPr>
      </p:sp>
      <p:sp>
        <p:nvSpPr>
          <p:cNvPr id="2" name="top-band">
            <a:extLst>
              <a:ext uri="{FF2B5EF4-FFF2-40B4-BE49-F238E27FC236}">
                <a16:creationId xmlns:a16="http://schemas.microsoft.com/office/drawing/2014/main" id="{68509946-667A-471E-9F26-F470E4AAB266}"/>
              </a:ext>
            </a:extLst>
          </p:cNvPr>
          <p:cNvSpPr>
            <a:spLocks noGrp="1"/>
          </p:cNvSpPr>
          <p:nvPr/>
        </p:nvSpPr>
        <p:spPr>
          <a:xfrm>
            <a:off x="0" y="0"/>
            <a:ext cx="18288000" cy="152400"/>
          </a:xfrm>
          <a:prstGeom prst="rect">
            <a:avLst/>
          </a:prstGeom>
          <a:solidFill>
            <a:srgbClr val="F39A8A"/>
          </a:solidFill>
        </p:spPr>
      </p:sp>
      <p:sp>
        <p:nvSpPr>
          <p:cNvPr id="3" name="bottom-band">
            <a:extLst>
              <a:ext uri="{FF2B5EF4-FFF2-40B4-BE49-F238E27FC236}">
                <a16:creationId xmlns:a16="http://schemas.microsoft.com/office/drawing/2014/main" id="{2D87A06E-B777-4F55-8AFC-6B236EC2FD80}"/>
              </a:ext>
            </a:extLst>
          </p:cNvPr>
          <p:cNvSpPr>
            <a:spLocks noGrp="1"/>
          </p:cNvSpPr>
          <p:nvPr/>
        </p:nvSpPr>
        <p:spPr>
          <a:xfrm>
            <a:off x="0" y="0"/>
            <a:ext cx="18288000" cy="76200"/>
          </a:xfrm>
          <a:prstGeom prst="rect">
            <a:avLst/>
          </a:prstGeom>
          <a:solidFill>
            <a:srgbClr val="D9B760"/>
          </a:solidFill>
        </p:spPr>
      </p:sp>
      <p:sp>
        <p:nvSpPr>
          <p:cNvPr id="4" name="Hình chữ nhật: Góc Tròn 3">
            <a:extLst>
              <a:ext uri="{FF2B5EF4-FFF2-40B4-BE49-F238E27FC236}">
                <a16:creationId xmlns:a16="http://schemas.microsoft.com/office/drawing/2014/main" id="{A6161601-541D-45A0-B4D2-F72CA2540448}"/>
              </a:ext>
            </a:extLst>
          </p:cNvPr>
          <p:cNvSpPr>
            <a:spLocks noGrp="1"/>
          </p:cNvSpPr>
          <p:nvPr/>
        </p:nvSpPr>
        <p:spPr>
          <a:xfrm>
            <a:off x="838200" y="647700"/>
            <a:ext cx="400050" cy="95250"/>
          </a:xfrm>
          <a:prstGeom prst="roundRect">
            <a:avLst>
              <a:gd name="adj" fmla="val 50000"/>
            </a:avLst>
          </a:prstGeom>
          <a:solidFill>
            <a:srgbClr val="F39A8A"/>
          </a:solidFill>
        </p:spPr>
      </p:sp>
      <p:sp>
        <p:nvSpPr>
          <p:cNvPr id="5" name="Hình chữ nhật 4">
            <a:extLst>
              <a:ext uri="{FF2B5EF4-FFF2-40B4-BE49-F238E27FC236}">
                <a16:creationId xmlns:a16="http://schemas.microsoft.com/office/drawing/2014/main" id="{E50731AB-9B3C-4A95-810E-25F9CCFFD14F}"/>
              </a:ext>
            </a:extLst>
          </p:cNvPr>
          <p:cNvSpPr>
            <a:spLocks noGrp="1"/>
          </p:cNvSpPr>
          <p:nvPr/>
        </p:nvSpPr>
        <p:spPr>
          <a:xfrm>
            <a:off x="1371600" y="571500"/>
            <a:ext cx="15544800" cy="228600"/>
          </a:xfrm>
          <a:prstGeom prst="rect">
            <a:avLst/>
          </a:prstGeom>
        </p:spPr>
        <p:txBody>
          <a:bodyPr lIns="0" tIns="0" rIns="0" bIns="0"/>
          <a:lstStyle/>
          <a:p>
            <a:pPr>
              <a:lnSpc>
                <a:spcPct val="125000"/>
              </a:lnSpc>
              <a:buNone/>
              <a:defRPr sz="1200" b="1">
                <a:solidFill>
                  <a:srgbClr val="7E3D4A"/>
                </a:solidFill>
              </a:defRPr>
            </a:pPr>
            <a:r>
              <a:rPr sz="1200" b="1">
                <a:solidFill>
                  <a:srgbClr val="7E3D4A"/>
                </a:solidFill>
              </a:rPr>
              <a:t>AI VOICE</a:t>
            </a:r>
          </a:p>
        </p:txBody>
      </p:sp>
      <p:sp>
        <p:nvSpPr>
          <p:cNvPr id="6" name="Hình chữ nhật 5">
            <a:extLst>
              <a:ext uri="{FF2B5EF4-FFF2-40B4-BE49-F238E27FC236}">
                <a16:creationId xmlns:a16="http://schemas.microsoft.com/office/drawing/2014/main" id="{90F41780-F5D6-4132-A24B-6CF839B119BB}"/>
              </a:ext>
            </a:extLst>
          </p:cNvPr>
          <p:cNvSpPr>
            <a:spLocks noGrp="1"/>
          </p:cNvSpPr>
          <p:nvPr/>
        </p:nvSpPr>
        <p:spPr>
          <a:xfrm>
            <a:off x="17068800" y="571500"/>
            <a:ext cx="400050" cy="228600"/>
          </a:xfrm>
          <a:prstGeom prst="rect">
            <a:avLst/>
          </a:prstGeom>
        </p:spPr>
        <p:txBody>
          <a:bodyPr lIns="0" tIns="0" rIns="0" bIns="0"/>
          <a:lstStyle/>
          <a:p>
            <a:pPr>
              <a:lnSpc>
                <a:spcPct val="120000"/>
              </a:lnSpc>
              <a:buNone/>
              <a:defRPr sz="1275" b="1">
                <a:solidFill>
                  <a:srgbClr val="7E3D4A"/>
                </a:solidFill>
              </a:defRPr>
            </a:pPr>
            <a:r>
              <a:rPr sz="1275" b="1">
                <a:solidFill>
                  <a:srgbClr val="7E3D4A"/>
                </a:solidFill>
              </a:rPr>
              <a:t>20/30</a:t>
            </a:r>
          </a:p>
        </p:txBody>
      </p:sp>
      <p:sp>
        <p:nvSpPr>
          <p:cNvPr id="7" name="slide-title">
            <a:extLst>
              <a:ext uri="{FF2B5EF4-FFF2-40B4-BE49-F238E27FC236}">
                <a16:creationId xmlns:a16="http://schemas.microsoft.com/office/drawing/2014/main" id="{B5145A11-26A9-4148-8EFA-3D0BEB0A725A}"/>
              </a:ext>
            </a:extLst>
          </p:cNvPr>
          <p:cNvSpPr>
            <a:spLocks noGrp="1"/>
          </p:cNvSpPr>
          <p:nvPr/>
        </p:nvSpPr>
        <p:spPr>
          <a:xfrm>
            <a:off x="819150" y="933450"/>
            <a:ext cx="16649700" cy="590550"/>
          </a:xfrm>
          <a:prstGeom prst="rect">
            <a:avLst/>
          </a:prstGeom>
        </p:spPr>
        <p:txBody>
          <a:bodyPr lIns="0" tIns="0" rIns="0" bIns="0"/>
          <a:lstStyle/>
          <a:p>
            <a:pPr>
              <a:lnSpc>
                <a:spcPct val="105000"/>
              </a:lnSpc>
              <a:buNone/>
              <a:defRPr sz="3600" b="1">
                <a:solidFill>
                  <a:srgbClr val="151515"/>
                </a:solidFill>
              </a:defRPr>
            </a:pPr>
            <a:r>
              <a:rPr sz="3600" b="1">
                <a:solidFill>
                  <a:srgbClr val="151515"/>
                </a:solidFill>
              </a:rPr>
              <a:t>Voice assistant và Live2D tạo điểm demo khác biệt</a:t>
            </a:r>
          </a:p>
        </p:txBody>
      </p:sp>
      <p:sp>
        <p:nvSpPr>
          <p:cNvPr id="8" name="title-rule">
            <a:extLst>
              <a:ext uri="{FF2B5EF4-FFF2-40B4-BE49-F238E27FC236}">
                <a16:creationId xmlns:a16="http://schemas.microsoft.com/office/drawing/2014/main" id="{C22E6C5B-48DC-45AC-B00C-531DC5430DAD}"/>
              </a:ext>
            </a:extLst>
          </p:cNvPr>
          <p:cNvSpPr>
            <a:spLocks noGrp="1"/>
          </p:cNvSpPr>
          <p:nvPr/>
        </p:nvSpPr>
        <p:spPr>
          <a:xfrm>
            <a:off x="819150" y="1619250"/>
            <a:ext cx="1905000" cy="38100"/>
          </a:xfrm>
          <a:prstGeom prst="rect">
            <a:avLst/>
          </a:prstGeom>
          <a:solidFill>
            <a:srgbClr val="F39A8A"/>
          </a:solidFill>
          <a:ln w="0">
            <a:solidFill>
              <a:srgbClr val="F39A8A"/>
            </a:solidFill>
            <a:prstDash val="solid"/>
          </a:ln>
        </p:spPr>
      </p:sp>
      <p:sp>
        <p:nvSpPr>
          <p:cNvPr id="9" name="Hình chữ nhật: Góc Tròn 8">
            <a:extLst>
              <a:ext uri="{FF2B5EF4-FFF2-40B4-BE49-F238E27FC236}">
                <a16:creationId xmlns:a16="http://schemas.microsoft.com/office/drawing/2014/main" id="{926A9D78-498D-4DF2-9CE5-BD9B46BF788F}"/>
              </a:ext>
            </a:extLst>
          </p:cNvPr>
          <p:cNvSpPr>
            <a:spLocks noGrp="1"/>
          </p:cNvSpPr>
          <p:nvPr/>
        </p:nvSpPr>
        <p:spPr>
          <a:xfrm>
            <a:off x="819150" y="1933194"/>
            <a:ext cx="5680710" cy="7782306"/>
          </a:xfrm>
          <a:prstGeom prst="roundRect">
            <a:avLst>
              <a:gd name="adj" fmla="val 1341"/>
            </a:avLst>
          </a:prstGeom>
          <a:solidFill>
            <a:srgbClr val="DDF4EB"/>
          </a:solidFill>
          <a:ln w="9525">
            <a:solidFill>
              <a:srgbClr val="77B8A4"/>
            </a:solidFill>
            <a:prstDash val="solid"/>
          </a:ln>
        </p:spPr>
      </p:sp>
      <p:pic>
        <p:nvPicPr>
          <p:cNvPr id="10" name="Hình ảnh 9"/>
          <p:cNvPicPr>
            <a:picLocks noChangeAspect="1"/>
          </p:cNvPicPr>
          <p:nvPr/>
        </p:nvPicPr>
        <p:blipFill>
          <a:blip r:embed="rId3"/>
          <a:srcRect/>
          <a:stretch>
            <a:fillRect/>
          </a:stretch>
        </p:blipFill>
        <p:spPr>
          <a:xfrm>
            <a:off x="2495550" y="3919442"/>
            <a:ext cx="2333625" cy="2333625"/>
          </a:xfrm>
          <a:prstGeom prst="roundRect">
            <a:avLst>
              <a:gd name="adj" fmla="val 50000"/>
            </a:avLst>
          </a:prstGeom>
        </p:spPr>
      </p:pic>
      <p:sp>
        <p:nvSpPr>
          <p:cNvPr id="11" name="Hình chữ nhật 10">
            <a:extLst>
              <a:ext uri="{FF2B5EF4-FFF2-40B4-BE49-F238E27FC236}">
                <a16:creationId xmlns:a16="http://schemas.microsoft.com/office/drawing/2014/main" id="{ED9E0911-05A1-46B6-8E88-4DFEC623A10F}"/>
              </a:ext>
            </a:extLst>
          </p:cNvPr>
          <p:cNvSpPr>
            <a:spLocks noGrp="1"/>
          </p:cNvSpPr>
          <p:nvPr/>
        </p:nvSpPr>
        <p:spPr>
          <a:xfrm>
            <a:off x="1162050" y="6477000"/>
            <a:ext cx="4991100" cy="457200"/>
          </a:xfrm>
          <a:prstGeom prst="rect">
            <a:avLst/>
          </a:prstGeom>
        </p:spPr>
        <p:txBody>
          <a:bodyPr lIns="0" tIns="0" rIns="0" bIns="0"/>
          <a:lstStyle/>
          <a:p>
            <a:pPr algn="ctr">
              <a:lnSpc>
                <a:spcPct val="125000"/>
              </a:lnSpc>
              <a:buNone/>
              <a:defRPr sz="2325" b="1">
                <a:solidFill>
                  <a:srgbClr val="151515"/>
                </a:solidFill>
              </a:defRPr>
            </a:pPr>
            <a:r>
              <a:rPr sz="2325" b="1">
                <a:solidFill>
                  <a:srgbClr val="151515"/>
                </a:solidFill>
              </a:rPr>
              <a:t>Live2D Mascot</a:t>
            </a:r>
          </a:p>
        </p:txBody>
      </p:sp>
      <p:sp>
        <p:nvSpPr>
          <p:cNvPr id="12" name="Hình chữ nhật 11">
            <a:extLst>
              <a:ext uri="{FF2B5EF4-FFF2-40B4-BE49-F238E27FC236}">
                <a16:creationId xmlns:a16="http://schemas.microsoft.com/office/drawing/2014/main" id="{1566AECF-3F63-42D1-B0C7-35D506D53406}"/>
              </a:ext>
            </a:extLst>
          </p:cNvPr>
          <p:cNvSpPr>
            <a:spLocks noGrp="1"/>
          </p:cNvSpPr>
          <p:nvPr/>
        </p:nvSpPr>
        <p:spPr>
          <a:xfrm>
            <a:off x="1162050" y="7143750"/>
            <a:ext cx="4991100" cy="590550"/>
          </a:xfrm>
          <a:prstGeom prst="rect">
            <a:avLst/>
          </a:prstGeom>
        </p:spPr>
        <p:txBody>
          <a:bodyPr lIns="0" tIns="0" rIns="0" bIns="0"/>
          <a:lstStyle/>
          <a:p>
            <a:pPr algn="ctr">
              <a:lnSpc>
                <a:spcPct val="120000"/>
              </a:lnSpc>
              <a:buNone/>
              <a:defRPr sz="1575">
                <a:solidFill>
                  <a:srgbClr val="647067"/>
                </a:solidFill>
              </a:defRPr>
            </a:pPr>
            <a:r>
              <a:rPr sz="1575">
                <a:solidFill>
                  <a:srgbClr val="647067"/>
                </a:solidFill>
              </a:rPr>
              <a:t>Nhân vật AI tư vấn xuất hiện như một trợ lý thời trang trong giao diện.</a:t>
            </a:r>
          </a:p>
        </p:txBody>
      </p:sp>
      <p:sp>
        <p:nvSpPr>
          <p:cNvPr id="13" name="Hình chữ nhật: Góc Tròn 12">
            <a:extLst>
              <a:ext uri="{FF2B5EF4-FFF2-40B4-BE49-F238E27FC236}">
                <a16:creationId xmlns:a16="http://schemas.microsoft.com/office/drawing/2014/main" id="{36C586DB-BE0C-4979-8A2A-41E83FAFF478}"/>
              </a:ext>
            </a:extLst>
          </p:cNvPr>
          <p:cNvSpPr>
            <a:spLocks noGrp="1"/>
          </p:cNvSpPr>
          <p:nvPr/>
        </p:nvSpPr>
        <p:spPr>
          <a:xfrm>
            <a:off x="6934200" y="3810000"/>
            <a:ext cx="95250" cy="876300"/>
          </a:xfrm>
          <a:prstGeom prst="roundRect">
            <a:avLst>
              <a:gd name="adj" fmla="val 50000"/>
            </a:avLst>
          </a:prstGeom>
          <a:solidFill>
            <a:srgbClr val="77B8A4"/>
          </a:solidFill>
        </p:spPr>
      </p:sp>
      <p:sp>
        <p:nvSpPr>
          <p:cNvPr id="14" name="Hình chữ nhật 13">
            <a:extLst>
              <a:ext uri="{FF2B5EF4-FFF2-40B4-BE49-F238E27FC236}">
                <a16:creationId xmlns:a16="http://schemas.microsoft.com/office/drawing/2014/main" id="{FB2D742A-47E0-44D3-AB61-BCF54BAC9EAD}"/>
              </a:ext>
            </a:extLst>
          </p:cNvPr>
          <p:cNvSpPr>
            <a:spLocks noGrp="1"/>
          </p:cNvSpPr>
          <p:nvPr/>
        </p:nvSpPr>
        <p:spPr>
          <a:xfrm>
            <a:off x="7181850" y="3810000"/>
            <a:ext cx="10287000" cy="400050"/>
          </a:xfrm>
          <a:prstGeom prst="rect">
            <a:avLst/>
          </a:prstGeom>
        </p:spPr>
        <p:txBody>
          <a:bodyPr lIns="0" tIns="0" rIns="0" bIns="0"/>
          <a:lstStyle/>
          <a:p>
            <a:pPr>
              <a:lnSpc>
                <a:spcPct val="125000"/>
              </a:lnSpc>
              <a:buNone/>
              <a:defRPr sz="2100" b="1">
                <a:solidFill>
                  <a:srgbClr val="151515"/>
                </a:solidFill>
              </a:defRPr>
            </a:pPr>
            <a:r>
              <a:rPr sz="2100" b="1">
                <a:solidFill>
                  <a:srgbClr val="151515"/>
                </a:solidFill>
              </a:rPr>
              <a:t>Voice token/config</a:t>
            </a:r>
          </a:p>
        </p:txBody>
      </p:sp>
      <p:sp>
        <p:nvSpPr>
          <p:cNvPr id="15" name="Hình chữ nhật 14">
            <a:extLst>
              <a:ext uri="{FF2B5EF4-FFF2-40B4-BE49-F238E27FC236}">
                <a16:creationId xmlns:a16="http://schemas.microsoft.com/office/drawing/2014/main" id="{8DED8122-6A42-4C04-9CEE-F9B667C889D8}"/>
              </a:ext>
            </a:extLst>
          </p:cNvPr>
          <p:cNvSpPr>
            <a:spLocks noGrp="1"/>
          </p:cNvSpPr>
          <p:nvPr/>
        </p:nvSpPr>
        <p:spPr>
          <a:xfrm>
            <a:off x="7181850" y="4267200"/>
            <a:ext cx="10287000" cy="304800"/>
          </a:xfrm>
          <a:prstGeom prst="rect">
            <a:avLst/>
          </a:prstGeom>
        </p:spPr>
        <p:txBody>
          <a:bodyPr lIns="0" tIns="0" rIns="0" bIns="0"/>
          <a:lstStyle/>
          <a:p>
            <a:pPr>
              <a:lnSpc>
                <a:spcPct val="122000"/>
              </a:lnSpc>
              <a:buNone/>
              <a:defRPr sz="1575">
                <a:solidFill>
                  <a:srgbClr val="647067"/>
                </a:solidFill>
              </a:defRPr>
            </a:pPr>
            <a:r>
              <a:rPr sz="1575">
                <a:solidFill>
                  <a:srgbClr val="647067"/>
                </a:solidFill>
              </a:rPr>
              <a:t>`/api/v1/chat/voice-token` cung cấp model, voice name, temperature và prompt.</a:t>
            </a:r>
          </a:p>
        </p:txBody>
      </p:sp>
      <p:sp>
        <p:nvSpPr>
          <p:cNvPr id="16" name="Hình chữ nhật: Góc Tròn 15">
            <a:extLst>
              <a:ext uri="{FF2B5EF4-FFF2-40B4-BE49-F238E27FC236}">
                <a16:creationId xmlns:a16="http://schemas.microsoft.com/office/drawing/2014/main" id="{55133B50-3CB4-4438-A63A-13A82778B362}"/>
              </a:ext>
            </a:extLst>
          </p:cNvPr>
          <p:cNvSpPr>
            <a:spLocks noGrp="1"/>
          </p:cNvSpPr>
          <p:nvPr/>
        </p:nvSpPr>
        <p:spPr>
          <a:xfrm>
            <a:off x="6934200" y="4876800"/>
            <a:ext cx="95250" cy="876300"/>
          </a:xfrm>
          <a:prstGeom prst="roundRect">
            <a:avLst>
              <a:gd name="adj" fmla="val 50000"/>
            </a:avLst>
          </a:prstGeom>
          <a:solidFill>
            <a:srgbClr val="D9B760"/>
          </a:solidFill>
        </p:spPr>
      </p:sp>
      <p:sp>
        <p:nvSpPr>
          <p:cNvPr id="17" name="Hình chữ nhật 16">
            <a:extLst>
              <a:ext uri="{FF2B5EF4-FFF2-40B4-BE49-F238E27FC236}">
                <a16:creationId xmlns:a16="http://schemas.microsoft.com/office/drawing/2014/main" id="{3D3BB871-3700-4A14-AEAF-78EBA6100D30}"/>
              </a:ext>
            </a:extLst>
          </p:cNvPr>
          <p:cNvSpPr>
            <a:spLocks noGrp="1"/>
          </p:cNvSpPr>
          <p:nvPr/>
        </p:nvSpPr>
        <p:spPr>
          <a:xfrm>
            <a:off x="7181850" y="4857750"/>
            <a:ext cx="10287000" cy="400050"/>
          </a:xfrm>
          <a:prstGeom prst="rect">
            <a:avLst/>
          </a:prstGeom>
        </p:spPr>
        <p:txBody>
          <a:bodyPr lIns="0" tIns="0" rIns="0" bIns="0"/>
          <a:lstStyle/>
          <a:p>
            <a:pPr>
              <a:lnSpc>
                <a:spcPct val="125000"/>
              </a:lnSpc>
              <a:buNone/>
              <a:defRPr sz="2100" b="1">
                <a:solidFill>
                  <a:srgbClr val="151515"/>
                </a:solidFill>
              </a:defRPr>
            </a:pPr>
            <a:r>
              <a:rPr sz="2100" b="1">
                <a:solidFill>
                  <a:srgbClr val="151515"/>
                </a:solidFill>
              </a:rPr>
              <a:t>Transcript sync</a:t>
            </a:r>
          </a:p>
        </p:txBody>
      </p:sp>
      <p:sp>
        <p:nvSpPr>
          <p:cNvPr id="18" name="Hình chữ nhật 17">
            <a:extLst>
              <a:ext uri="{FF2B5EF4-FFF2-40B4-BE49-F238E27FC236}">
                <a16:creationId xmlns:a16="http://schemas.microsoft.com/office/drawing/2014/main" id="{A642D20C-030A-4991-8A21-BCF00F8602C3}"/>
              </a:ext>
            </a:extLst>
          </p:cNvPr>
          <p:cNvSpPr>
            <a:spLocks noGrp="1"/>
          </p:cNvSpPr>
          <p:nvPr/>
        </p:nvSpPr>
        <p:spPr>
          <a:xfrm>
            <a:off x="7181850" y="5314950"/>
            <a:ext cx="10287000" cy="304800"/>
          </a:xfrm>
          <a:prstGeom prst="rect">
            <a:avLst/>
          </a:prstGeom>
        </p:spPr>
        <p:txBody>
          <a:bodyPr lIns="0" tIns="0" rIns="0" bIns="0"/>
          <a:lstStyle/>
          <a:p>
            <a:pPr>
              <a:lnSpc>
                <a:spcPct val="122000"/>
              </a:lnSpc>
              <a:buNone/>
              <a:defRPr sz="1575">
                <a:solidFill>
                  <a:srgbClr val="647067"/>
                </a:solidFill>
              </a:defRPr>
            </a:pPr>
            <a:r>
              <a:rPr sz="1575">
                <a:solidFill>
                  <a:srgbClr val="647067"/>
                </a:solidFill>
              </a:rPr>
              <a:t>`/api/v1/chat/voice-sync` đồng bộ transcript voice về backend.</a:t>
            </a:r>
          </a:p>
        </p:txBody>
      </p:sp>
      <p:sp>
        <p:nvSpPr>
          <p:cNvPr id="19" name="Hình chữ nhật: Góc Tròn 18">
            <a:extLst>
              <a:ext uri="{FF2B5EF4-FFF2-40B4-BE49-F238E27FC236}">
                <a16:creationId xmlns:a16="http://schemas.microsoft.com/office/drawing/2014/main" id="{55572308-B818-41A8-9DFE-5D38CADFEEE5}"/>
              </a:ext>
            </a:extLst>
          </p:cNvPr>
          <p:cNvSpPr>
            <a:spLocks noGrp="1"/>
          </p:cNvSpPr>
          <p:nvPr/>
        </p:nvSpPr>
        <p:spPr>
          <a:xfrm>
            <a:off x="6934200" y="5943600"/>
            <a:ext cx="95250" cy="876300"/>
          </a:xfrm>
          <a:prstGeom prst="roundRect">
            <a:avLst>
              <a:gd name="adj" fmla="val 50000"/>
            </a:avLst>
          </a:prstGeom>
          <a:solidFill>
            <a:srgbClr val="F39A8A"/>
          </a:solidFill>
        </p:spPr>
      </p:sp>
      <p:sp>
        <p:nvSpPr>
          <p:cNvPr id="20" name="Hình chữ nhật 19">
            <a:extLst>
              <a:ext uri="{FF2B5EF4-FFF2-40B4-BE49-F238E27FC236}">
                <a16:creationId xmlns:a16="http://schemas.microsoft.com/office/drawing/2014/main" id="{50CF6C00-7D11-4D43-802F-997CE3FCECC4}"/>
              </a:ext>
            </a:extLst>
          </p:cNvPr>
          <p:cNvSpPr>
            <a:spLocks noGrp="1"/>
          </p:cNvSpPr>
          <p:nvPr/>
        </p:nvSpPr>
        <p:spPr>
          <a:xfrm>
            <a:off x="7181850" y="5905500"/>
            <a:ext cx="10287000" cy="400050"/>
          </a:xfrm>
          <a:prstGeom prst="rect">
            <a:avLst/>
          </a:prstGeom>
        </p:spPr>
        <p:txBody>
          <a:bodyPr lIns="0" tIns="0" rIns="0" bIns="0"/>
          <a:lstStyle/>
          <a:p>
            <a:pPr>
              <a:lnSpc>
                <a:spcPct val="125000"/>
              </a:lnSpc>
              <a:buNone/>
              <a:defRPr sz="2100" b="1">
                <a:solidFill>
                  <a:srgbClr val="151515"/>
                </a:solidFill>
              </a:defRPr>
            </a:pPr>
            <a:r>
              <a:rPr sz="2100" b="1">
                <a:solidFill>
                  <a:srgbClr val="151515"/>
                </a:solidFill>
              </a:rPr>
              <a:t>Tool call</a:t>
            </a:r>
          </a:p>
        </p:txBody>
      </p:sp>
      <p:sp>
        <p:nvSpPr>
          <p:cNvPr id="21" name="Hình chữ nhật 20">
            <a:extLst>
              <a:ext uri="{FF2B5EF4-FFF2-40B4-BE49-F238E27FC236}">
                <a16:creationId xmlns:a16="http://schemas.microsoft.com/office/drawing/2014/main" id="{36DE85EF-B61B-40B7-92D7-11AADA8B447E}"/>
              </a:ext>
            </a:extLst>
          </p:cNvPr>
          <p:cNvSpPr>
            <a:spLocks noGrp="1"/>
          </p:cNvSpPr>
          <p:nvPr/>
        </p:nvSpPr>
        <p:spPr>
          <a:xfrm>
            <a:off x="7181850" y="6362700"/>
            <a:ext cx="10287000" cy="304800"/>
          </a:xfrm>
          <a:prstGeom prst="rect">
            <a:avLst/>
          </a:prstGeom>
        </p:spPr>
        <p:txBody>
          <a:bodyPr lIns="0" tIns="0" rIns="0" bIns="0"/>
          <a:lstStyle/>
          <a:p>
            <a:pPr>
              <a:lnSpc>
                <a:spcPct val="122000"/>
              </a:lnSpc>
              <a:buNone/>
              <a:defRPr sz="1575">
                <a:solidFill>
                  <a:srgbClr val="647067"/>
                </a:solidFill>
              </a:defRPr>
            </a:pPr>
            <a:r>
              <a:rPr sz="1575">
                <a:solidFill>
                  <a:srgbClr val="647067"/>
                </a:solidFill>
              </a:rPr>
              <a:t>`/api/v1/chat/voice-tool-call` để voice assistant liên kết hành động.</a:t>
            </a:r>
          </a:p>
        </p:txBody>
      </p:sp>
      <p:sp>
        <p:nvSpPr>
          <p:cNvPr id="22" name="Hình chữ nhật: Góc Tròn 21">
            <a:extLst>
              <a:ext uri="{FF2B5EF4-FFF2-40B4-BE49-F238E27FC236}">
                <a16:creationId xmlns:a16="http://schemas.microsoft.com/office/drawing/2014/main" id="{FB5F1C24-7DE8-47C8-BEC3-E67EB4148A97}"/>
              </a:ext>
            </a:extLst>
          </p:cNvPr>
          <p:cNvSpPr>
            <a:spLocks noGrp="1"/>
          </p:cNvSpPr>
          <p:nvPr/>
        </p:nvSpPr>
        <p:spPr>
          <a:xfrm>
            <a:off x="6934200" y="6934200"/>
            <a:ext cx="95250" cy="876300"/>
          </a:xfrm>
          <a:prstGeom prst="roundRect">
            <a:avLst>
              <a:gd name="adj" fmla="val 50000"/>
            </a:avLst>
          </a:prstGeom>
          <a:solidFill>
            <a:srgbClr val="87B8D6"/>
          </a:solidFill>
        </p:spPr>
      </p:sp>
      <p:sp>
        <p:nvSpPr>
          <p:cNvPr id="23" name="Hình chữ nhật 22">
            <a:extLst>
              <a:ext uri="{FF2B5EF4-FFF2-40B4-BE49-F238E27FC236}">
                <a16:creationId xmlns:a16="http://schemas.microsoft.com/office/drawing/2014/main" id="{2775A598-A478-4062-A9D1-C1B2BD6EEF59}"/>
              </a:ext>
            </a:extLst>
          </p:cNvPr>
          <p:cNvSpPr>
            <a:spLocks noGrp="1"/>
          </p:cNvSpPr>
          <p:nvPr/>
        </p:nvSpPr>
        <p:spPr>
          <a:xfrm>
            <a:off x="7181850" y="6953250"/>
            <a:ext cx="10287000" cy="400050"/>
          </a:xfrm>
          <a:prstGeom prst="rect">
            <a:avLst/>
          </a:prstGeom>
        </p:spPr>
        <p:txBody>
          <a:bodyPr lIns="0" tIns="0" rIns="0" bIns="0"/>
          <a:lstStyle/>
          <a:p>
            <a:pPr>
              <a:lnSpc>
                <a:spcPct val="125000"/>
              </a:lnSpc>
              <a:buNone/>
              <a:defRPr sz="2100" b="1">
                <a:solidFill>
                  <a:srgbClr val="151515"/>
                </a:solidFill>
              </a:defRPr>
            </a:pPr>
            <a:r>
              <a:rPr sz="2100" b="1">
                <a:solidFill>
                  <a:srgbClr val="151515"/>
                </a:solidFill>
              </a:rPr>
              <a:t>Admin preview</a:t>
            </a:r>
          </a:p>
        </p:txBody>
      </p:sp>
      <p:sp>
        <p:nvSpPr>
          <p:cNvPr id="24" name="Hình chữ nhật 23">
            <a:extLst>
              <a:ext uri="{FF2B5EF4-FFF2-40B4-BE49-F238E27FC236}">
                <a16:creationId xmlns:a16="http://schemas.microsoft.com/office/drawing/2014/main" id="{201B331D-B74E-4281-9030-24DC3684BF7C}"/>
              </a:ext>
            </a:extLst>
          </p:cNvPr>
          <p:cNvSpPr>
            <a:spLocks noGrp="1"/>
          </p:cNvSpPr>
          <p:nvPr/>
        </p:nvSpPr>
        <p:spPr>
          <a:xfrm>
            <a:off x="7181850" y="7410450"/>
            <a:ext cx="10287000" cy="304800"/>
          </a:xfrm>
          <a:prstGeom prst="rect">
            <a:avLst/>
          </a:prstGeom>
        </p:spPr>
        <p:txBody>
          <a:bodyPr lIns="0" tIns="0" rIns="0" bIns="0"/>
          <a:lstStyle/>
          <a:p>
            <a:pPr>
              <a:lnSpc>
                <a:spcPct val="122000"/>
              </a:lnSpc>
              <a:buNone/>
              <a:defRPr sz="1575">
                <a:solidFill>
                  <a:srgbClr val="647067"/>
                </a:solidFill>
              </a:defRPr>
            </a:pPr>
            <a:r>
              <a:rPr sz="1575">
                <a:solidFill>
                  <a:srgbClr val="647067"/>
                </a:solidFill>
              </a:rPr>
              <a:t>`/api/v1/admin/voice-preview` hỗ trợ nghe thử giọng nói trong admin.</a:t>
            </a:r>
          </a:p>
        </p:txBody>
      </p:sp>
    </p:spTree>
    <p:extLst>
      <p:ext uri="{BB962C8B-B14F-4D97-AF65-F5344CB8AC3E}">
        <p14:creationId xmlns:p14="http://schemas.microsoft.com/office/powerpoint/2010/main" val="7937409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background">
            <a:extLst>
              <a:ext uri="{FF2B5EF4-FFF2-40B4-BE49-F238E27FC236}">
                <a16:creationId xmlns:a16="http://schemas.microsoft.com/office/drawing/2014/main" id="{4B647581-4266-48CD-892F-73E50FD52DB7}"/>
              </a:ext>
            </a:extLst>
          </p:cNvPr>
          <p:cNvSpPr>
            <a:spLocks noGrp="1"/>
          </p:cNvSpPr>
          <p:nvPr/>
        </p:nvSpPr>
        <p:spPr>
          <a:xfrm>
            <a:off x="0" y="0"/>
            <a:ext cx="18288000" cy="10287000"/>
          </a:xfrm>
          <a:prstGeom prst="rect">
            <a:avLst/>
          </a:prstGeom>
          <a:solidFill>
            <a:srgbClr val="FFFDF8"/>
          </a:solidFill>
        </p:spPr>
      </p:sp>
      <p:sp>
        <p:nvSpPr>
          <p:cNvPr id="2" name="top-band">
            <a:extLst>
              <a:ext uri="{FF2B5EF4-FFF2-40B4-BE49-F238E27FC236}">
                <a16:creationId xmlns:a16="http://schemas.microsoft.com/office/drawing/2014/main" id="{3309F10B-4E3D-438D-BF1C-463B3051E149}"/>
              </a:ext>
            </a:extLst>
          </p:cNvPr>
          <p:cNvSpPr>
            <a:spLocks noGrp="1"/>
          </p:cNvSpPr>
          <p:nvPr/>
        </p:nvSpPr>
        <p:spPr>
          <a:xfrm>
            <a:off x="0" y="0"/>
            <a:ext cx="18288000" cy="152400"/>
          </a:xfrm>
          <a:prstGeom prst="rect">
            <a:avLst/>
          </a:prstGeom>
          <a:solidFill>
            <a:srgbClr val="87B8D6"/>
          </a:solidFill>
        </p:spPr>
      </p:sp>
      <p:sp>
        <p:nvSpPr>
          <p:cNvPr id="3" name="bottom-band">
            <a:extLst>
              <a:ext uri="{FF2B5EF4-FFF2-40B4-BE49-F238E27FC236}">
                <a16:creationId xmlns:a16="http://schemas.microsoft.com/office/drawing/2014/main" id="{E98976A8-8157-435C-9688-2D22622DAC1B}"/>
              </a:ext>
            </a:extLst>
          </p:cNvPr>
          <p:cNvSpPr>
            <a:spLocks noGrp="1"/>
          </p:cNvSpPr>
          <p:nvPr/>
        </p:nvSpPr>
        <p:spPr>
          <a:xfrm>
            <a:off x="0" y="0"/>
            <a:ext cx="18288000" cy="76200"/>
          </a:xfrm>
          <a:prstGeom prst="rect">
            <a:avLst/>
          </a:prstGeom>
          <a:solidFill>
            <a:srgbClr val="D9B760"/>
          </a:solidFill>
        </p:spPr>
      </p:sp>
      <p:sp>
        <p:nvSpPr>
          <p:cNvPr id="4" name="Hình chữ nhật: Góc Tròn 3">
            <a:extLst>
              <a:ext uri="{FF2B5EF4-FFF2-40B4-BE49-F238E27FC236}">
                <a16:creationId xmlns:a16="http://schemas.microsoft.com/office/drawing/2014/main" id="{7CEF2409-8712-4A7B-A6D9-DAB26B9D0070}"/>
              </a:ext>
            </a:extLst>
          </p:cNvPr>
          <p:cNvSpPr>
            <a:spLocks noGrp="1"/>
          </p:cNvSpPr>
          <p:nvPr/>
        </p:nvSpPr>
        <p:spPr>
          <a:xfrm>
            <a:off x="838200" y="647700"/>
            <a:ext cx="400050" cy="95250"/>
          </a:xfrm>
          <a:prstGeom prst="roundRect">
            <a:avLst>
              <a:gd name="adj" fmla="val 50000"/>
            </a:avLst>
          </a:prstGeom>
          <a:solidFill>
            <a:srgbClr val="87B8D6"/>
          </a:solidFill>
        </p:spPr>
      </p:sp>
      <p:sp>
        <p:nvSpPr>
          <p:cNvPr id="5" name="Hình chữ nhật 4">
            <a:extLst>
              <a:ext uri="{FF2B5EF4-FFF2-40B4-BE49-F238E27FC236}">
                <a16:creationId xmlns:a16="http://schemas.microsoft.com/office/drawing/2014/main" id="{BC89F0A9-07AD-4310-BF22-936315430E33}"/>
              </a:ext>
            </a:extLst>
          </p:cNvPr>
          <p:cNvSpPr>
            <a:spLocks noGrp="1"/>
          </p:cNvSpPr>
          <p:nvPr/>
        </p:nvSpPr>
        <p:spPr>
          <a:xfrm>
            <a:off x="1371600" y="571500"/>
            <a:ext cx="15544800" cy="228600"/>
          </a:xfrm>
          <a:prstGeom prst="rect">
            <a:avLst/>
          </a:prstGeom>
        </p:spPr>
        <p:txBody>
          <a:bodyPr lIns="0" tIns="0" rIns="0" bIns="0"/>
          <a:lstStyle/>
          <a:p>
            <a:pPr>
              <a:lnSpc>
                <a:spcPct val="125000"/>
              </a:lnSpc>
              <a:buNone/>
              <a:defRPr sz="1200" b="1">
                <a:solidFill>
                  <a:srgbClr val="7E3D4A"/>
                </a:solidFill>
              </a:defRPr>
            </a:pPr>
            <a:r>
              <a:rPr sz="1200" b="1">
                <a:solidFill>
                  <a:srgbClr val="7E3D4A"/>
                </a:solidFill>
              </a:rPr>
              <a:t>CHECKOUT</a:t>
            </a:r>
          </a:p>
        </p:txBody>
      </p:sp>
      <p:sp>
        <p:nvSpPr>
          <p:cNvPr id="6" name="Hình chữ nhật 5">
            <a:extLst>
              <a:ext uri="{FF2B5EF4-FFF2-40B4-BE49-F238E27FC236}">
                <a16:creationId xmlns:a16="http://schemas.microsoft.com/office/drawing/2014/main" id="{56684885-1F83-43CC-891A-CA258F60AD19}"/>
              </a:ext>
            </a:extLst>
          </p:cNvPr>
          <p:cNvSpPr>
            <a:spLocks noGrp="1"/>
          </p:cNvSpPr>
          <p:nvPr/>
        </p:nvSpPr>
        <p:spPr>
          <a:xfrm>
            <a:off x="17068800" y="571500"/>
            <a:ext cx="400050" cy="228600"/>
          </a:xfrm>
          <a:prstGeom prst="rect">
            <a:avLst/>
          </a:prstGeom>
        </p:spPr>
        <p:txBody>
          <a:bodyPr lIns="0" tIns="0" rIns="0" bIns="0"/>
          <a:lstStyle/>
          <a:p>
            <a:pPr>
              <a:lnSpc>
                <a:spcPct val="120000"/>
              </a:lnSpc>
              <a:buNone/>
              <a:defRPr sz="1275" b="1">
                <a:solidFill>
                  <a:srgbClr val="7E3D4A"/>
                </a:solidFill>
              </a:defRPr>
            </a:pPr>
            <a:r>
              <a:rPr sz="1275" b="1">
                <a:solidFill>
                  <a:srgbClr val="7E3D4A"/>
                </a:solidFill>
              </a:rPr>
              <a:t>21/30</a:t>
            </a:r>
          </a:p>
        </p:txBody>
      </p:sp>
      <p:sp>
        <p:nvSpPr>
          <p:cNvPr id="7" name="slide-title">
            <a:extLst>
              <a:ext uri="{FF2B5EF4-FFF2-40B4-BE49-F238E27FC236}">
                <a16:creationId xmlns:a16="http://schemas.microsoft.com/office/drawing/2014/main" id="{37AB08D8-6217-473E-BE4E-7B072190B675}"/>
              </a:ext>
            </a:extLst>
          </p:cNvPr>
          <p:cNvSpPr>
            <a:spLocks noGrp="1"/>
          </p:cNvSpPr>
          <p:nvPr/>
        </p:nvSpPr>
        <p:spPr>
          <a:xfrm>
            <a:off x="819150" y="933450"/>
            <a:ext cx="16649700" cy="590550"/>
          </a:xfrm>
          <a:prstGeom prst="rect">
            <a:avLst/>
          </a:prstGeom>
        </p:spPr>
        <p:txBody>
          <a:bodyPr lIns="0" tIns="0" rIns="0" bIns="0"/>
          <a:lstStyle/>
          <a:p>
            <a:pPr>
              <a:lnSpc>
                <a:spcPct val="105000"/>
              </a:lnSpc>
              <a:buNone/>
              <a:defRPr sz="3600" b="1">
                <a:solidFill>
                  <a:srgbClr val="151515"/>
                </a:solidFill>
              </a:defRPr>
            </a:pPr>
            <a:r>
              <a:rPr sz="3600" b="1">
                <a:solidFill>
                  <a:srgbClr val="151515"/>
                </a:solidFill>
              </a:rPr>
              <a:t>Thanh toán nối order, inventory và payment gateway</a:t>
            </a:r>
          </a:p>
        </p:txBody>
      </p:sp>
      <p:sp>
        <p:nvSpPr>
          <p:cNvPr id="8" name="title-rule">
            <a:extLst>
              <a:ext uri="{FF2B5EF4-FFF2-40B4-BE49-F238E27FC236}">
                <a16:creationId xmlns:a16="http://schemas.microsoft.com/office/drawing/2014/main" id="{D71F37E4-304F-416A-9E7E-6BAB9F03914B}"/>
              </a:ext>
            </a:extLst>
          </p:cNvPr>
          <p:cNvSpPr>
            <a:spLocks noGrp="1"/>
          </p:cNvSpPr>
          <p:nvPr/>
        </p:nvSpPr>
        <p:spPr>
          <a:xfrm>
            <a:off x="819150" y="1619250"/>
            <a:ext cx="1905000" cy="38100"/>
          </a:xfrm>
          <a:prstGeom prst="rect">
            <a:avLst/>
          </a:prstGeom>
          <a:solidFill>
            <a:srgbClr val="87B8D6"/>
          </a:solidFill>
          <a:ln w="0">
            <a:solidFill>
              <a:srgbClr val="87B8D6"/>
            </a:solidFill>
            <a:prstDash val="solid"/>
          </a:ln>
        </p:spPr>
      </p:sp>
      <p:sp>
        <p:nvSpPr>
          <p:cNvPr id="9" name="Hình chữ nhật: Góc Tròn 8">
            <a:extLst>
              <a:ext uri="{FF2B5EF4-FFF2-40B4-BE49-F238E27FC236}">
                <a16:creationId xmlns:a16="http://schemas.microsoft.com/office/drawing/2014/main" id="{324C1413-7FCD-453A-BAAC-01C89C80D31B}"/>
              </a:ext>
            </a:extLst>
          </p:cNvPr>
          <p:cNvSpPr>
            <a:spLocks noGrp="1"/>
          </p:cNvSpPr>
          <p:nvPr/>
        </p:nvSpPr>
        <p:spPr>
          <a:xfrm>
            <a:off x="2676525" y="4686300"/>
            <a:ext cx="1952625" cy="990600"/>
          </a:xfrm>
          <a:prstGeom prst="roundRect">
            <a:avLst>
              <a:gd name="adj" fmla="val 7692"/>
            </a:avLst>
          </a:prstGeom>
          <a:solidFill>
            <a:srgbClr val="FFFFFF"/>
          </a:solidFill>
          <a:ln w="9525">
            <a:solidFill>
              <a:srgbClr val="77B8A4"/>
            </a:solidFill>
            <a:prstDash val="solid"/>
          </a:ln>
        </p:spPr>
      </p:sp>
      <p:sp>
        <p:nvSpPr>
          <p:cNvPr id="10" name="Hình chữ nhật 9">
            <a:extLst>
              <a:ext uri="{FF2B5EF4-FFF2-40B4-BE49-F238E27FC236}">
                <a16:creationId xmlns:a16="http://schemas.microsoft.com/office/drawing/2014/main" id="{90F0F562-8FEB-4618-AC3B-0E172477B68B}"/>
              </a:ext>
            </a:extLst>
          </p:cNvPr>
          <p:cNvSpPr>
            <a:spLocks noGrp="1"/>
          </p:cNvSpPr>
          <p:nvPr/>
        </p:nvSpPr>
        <p:spPr>
          <a:xfrm>
            <a:off x="2857500" y="4895850"/>
            <a:ext cx="161925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Customer</a:t>
            </a:r>
          </a:p>
        </p:txBody>
      </p:sp>
      <p:sp>
        <p:nvSpPr>
          <p:cNvPr id="11" name="Hình chữ nhật 10">
            <a:extLst>
              <a:ext uri="{FF2B5EF4-FFF2-40B4-BE49-F238E27FC236}">
                <a16:creationId xmlns:a16="http://schemas.microsoft.com/office/drawing/2014/main" id="{5941DD1E-15B5-4534-8685-9BF183FC3F86}"/>
              </a:ext>
            </a:extLst>
          </p:cNvPr>
          <p:cNvSpPr>
            <a:spLocks noGrp="1"/>
          </p:cNvSpPr>
          <p:nvPr/>
        </p:nvSpPr>
        <p:spPr>
          <a:xfrm>
            <a:off x="2857500" y="5276850"/>
            <a:ext cx="1619250" cy="2095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xác nhận cart + địa chỉ</a:t>
            </a:r>
          </a:p>
        </p:txBody>
      </p:sp>
      <p:sp>
        <p:nvSpPr>
          <p:cNvPr id="12" name="Hình chữ nhật 11">
            <a:extLst>
              <a:ext uri="{FF2B5EF4-FFF2-40B4-BE49-F238E27FC236}">
                <a16:creationId xmlns:a16="http://schemas.microsoft.com/office/drawing/2014/main" id="{66A9C123-7E12-4EB2-9849-AEA6AA6EA597}"/>
              </a:ext>
            </a:extLst>
          </p:cNvPr>
          <p:cNvSpPr>
            <a:spLocks noGrp="1"/>
          </p:cNvSpPr>
          <p:nvPr/>
        </p:nvSpPr>
        <p:spPr>
          <a:xfrm>
            <a:off x="4724400" y="4933950"/>
            <a:ext cx="400050" cy="495300"/>
          </a:xfrm>
          <a:prstGeom prst="rect">
            <a:avLst/>
          </a:prstGeom>
        </p:spPr>
        <p:txBody>
          <a:bodyPr lIns="0" tIns="0" rIns="0" bIns="0"/>
          <a:lstStyle/>
          <a:p>
            <a:pPr algn="ctr">
              <a:lnSpc>
                <a:spcPct val="125000"/>
              </a:lnSpc>
              <a:buNone/>
              <a:defRPr sz="2625" b="1">
                <a:solidFill>
                  <a:srgbClr val="87B8D6"/>
                </a:solidFill>
              </a:defRPr>
            </a:pPr>
            <a:r>
              <a:rPr sz="2625" b="1">
                <a:solidFill>
                  <a:srgbClr val="87B8D6"/>
                </a:solidFill>
              </a:rPr>
              <a:t>→</a:t>
            </a:r>
          </a:p>
        </p:txBody>
      </p:sp>
      <p:sp>
        <p:nvSpPr>
          <p:cNvPr id="13" name="Hình chữ nhật: Góc Tròn 12">
            <a:extLst>
              <a:ext uri="{FF2B5EF4-FFF2-40B4-BE49-F238E27FC236}">
                <a16:creationId xmlns:a16="http://schemas.microsoft.com/office/drawing/2014/main" id="{EDB4ED94-2C65-4B3E-820A-B512AB9DB017}"/>
              </a:ext>
            </a:extLst>
          </p:cNvPr>
          <p:cNvSpPr>
            <a:spLocks noGrp="1"/>
          </p:cNvSpPr>
          <p:nvPr/>
        </p:nvSpPr>
        <p:spPr>
          <a:xfrm>
            <a:off x="5219700" y="4686300"/>
            <a:ext cx="1952625" cy="990600"/>
          </a:xfrm>
          <a:prstGeom prst="roundRect">
            <a:avLst>
              <a:gd name="adj" fmla="val 7692"/>
            </a:avLst>
          </a:prstGeom>
          <a:solidFill>
            <a:srgbClr val="FFFFFF"/>
          </a:solidFill>
          <a:ln w="9525">
            <a:solidFill>
              <a:srgbClr val="D9B760"/>
            </a:solidFill>
            <a:prstDash val="solid"/>
          </a:ln>
        </p:spPr>
      </p:sp>
      <p:sp>
        <p:nvSpPr>
          <p:cNvPr id="14" name="Hình chữ nhật 13">
            <a:extLst>
              <a:ext uri="{FF2B5EF4-FFF2-40B4-BE49-F238E27FC236}">
                <a16:creationId xmlns:a16="http://schemas.microsoft.com/office/drawing/2014/main" id="{48FE9537-A9FE-46D7-BCCB-1E6783B7AC7C}"/>
              </a:ext>
            </a:extLst>
          </p:cNvPr>
          <p:cNvSpPr>
            <a:spLocks noGrp="1"/>
          </p:cNvSpPr>
          <p:nvPr/>
        </p:nvSpPr>
        <p:spPr>
          <a:xfrm>
            <a:off x="5391150" y="4895850"/>
            <a:ext cx="161925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Nuxt Client</a:t>
            </a:r>
          </a:p>
        </p:txBody>
      </p:sp>
      <p:sp>
        <p:nvSpPr>
          <p:cNvPr id="15" name="Hình chữ nhật 14">
            <a:extLst>
              <a:ext uri="{FF2B5EF4-FFF2-40B4-BE49-F238E27FC236}">
                <a16:creationId xmlns:a16="http://schemas.microsoft.com/office/drawing/2014/main" id="{47B9D94B-79AF-4FA1-8151-2083146523A0}"/>
              </a:ext>
            </a:extLst>
          </p:cNvPr>
          <p:cNvSpPr>
            <a:spLocks noGrp="1"/>
          </p:cNvSpPr>
          <p:nvPr/>
        </p:nvSpPr>
        <p:spPr>
          <a:xfrm>
            <a:off x="5391150" y="5276850"/>
            <a:ext cx="1619250" cy="2095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POST /orders</a:t>
            </a:r>
          </a:p>
        </p:txBody>
      </p:sp>
      <p:sp>
        <p:nvSpPr>
          <p:cNvPr id="16" name="Hình chữ nhật 15">
            <a:extLst>
              <a:ext uri="{FF2B5EF4-FFF2-40B4-BE49-F238E27FC236}">
                <a16:creationId xmlns:a16="http://schemas.microsoft.com/office/drawing/2014/main" id="{DA51B4AD-8BD5-470D-A3E0-2E28F4F6A5D0}"/>
              </a:ext>
            </a:extLst>
          </p:cNvPr>
          <p:cNvSpPr>
            <a:spLocks noGrp="1"/>
          </p:cNvSpPr>
          <p:nvPr/>
        </p:nvSpPr>
        <p:spPr>
          <a:xfrm>
            <a:off x="7277100" y="4933950"/>
            <a:ext cx="400050" cy="495300"/>
          </a:xfrm>
          <a:prstGeom prst="rect">
            <a:avLst/>
          </a:prstGeom>
        </p:spPr>
        <p:txBody>
          <a:bodyPr lIns="0" tIns="0" rIns="0" bIns="0"/>
          <a:lstStyle/>
          <a:p>
            <a:pPr algn="ctr">
              <a:lnSpc>
                <a:spcPct val="125000"/>
              </a:lnSpc>
              <a:buNone/>
              <a:defRPr sz="2625" b="1">
                <a:solidFill>
                  <a:srgbClr val="87B8D6"/>
                </a:solidFill>
              </a:defRPr>
            </a:pPr>
            <a:r>
              <a:rPr sz="2625" b="1">
                <a:solidFill>
                  <a:srgbClr val="87B8D6"/>
                </a:solidFill>
              </a:rPr>
              <a:t>→</a:t>
            </a:r>
          </a:p>
        </p:txBody>
      </p:sp>
      <p:sp>
        <p:nvSpPr>
          <p:cNvPr id="17" name="Hình chữ nhật: Góc Tròn 16">
            <a:extLst>
              <a:ext uri="{FF2B5EF4-FFF2-40B4-BE49-F238E27FC236}">
                <a16:creationId xmlns:a16="http://schemas.microsoft.com/office/drawing/2014/main" id="{EC5CD414-3446-49D2-835B-6F083C0A9ECB}"/>
              </a:ext>
            </a:extLst>
          </p:cNvPr>
          <p:cNvSpPr>
            <a:spLocks noGrp="1"/>
          </p:cNvSpPr>
          <p:nvPr/>
        </p:nvSpPr>
        <p:spPr>
          <a:xfrm>
            <a:off x="7762875" y="4686300"/>
            <a:ext cx="2095500" cy="990600"/>
          </a:xfrm>
          <a:prstGeom prst="roundRect">
            <a:avLst>
              <a:gd name="adj" fmla="val 7692"/>
            </a:avLst>
          </a:prstGeom>
          <a:solidFill>
            <a:srgbClr val="FFFFFF"/>
          </a:solidFill>
          <a:ln w="9525">
            <a:solidFill>
              <a:srgbClr val="7E3D4A"/>
            </a:solidFill>
            <a:prstDash val="solid"/>
          </a:ln>
        </p:spPr>
      </p:sp>
      <p:sp>
        <p:nvSpPr>
          <p:cNvPr id="18" name="Hình chữ nhật 17">
            <a:extLst>
              <a:ext uri="{FF2B5EF4-FFF2-40B4-BE49-F238E27FC236}">
                <a16:creationId xmlns:a16="http://schemas.microsoft.com/office/drawing/2014/main" id="{A56D7BBE-43C4-4F44-B5A5-8066A5C8A2CD}"/>
              </a:ext>
            </a:extLst>
          </p:cNvPr>
          <p:cNvSpPr>
            <a:spLocks noGrp="1"/>
          </p:cNvSpPr>
          <p:nvPr/>
        </p:nvSpPr>
        <p:spPr>
          <a:xfrm>
            <a:off x="7943850" y="4895850"/>
            <a:ext cx="175260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Express API</a:t>
            </a:r>
          </a:p>
        </p:txBody>
      </p:sp>
      <p:sp>
        <p:nvSpPr>
          <p:cNvPr id="19" name="Hình chữ nhật 18">
            <a:extLst>
              <a:ext uri="{FF2B5EF4-FFF2-40B4-BE49-F238E27FC236}">
                <a16:creationId xmlns:a16="http://schemas.microsoft.com/office/drawing/2014/main" id="{B5520029-03C1-4D3E-8769-83701F986226}"/>
              </a:ext>
            </a:extLst>
          </p:cNvPr>
          <p:cNvSpPr>
            <a:spLocks noGrp="1"/>
          </p:cNvSpPr>
          <p:nvPr/>
        </p:nvSpPr>
        <p:spPr>
          <a:xfrm>
            <a:off x="7943850" y="5276850"/>
            <a:ext cx="1752600" cy="2095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kiểm tra tồn kho</a:t>
            </a:r>
          </a:p>
        </p:txBody>
      </p:sp>
      <p:sp>
        <p:nvSpPr>
          <p:cNvPr id="20" name="Hình chữ nhật 19">
            <a:extLst>
              <a:ext uri="{FF2B5EF4-FFF2-40B4-BE49-F238E27FC236}">
                <a16:creationId xmlns:a16="http://schemas.microsoft.com/office/drawing/2014/main" id="{DE9142DA-41CE-4A19-B028-5FF5B3657F32}"/>
              </a:ext>
            </a:extLst>
          </p:cNvPr>
          <p:cNvSpPr>
            <a:spLocks noGrp="1"/>
          </p:cNvSpPr>
          <p:nvPr/>
        </p:nvSpPr>
        <p:spPr>
          <a:xfrm>
            <a:off x="9963150" y="4933950"/>
            <a:ext cx="400050" cy="495300"/>
          </a:xfrm>
          <a:prstGeom prst="rect">
            <a:avLst/>
          </a:prstGeom>
        </p:spPr>
        <p:txBody>
          <a:bodyPr lIns="0" tIns="0" rIns="0" bIns="0"/>
          <a:lstStyle/>
          <a:p>
            <a:pPr algn="ctr">
              <a:lnSpc>
                <a:spcPct val="125000"/>
              </a:lnSpc>
              <a:buNone/>
              <a:defRPr sz="2625" b="1">
                <a:solidFill>
                  <a:srgbClr val="87B8D6"/>
                </a:solidFill>
              </a:defRPr>
            </a:pPr>
            <a:r>
              <a:rPr sz="2625" b="1">
                <a:solidFill>
                  <a:srgbClr val="87B8D6"/>
                </a:solidFill>
              </a:rPr>
              <a:t>→</a:t>
            </a:r>
          </a:p>
        </p:txBody>
      </p:sp>
      <p:sp>
        <p:nvSpPr>
          <p:cNvPr id="21" name="Hình chữ nhật: Góc Tròn 20">
            <a:extLst>
              <a:ext uri="{FF2B5EF4-FFF2-40B4-BE49-F238E27FC236}">
                <a16:creationId xmlns:a16="http://schemas.microsoft.com/office/drawing/2014/main" id="{BD9E0405-C5A0-47DF-BF59-65D922BA6C2F}"/>
              </a:ext>
            </a:extLst>
          </p:cNvPr>
          <p:cNvSpPr>
            <a:spLocks noGrp="1"/>
          </p:cNvSpPr>
          <p:nvPr/>
        </p:nvSpPr>
        <p:spPr>
          <a:xfrm>
            <a:off x="10448925" y="4686300"/>
            <a:ext cx="2143125" cy="990600"/>
          </a:xfrm>
          <a:prstGeom prst="roundRect">
            <a:avLst>
              <a:gd name="adj" fmla="val 7692"/>
            </a:avLst>
          </a:prstGeom>
          <a:solidFill>
            <a:srgbClr val="FFFFFF"/>
          </a:solidFill>
          <a:ln w="9525">
            <a:solidFill>
              <a:srgbClr val="F39A8A"/>
            </a:solidFill>
            <a:prstDash val="solid"/>
          </a:ln>
        </p:spPr>
      </p:sp>
      <p:sp>
        <p:nvSpPr>
          <p:cNvPr id="22" name="Hình chữ nhật 21">
            <a:extLst>
              <a:ext uri="{FF2B5EF4-FFF2-40B4-BE49-F238E27FC236}">
                <a16:creationId xmlns:a16="http://schemas.microsoft.com/office/drawing/2014/main" id="{2F13B8D9-341E-4AB2-916D-DF6E98E53C25}"/>
              </a:ext>
            </a:extLst>
          </p:cNvPr>
          <p:cNvSpPr>
            <a:spLocks noGrp="1"/>
          </p:cNvSpPr>
          <p:nvPr/>
        </p:nvSpPr>
        <p:spPr>
          <a:xfrm>
            <a:off x="10629900" y="4895850"/>
            <a:ext cx="180975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PostgreSQL</a:t>
            </a:r>
          </a:p>
        </p:txBody>
      </p:sp>
      <p:sp>
        <p:nvSpPr>
          <p:cNvPr id="23" name="Hình chữ nhật 22">
            <a:extLst>
              <a:ext uri="{FF2B5EF4-FFF2-40B4-BE49-F238E27FC236}">
                <a16:creationId xmlns:a16="http://schemas.microsoft.com/office/drawing/2014/main" id="{F6D6DD3A-DD73-4E64-998C-B401CEA04772}"/>
              </a:ext>
            </a:extLst>
          </p:cNvPr>
          <p:cNvSpPr>
            <a:spLocks noGrp="1"/>
          </p:cNvSpPr>
          <p:nvPr/>
        </p:nvSpPr>
        <p:spPr>
          <a:xfrm>
            <a:off x="10629900" y="5276850"/>
            <a:ext cx="1809750" cy="2095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order + order_items</a:t>
            </a:r>
          </a:p>
        </p:txBody>
      </p:sp>
      <p:sp>
        <p:nvSpPr>
          <p:cNvPr id="24" name="Hình chữ nhật 23">
            <a:extLst>
              <a:ext uri="{FF2B5EF4-FFF2-40B4-BE49-F238E27FC236}">
                <a16:creationId xmlns:a16="http://schemas.microsoft.com/office/drawing/2014/main" id="{23F1A4CB-EE23-4102-94B4-16027A373587}"/>
              </a:ext>
            </a:extLst>
          </p:cNvPr>
          <p:cNvSpPr>
            <a:spLocks noGrp="1"/>
          </p:cNvSpPr>
          <p:nvPr/>
        </p:nvSpPr>
        <p:spPr>
          <a:xfrm>
            <a:off x="12687300" y="4933950"/>
            <a:ext cx="400050" cy="495300"/>
          </a:xfrm>
          <a:prstGeom prst="rect">
            <a:avLst/>
          </a:prstGeom>
        </p:spPr>
        <p:txBody>
          <a:bodyPr lIns="0" tIns="0" rIns="0" bIns="0"/>
          <a:lstStyle/>
          <a:p>
            <a:pPr algn="ctr">
              <a:lnSpc>
                <a:spcPct val="125000"/>
              </a:lnSpc>
              <a:buNone/>
              <a:defRPr sz="2625" b="1">
                <a:solidFill>
                  <a:srgbClr val="87B8D6"/>
                </a:solidFill>
              </a:defRPr>
            </a:pPr>
            <a:r>
              <a:rPr sz="2625" b="1">
                <a:solidFill>
                  <a:srgbClr val="87B8D6"/>
                </a:solidFill>
              </a:rPr>
              <a:t>→</a:t>
            </a:r>
          </a:p>
        </p:txBody>
      </p:sp>
      <p:sp>
        <p:nvSpPr>
          <p:cNvPr id="25" name="Hình chữ nhật: Góc Tròn 24">
            <a:extLst>
              <a:ext uri="{FF2B5EF4-FFF2-40B4-BE49-F238E27FC236}">
                <a16:creationId xmlns:a16="http://schemas.microsoft.com/office/drawing/2014/main" id="{85FF03E3-6B3D-42BC-804B-62A504826527}"/>
              </a:ext>
            </a:extLst>
          </p:cNvPr>
          <p:cNvSpPr>
            <a:spLocks noGrp="1"/>
          </p:cNvSpPr>
          <p:nvPr/>
        </p:nvSpPr>
        <p:spPr>
          <a:xfrm>
            <a:off x="13182600" y="4686300"/>
            <a:ext cx="2428875" cy="990600"/>
          </a:xfrm>
          <a:prstGeom prst="roundRect">
            <a:avLst>
              <a:gd name="adj" fmla="val 7692"/>
            </a:avLst>
          </a:prstGeom>
          <a:solidFill>
            <a:srgbClr val="FFFFFF"/>
          </a:solidFill>
          <a:ln w="9525">
            <a:solidFill>
              <a:srgbClr val="87B8D6"/>
            </a:solidFill>
            <a:prstDash val="solid"/>
          </a:ln>
        </p:spPr>
      </p:sp>
      <p:sp>
        <p:nvSpPr>
          <p:cNvPr id="26" name="Hình chữ nhật 25">
            <a:extLst>
              <a:ext uri="{FF2B5EF4-FFF2-40B4-BE49-F238E27FC236}">
                <a16:creationId xmlns:a16="http://schemas.microsoft.com/office/drawing/2014/main" id="{9409CC69-086B-4F72-A14D-E41CE694F131}"/>
              </a:ext>
            </a:extLst>
          </p:cNvPr>
          <p:cNvSpPr>
            <a:spLocks noGrp="1"/>
          </p:cNvSpPr>
          <p:nvPr/>
        </p:nvSpPr>
        <p:spPr>
          <a:xfrm>
            <a:off x="13354050" y="4895850"/>
            <a:ext cx="209550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Gateway</a:t>
            </a:r>
          </a:p>
        </p:txBody>
      </p:sp>
      <p:sp>
        <p:nvSpPr>
          <p:cNvPr id="27" name="Hình chữ nhật 26">
            <a:extLst>
              <a:ext uri="{FF2B5EF4-FFF2-40B4-BE49-F238E27FC236}">
                <a16:creationId xmlns:a16="http://schemas.microsoft.com/office/drawing/2014/main" id="{9F70CCB6-A907-4179-BF0E-15D776C54AFA}"/>
              </a:ext>
            </a:extLst>
          </p:cNvPr>
          <p:cNvSpPr>
            <a:spLocks noGrp="1"/>
          </p:cNvSpPr>
          <p:nvPr/>
        </p:nvSpPr>
        <p:spPr>
          <a:xfrm>
            <a:off x="13354050" y="5276850"/>
            <a:ext cx="2095500" cy="2095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VNPay / MoMo / PayPal</a:t>
            </a:r>
          </a:p>
        </p:txBody>
      </p:sp>
      <p:sp>
        <p:nvSpPr>
          <p:cNvPr id="28" name="Hình chữ nhật: Góc Tròn 27">
            <a:extLst>
              <a:ext uri="{FF2B5EF4-FFF2-40B4-BE49-F238E27FC236}">
                <a16:creationId xmlns:a16="http://schemas.microsoft.com/office/drawing/2014/main" id="{E5329146-5408-4D67-9876-8496D9EE3863}"/>
              </a:ext>
            </a:extLst>
          </p:cNvPr>
          <p:cNvSpPr>
            <a:spLocks noGrp="1"/>
          </p:cNvSpPr>
          <p:nvPr/>
        </p:nvSpPr>
        <p:spPr>
          <a:xfrm>
            <a:off x="819150" y="5936933"/>
            <a:ext cx="5410200" cy="1032129"/>
          </a:xfrm>
          <a:prstGeom prst="roundRect">
            <a:avLst>
              <a:gd name="adj" fmla="val 7383"/>
            </a:avLst>
          </a:prstGeom>
          <a:solidFill>
            <a:srgbClr val="FFFFFF"/>
          </a:solidFill>
          <a:ln w="9525">
            <a:solidFill>
              <a:srgbClr val="E8DDCF"/>
            </a:solidFill>
            <a:prstDash val="solid"/>
          </a:ln>
        </p:spPr>
      </p:sp>
      <p:sp>
        <p:nvSpPr>
          <p:cNvPr id="29" name="Hình chữ nhật: Góc Tròn 28">
            <a:extLst>
              <a:ext uri="{FF2B5EF4-FFF2-40B4-BE49-F238E27FC236}">
                <a16:creationId xmlns:a16="http://schemas.microsoft.com/office/drawing/2014/main" id="{9DF7A279-D80E-40CB-8BB1-8D9F9B82CFD2}"/>
              </a:ext>
            </a:extLst>
          </p:cNvPr>
          <p:cNvSpPr>
            <a:spLocks noGrp="1"/>
          </p:cNvSpPr>
          <p:nvPr/>
        </p:nvSpPr>
        <p:spPr>
          <a:xfrm>
            <a:off x="1028700" y="6134100"/>
            <a:ext cx="104775" cy="323850"/>
          </a:xfrm>
          <a:prstGeom prst="roundRect">
            <a:avLst>
              <a:gd name="adj" fmla="val 50000"/>
            </a:avLst>
          </a:prstGeom>
          <a:solidFill>
            <a:srgbClr val="77B8A4"/>
          </a:solidFill>
        </p:spPr>
      </p:sp>
      <p:sp>
        <p:nvSpPr>
          <p:cNvPr id="30" name="Hình chữ nhật 29">
            <a:extLst>
              <a:ext uri="{FF2B5EF4-FFF2-40B4-BE49-F238E27FC236}">
                <a16:creationId xmlns:a16="http://schemas.microsoft.com/office/drawing/2014/main" id="{00D4EE3B-BA24-4347-A6E2-D8B6170938BE}"/>
              </a:ext>
            </a:extLst>
          </p:cNvPr>
          <p:cNvSpPr>
            <a:spLocks noGrp="1"/>
          </p:cNvSpPr>
          <p:nvPr/>
        </p:nvSpPr>
        <p:spPr>
          <a:xfrm>
            <a:off x="1238250" y="6115050"/>
            <a:ext cx="480060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Tạo đơn trước</a:t>
            </a:r>
          </a:p>
        </p:txBody>
      </p:sp>
      <p:sp>
        <p:nvSpPr>
          <p:cNvPr id="31" name="Hình chữ nhật 30">
            <a:extLst>
              <a:ext uri="{FF2B5EF4-FFF2-40B4-BE49-F238E27FC236}">
                <a16:creationId xmlns:a16="http://schemas.microsoft.com/office/drawing/2014/main" id="{A5CE30DB-8617-4559-AE57-42F8607E0CBF}"/>
              </a:ext>
            </a:extLst>
          </p:cNvPr>
          <p:cNvSpPr>
            <a:spLocks noGrp="1"/>
          </p:cNvSpPr>
          <p:nvPr/>
        </p:nvSpPr>
        <p:spPr>
          <a:xfrm>
            <a:off x="1028700" y="6534150"/>
            <a:ext cx="4991100" cy="266700"/>
          </a:xfrm>
          <a:prstGeom prst="rect">
            <a:avLst/>
          </a:prstGeom>
        </p:spPr>
        <p:txBody>
          <a:bodyPr lIns="0" tIns="0" rIns="0" bIns="0"/>
          <a:lstStyle/>
          <a:p>
            <a:pPr>
              <a:lnSpc>
                <a:spcPct val="120000"/>
              </a:lnSpc>
              <a:buNone/>
              <a:defRPr sz="1425">
                <a:solidFill>
                  <a:srgbClr val="647067"/>
                </a:solidFill>
              </a:defRPr>
            </a:pPr>
            <a:r>
              <a:rPr sz="1425">
                <a:solidFill>
                  <a:srgbClr val="647067"/>
                </a:solidFill>
              </a:rPr>
              <a:t>Order và order_items được ghi sau khi kiểm tra khả dụng.</a:t>
            </a:r>
          </a:p>
        </p:txBody>
      </p:sp>
      <p:sp>
        <p:nvSpPr>
          <p:cNvPr id="32" name="Hình chữ nhật: Góc Tròn 31">
            <a:extLst>
              <a:ext uri="{FF2B5EF4-FFF2-40B4-BE49-F238E27FC236}">
                <a16:creationId xmlns:a16="http://schemas.microsoft.com/office/drawing/2014/main" id="{77772D66-10A2-47ED-BD01-FC7BA58A3B45}"/>
              </a:ext>
            </a:extLst>
          </p:cNvPr>
          <p:cNvSpPr>
            <a:spLocks noGrp="1"/>
          </p:cNvSpPr>
          <p:nvPr/>
        </p:nvSpPr>
        <p:spPr>
          <a:xfrm>
            <a:off x="6438900" y="5936933"/>
            <a:ext cx="5410200" cy="1032129"/>
          </a:xfrm>
          <a:prstGeom prst="roundRect">
            <a:avLst>
              <a:gd name="adj" fmla="val 7383"/>
            </a:avLst>
          </a:prstGeom>
          <a:solidFill>
            <a:srgbClr val="FFFFFF"/>
          </a:solidFill>
          <a:ln w="9525">
            <a:solidFill>
              <a:srgbClr val="E8DDCF"/>
            </a:solidFill>
            <a:prstDash val="solid"/>
          </a:ln>
        </p:spPr>
      </p:sp>
      <p:sp>
        <p:nvSpPr>
          <p:cNvPr id="33" name="Hình chữ nhật: Góc Tròn 32">
            <a:extLst>
              <a:ext uri="{FF2B5EF4-FFF2-40B4-BE49-F238E27FC236}">
                <a16:creationId xmlns:a16="http://schemas.microsoft.com/office/drawing/2014/main" id="{34D73983-7831-4DDC-98B6-C0946639E4FB}"/>
              </a:ext>
            </a:extLst>
          </p:cNvPr>
          <p:cNvSpPr>
            <a:spLocks noGrp="1"/>
          </p:cNvSpPr>
          <p:nvPr/>
        </p:nvSpPr>
        <p:spPr>
          <a:xfrm>
            <a:off x="6667500" y="6134100"/>
            <a:ext cx="104775" cy="323850"/>
          </a:xfrm>
          <a:prstGeom prst="roundRect">
            <a:avLst>
              <a:gd name="adj" fmla="val 50000"/>
            </a:avLst>
          </a:prstGeom>
          <a:solidFill>
            <a:srgbClr val="D9B760"/>
          </a:solidFill>
        </p:spPr>
      </p:sp>
      <p:sp>
        <p:nvSpPr>
          <p:cNvPr id="34" name="Hình chữ nhật 33">
            <a:extLst>
              <a:ext uri="{FF2B5EF4-FFF2-40B4-BE49-F238E27FC236}">
                <a16:creationId xmlns:a16="http://schemas.microsoft.com/office/drawing/2014/main" id="{FB054FD6-F940-40B3-B3FE-CC3F2639BDDF}"/>
              </a:ext>
            </a:extLst>
          </p:cNvPr>
          <p:cNvSpPr>
            <a:spLocks noGrp="1"/>
          </p:cNvSpPr>
          <p:nvPr/>
        </p:nvSpPr>
        <p:spPr>
          <a:xfrm>
            <a:off x="6858000" y="6115050"/>
            <a:ext cx="480060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Redirect / callback</a:t>
            </a:r>
          </a:p>
        </p:txBody>
      </p:sp>
      <p:sp>
        <p:nvSpPr>
          <p:cNvPr id="35" name="Hình chữ nhật 34">
            <a:extLst>
              <a:ext uri="{FF2B5EF4-FFF2-40B4-BE49-F238E27FC236}">
                <a16:creationId xmlns:a16="http://schemas.microsoft.com/office/drawing/2014/main" id="{42B488CD-1BAC-4247-AF89-5DF2ADE1E2C0}"/>
              </a:ext>
            </a:extLst>
          </p:cNvPr>
          <p:cNvSpPr>
            <a:spLocks noGrp="1"/>
          </p:cNvSpPr>
          <p:nvPr/>
        </p:nvSpPr>
        <p:spPr>
          <a:xfrm>
            <a:off x="6648450" y="6534150"/>
            <a:ext cx="4991100" cy="266700"/>
          </a:xfrm>
          <a:prstGeom prst="rect">
            <a:avLst/>
          </a:prstGeom>
        </p:spPr>
        <p:txBody>
          <a:bodyPr lIns="0" tIns="0" rIns="0" bIns="0"/>
          <a:lstStyle/>
          <a:p>
            <a:pPr>
              <a:lnSpc>
                <a:spcPct val="120000"/>
              </a:lnSpc>
              <a:buNone/>
              <a:defRPr sz="1425">
                <a:solidFill>
                  <a:srgbClr val="647067"/>
                </a:solidFill>
              </a:defRPr>
            </a:pPr>
            <a:r>
              <a:rPr sz="1425">
                <a:solidFill>
                  <a:srgbClr val="647067"/>
                </a:solidFill>
              </a:rPr>
              <a:t>Gateway trả return, IPN hoặc webhook về backend.</a:t>
            </a:r>
          </a:p>
        </p:txBody>
      </p:sp>
      <p:sp>
        <p:nvSpPr>
          <p:cNvPr id="36" name="Hình chữ nhật: Góc Tròn 35">
            <a:extLst>
              <a:ext uri="{FF2B5EF4-FFF2-40B4-BE49-F238E27FC236}">
                <a16:creationId xmlns:a16="http://schemas.microsoft.com/office/drawing/2014/main" id="{8EF73D52-757C-46BC-A41C-DB145ABD864C}"/>
              </a:ext>
            </a:extLst>
          </p:cNvPr>
          <p:cNvSpPr>
            <a:spLocks noGrp="1"/>
          </p:cNvSpPr>
          <p:nvPr/>
        </p:nvSpPr>
        <p:spPr>
          <a:xfrm>
            <a:off x="12058650" y="5936933"/>
            <a:ext cx="5410200" cy="1032129"/>
          </a:xfrm>
          <a:prstGeom prst="roundRect">
            <a:avLst>
              <a:gd name="adj" fmla="val 7383"/>
            </a:avLst>
          </a:prstGeom>
          <a:solidFill>
            <a:srgbClr val="FFFFFF"/>
          </a:solidFill>
          <a:ln w="9525">
            <a:solidFill>
              <a:srgbClr val="E8DDCF"/>
            </a:solidFill>
            <a:prstDash val="solid"/>
          </a:ln>
        </p:spPr>
      </p:sp>
      <p:sp>
        <p:nvSpPr>
          <p:cNvPr id="37" name="Hình chữ nhật: Góc Tròn 36">
            <a:extLst>
              <a:ext uri="{FF2B5EF4-FFF2-40B4-BE49-F238E27FC236}">
                <a16:creationId xmlns:a16="http://schemas.microsoft.com/office/drawing/2014/main" id="{064DA500-AFA4-49AA-930A-D4C7EDC240E6}"/>
              </a:ext>
            </a:extLst>
          </p:cNvPr>
          <p:cNvSpPr>
            <a:spLocks noGrp="1"/>
          </p:cNvSpPr>
          <p:nvPr/>
        </p:nvSpPr>
        <p:spPr>
          <a:xfrm>
            <a:off x="12268200" y="6134100"/>
            <a:ext cx="104775" cy="323850"/>
          </a:xfrm>
          <a:prstGeom prst="roundRect">
            <a:avLst>
              <a:gd name="adj" fmla="val 50000"/>
            </a:avLst>
          </a:prstGeom>
          <a:solidFill>
            <a:srgbClr val="F39A8A"/>
          </a:solidFill>
        </p:spPr>
      </p:sp>
      <p:sp>
        <p:nvSpPr>
          <p:cNvPr id="38" name="Hình chữ nhật 37">
            <a:extLst>
              <a:ext uri="{FF2B5EF4-FFF2-40B4-BE49-F238E27FC236}">
                <a16:creationId xmlns:a16="http://schemas.microsoft.com/office/drawing/2014/main" id="{DD740845-A8FD-419D-8BE1-65787AFD8A3A}"/>
              </a:ext>
            </a:extLst>
          </p:cNvPr>
          <p:cNvSpPr>
            <a:spLocks noGrp="1"/>
          </p:cNvSpPr>
          <p:nvPr/>
        </p:nvSpPr>
        <p:spPr>
          <a:xfrm>
            <a:off x="12477750" y="6115050"/>
            <a:ext cx="480060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Cấu hình bật/tắt</a:t>
            </a:r>
          </a:p>
        </p:txBody>
      </p:sp>
      <p:sp>
        <p:nvSpPr>
          <p:cNvPr id="39" name="Hình chữ nhật 38">
            <a:extLst>
              <a:ext uri="{FF2B5EF4-FFF2-40B4-BE49-F238E27FC236}">
                <a16:creationId xmlns:a16="http://schemas.microsoft.com/office/drawing/2014/main" id="{1AF3490F-565D-4F7C-95F4-35668CBA7EC9}"/>
              </a:ext>
            </a:extLst>
          </p:cNvPr>
          <p:cNvSpPr>
            <a:spLocks noGrp="1"/>
          </p:cNvSpPr>
          <p:nvPr/>
        </p:nvSpPr>
        <p:spPr>
          <a:xfrm>
            <a:off x="12268200" y="6534150"/>
            <a:ext cx="4991100" cy="266700"/>
          </a:xfrm>
          <a:prstGeom prst="rect">
            <a:avLst/>
          </a:prstGeom>
        </p:spPr>
        <p:txBody>
          <a:bodyPr lIns="0" tIns="0" rIns="0" bIns="0"/>
          <a:lstStyle/>
          <a:p>
            <a:pPr>
              <a:lnSpc>
                <a:spcPct val="120000"/>
              </a:lnSpc>
              <a:buNone/>
              <a:defRPr sz="1425">
                <a:solidFill>
                  <a:srgbClr val="647067"/>
                </a:solidFill>
              </a:defRPr>
            </a:pPr>
            <a:r>
              <a:rPr sz="1425">
                <a:solidFill>
                  <a:srgbClr val="647067"/>
                </a:solidFill>
              </a:rPr>
              <a:t>`site_settings` điều khiển payment methods được hiển thị.</a:t>
            </a:r>
          </a:p>
        </p:txBody>
      </p:sp>
    </p:spTree>
    <p:extLst>
      <p:ext uri="{BB962C8B-B14F-4D97-AF65-F5344CB8AC3E}">
        <p14:creationId xmlns:p14="http://schemas.microsoft.com/office/powerpoint/2010/main" val="12211299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background">
            <a:extLst>
              <a:ext uri="{FF2B5EF4-FFF2-40B4-BE49-F238E27FC236}">
                <a16:creationId xmlns:a16="http://schemas.microsoft.com/office/drawing/2014/main" id="{E597E338-885D-4C8E-A597-E7CC78CE485E}"/>
              </a:ext>
            </a:extLst>
          </p:cNvPr>
          <p:cNvSpPr>
            <a:spLocks noGrp="1"/>
          </p:cNvSpPr>
          <p:nvPr/>
        </p:nvSpPr>
        <p:spPr>
          <a:xfrm>
            <a:off x="0" y="0"/>
            <a:ext cx="18288000" cy="10287000"/>
          </a:xfrm>
          <a:prstGeom prst="rect">
            <a:avLst/>
          </a:prstGeom>
          <a:solidFill>
            <a:srgbClr val="FFFDF8"/>
          </a:solidFill>
        </p:spPr>
      </p:sp>
      <p:sp>
        <p:nvSpPr>
          <p:cNvPr id="2" name="top-band">
            <a:extLst>
              <a:ext uri="{FF2B5EF4-FFF2-40B4-BE49-F238E27FC236}">
                <a16:creationId xmlns:a16="http://schemas.microsoft.com/office/drawing/2014/main" id="{B535B76A-F5F4-423B-ABAF-674915F5663D}"/>
              </a:ext>
            </a:extLst>
          </p:cNvPr>
          <p:cNvSpPr>
            <a:spLocks noGrp="1"/>
          </p:cNvSpPr>
          <p:nvPr/>
        </p:nvSpPr>
        <p:spPr>
          <a:xfrm>
            <a:off x="0" y="0"/>
            <a:ext cx="18288000" cy="152400"/>
          </a:xfrm>
          <a:prstGeom prst="rect">
            <a:avLst/>
          </a:prstGeom>
          <a:solidFill>
            <a:srgbClr val="7E3D4A"/>
          </a:solidFill>
        </p:spPr>
      </p:sp>
      <p:sp>
        <p:nvSpPr>
          <p:cNvPr id="3" name="bottom-band">
            <a:extLst>
              <a:ext uri="{FF2B5EF4-FFF2-40B4-BE49-F238E27FC236}">
                <a16:creationId xmlns:a16="http://schemas.microsoft.com/office/drawing/2014/main" id="{87D3D56C-A184-4267-8998-94EB758E490E}"/>
              </a:ext>
            </a:extLst>
          </p:cNvPr>
          <p:cNvSpPr>
            <a:spLocks noGrp="1"/>
          </p:cNvSpPr>
          <p:nvPr/>
        </p:nvSpPr>
        <p:spPr>
          <a:xfrm>
            <a:off x="0" y="0"/>
            <a:ext cx="18288000" cy="76200"/>
          </a:xfrm>
          <a:prstGeom prst="rect">
            <a:avLst/>
          </a:prstGeom>
          <a:solidFill>
            <a:srgbClr val="D9B760"/>
          </a:solidFill>
        </p:spPr>
      </p:sp>
      <p:sp>
        <p:nvSpPr>
          <p:cNvPr id="4" name="Hình chữ nhật: Góc Tròn 3">
            <a:extLst>
              <a:ext uri="{FF2B5EF4-FFF2-40B4-BE49-F238E27FC236}">
                <a16:creationId xmlns:a16="http://schemas.microsoft.com/office/drawing/2014/main" id="{D2EEF9E5-DB6D-42CD-9C73-103B29058287}"/>
              </a:ext>
            </a:extLst>
          </p:cNvPr>
          <p:cNvSpPr>
            <a:spLocks noGrp="1"/>
          </p:cNvSpPr>
          <p:nvPr/>
        </p:nvSpPr>
        <p:spPr>
          <a:xfrm>
            <a:off x="838200" y="647700"/>
            <a:ext cx="400050" cy="95250"/>
          </a:xfrm>
          <a:prstGeom prst="roundRect">
            <a:avLst>
              <a:gd name="adj" fmla="val 50000"/>
            </a:avLst>
          </a:prstGeom>
          <a:solidFill>
            <a:srgbClr val="7E3D4A"/>
          </a:solidFill>
        </p:spPr>
      </p:sp>
      <p:sp>
        <p:nvSpPr>
          <p:cNvPr id="5" name="Hình chữ nhật 4">
            <a:extLst>
              <a:ext uri="{FF2B5EF4-FFF2-40B4-BE49-F238E27FC236}">
                <a16:creationId xmlns:a16="http://schemas.microsoft.com/office/drawing/2014/main" id="{2F7DE4BD-7F88-4BB0-89AF-9B8EE26AC6AD}"/>
              </a:ext>
            </a:extLst>
          </p:cNvPr>
          <p:cNvSpPr>
            <a:spLocks noGrp="1"/>
          </p:cNvSpPr>
          <p:nvPr/>
        </p:nvSpPr>
        <p:spPr>
          <a:xfrm>
            <a:off x="1371600" y="571500"/>
            <a:ext cx="15544800" cy="228600"/>
          </a:xfrm>
          <a:prstGeom prst="rect">
            <a:avLst/>
          </a:prstGeom>
        </p:spPr>
        <p:txBody>
          <a:bodyPr lIns="0" tIns="0" rIns="0" bIns="0"/>
          <a:lstStyle/>
          <a:p>
            <a:pPr>
              <a:lnSpc>
                <a:spcPct val="125000"/>
              </a:lnSpc>
              <a:buNone/>
              <a:defRPr sz="1200" b="1">
                <a:solidFill>
                  <a:srgbClr val="7E3D4A"/>
                </a:solidFill>
              </a:defRPr>
            </a:pPr>
            <a:r>
              <a:rPr sz="1200" b="1">
                <a:solidFill>
                  <a:srgbClr val="7E3D4A"/>
                </a:solidFill>
              </a:rPr>
              <a:t>SECURITY</a:t>
            </a:r>
          </a:p>
        </p:txBody>
      </p:sp>
      <p:sp>
        <p:nvSpPr>
          <p:cNvPr id="6" name="Hình chữ nhật 5">
            <a:extLst>
              <a:ext uri="{FF2B5EF4-FFF2-40B4-BE49-F238E27FC236}">
                <a16:creationId xmlns:a16="http://schemas.microsoft.com/office/drawing/2014/main" id="{31ED867B-4BB2-4769-9477-16AABCD98D79}"/>
              </a:ext>
            </a:extLst>
          </p:cNvPr>
          <p:cNvSpPr>
            <a:spLocks noGrp="1"/>
          </p:cNvSpPr>
          <p:nvPr/>
        </p:nvSpPr>
        <p:spPr>
          <a:xfrm>
            <a:off x="17068800" y="571500"/>
            <a:ext cx="400050" cy="228600"/>
          </a:xfrm>
          <a:prstGeom prst="rect">
            <a:avLst/>
          </a:prstGeom>
        </p:spPr>
        <p:txBody>
          <a:bodyPr lIns="0" tIns="0" rIns="0" bIns="0"/>
          <a:lstStyle/>
          <a:p>
            <a:pPr>
              <a:lnSpc>
                <a:spcPct val="120000"/>
              </a:lnSpc>
              <a:buNone/>
              <a:defRPr sz="1275" b="1">
                <a:solidFill>
                  <a:srgbClr val="7E3D4A"/>
                </a:solidFill>
              </a:defRPr>
            </a:pPr>
            <a:r>
              <a:rPr sz="1275" b="1">
                <a:solidFill>
                  <a:srgbClr val="7E3D4A"/>
                </a:solidFill>
              </a:rPr>
              <a:t>22/30</a:t>
            </a:r>
          </a:p>
        </p:txBody>
      </p:sp>
      <p:sp>
        <p:nvSpPr>
          <p:cNvPr id="7" name="slide-title">
            <a:extLst>
              <a:ext uri="{FF2B5EF4-FFF2-40B4-BE49-F238E27FC236}">
                <a16:creationId xmlns:a16="http://schemas.microsoft.com/office/drawing/2014/main" id="{E5E617FB-9D3F-40C7-B7BC-3A8629E2A94E}"/>
              </a:ext>
            </a:extLst>
          </p:cNvPr>
          <p:cNvSpPr>
            <a:spLocks noGrp="1"/>
          </p:cNvSpPr>
          <p:nvPr/>
        </p:nvSpPr>
        <p:spPr>
          <a:xfrm>
            <a:off x="819150" y="933450"/>
            <a:ext cx="16649700" cy="590550"/>
          </a:xfrm>
          <a:prstGeom prst="rect">
            <a:avLst/>
          </a:prstGeom>
        </p:spPr>
        <p:txBody>
          <a:bodyPr lIns="0" tIns="0" rIns="0" bIns="0"/>
          <a:lstStyle/>
          <a:p>
            <a:pPr>
              <a:lnSpc>
                <a:spcPct val="105000"/>
              </a:lnSpc>
              <a:buNone/>
              <a:defRPr sz="3600" b="1">
                <a:solidFill>
                  <a:srgbClr val="151515"/>
                </a:solidFill>
              </a:defRPr>
            </a:pPr>
            <a:r>
              <a:rPr sz="3600" b="1">
                <a:solidFill>
                  <a:srgbClr val="151515"/>
                </a:solidFill>
              </a:rPr>
              <a:t>Bảo mật được đặt ở cả backend và frontend</a:t>
            </a:r>
          </a:p>
        </p:txBody>
      </p:sp>
      <p:sp>
        <p:nvSpPr>
          <p:cNvPr id="8" name="title-rule">
            <a:extLst>
              <a:ext uri="{FF2B5EF4-FFF2-40B4-BE49-F238E27FC236}">
                <a16:creationId xmlns:a16="http://schemas.microsoft.com/office/drawing/2014/main" id="{30925A71-EA1D-48D4-B762-CCE62C8B6D72}"/>
              </a:ext>
            </a:extLst>
          </p:cNvPr>
          <p:cNvSpPr>
            <a:spLocks noGrp="1"/>
          </p:cNvSpPr>
          <p:nvPr/>
        </p:nvSpPr>
        <p:spPr>
          <a:xfrm>
            <a:off x="819150" y="1619250"/>
            <a:ext cx="1905000" cy="38100"/>
          </a:xfrm>
          <a:prstGeom prst="rect">
            <a:avLst/>
          </a:prstGeom>
          <a:solidFill>
            <a:srgbClr val="7E3D4A"/>
          </a:solidFill>
          <a:ln w="0">
            <a:solidFill>
              <a:srgbClr val="7E3D4A"/>
            </a:solidFill>
            <a:prstDash val="solid"/>
          </a:ln>
        </p:spPr>
      </p:sp>
      <p:sp>
        <p:nvSpPr>
          <p:cNvPr id="9" name="Hình chữ nhật: Góc Tròn 8">
            <a:extLst>
              <a:ext uri="{FF2B5EF4-FFF2-40B4-BE49-F238E27FC236}">
                <a16:creationId xmlns:a16="http://schemas.microsoft.com/office/drawing/2014/main" id="{BC97C7C9-F107-46E6-B029-8E3025494810}"/>
              </a:ext>
            </a:extLst>
          </p:cNvPr>
          <p:cNvSpPr>
            <a:spLocks noGrp="1"/>
          </p:cNvSpPr>
          <p:nvPr/>
        </p:nvSpPr>
        <p:spPr>
          <a:xfrm>
            <a:off x="819150" y="1933194"/>
            <a:ext cx="8143875" cy="3256979"/>
          </a:xfrm>
          <a:prstGeom prst="roundRect">
            <a:avLst>
              <a:gd name="adj" fmla="val 2340"/>
            </a:avLst>
          </a:prstGeom>
          <a:solidFill>
            <a:srgbClr val="FEFCF8"/>
          </a:solidFill>
          <a:ln w="9525">
            <a:solidFill>
              <a:srgbClr val="E8DDCF"/>
            </a:solidFill>
            <a:prstDash val="solid"/>
          </a:ln>
        </p:spPr>
      </p:sp>
      <p:sp>
        <p:nvSpPr>
          <p:cNvPr id="10" name="Hình chữ nhật: Góc Tròn 9">
            <a:extLst>
              <a:ext uri="{FF2B5EF4-FFF2-40B4-BE49-F238E27FC236}">
                <a16:creationId xmlns:a16="http://schemas.microsoft.com/office/drawing/2014/main" id="{AB556D1A-651C-41EC-AD09-F00A9FE1D58E}"/>
              </a:ext>
            </a:extLst>
          </p:cNvPr>
          <p:cNvSpPr>
            <a:spLocks noGrp="1"/>
          </p:cNvSpPr>
          <p:nvPr/>
        </p:nvSpPr>
        <p:spPr>
          <a:xfrm>
            <a:off x="1028700" y="2171700"/>
            <a:ext cx="104775" cy="323850"/>
          </a:xfrm>
          <a:prstGeom prst="roundRect">
            <a:avLst>
              <a:gd name="adj" fmla="val 50000"/>
            </a:avLst>
          </a:prstGeom>
          <a:solidFill>
            <a:srgbClr val="7E3D4A"/>
          </a:solidFill>
        </p:spPr>
      </p:sp>
      <p:sp>
        <p:nvSpPr>
          <p:cNvPr id="11" name="Hình chữ nhật 10">
            <a:extLst>
              <a:ext uri="{FF2B5EF4-FFF2-40B4-BE49-F238E27FC236}">
                <a16:creationId xmlns:a16="http://schemas.microsoft.com/office/drawing/2014/main" id="{3D4AEA95-4C4C-46BC-B99A-6D416097701B}"/>
              </a:ext>
            </a:extLst>
          </p:cNvPr>
          <p:cNvSpPr>
            <a:spLocks noGrp="1"/>
          </p:cNvSpPr>
          <p:nvPr/>
        </p:nvSpPr>
        <p:spPr>
          <a:xfrm>
            <a:off x="1238250" y="2095500"/>
            <a:ext cx="7524750" cy="419100"/>
          </a:xfrm>
          <a:prstGeom prst="rect">
            <a:avLst/>
          </a:prstGeom>
        </p:spPr>
        <p:txBody>
          <a:bodyPr lIns="0" tIns="0" rIns="0" bIns="0"/>
          <a:lstStyle/>
          <a:p>
            <a:pPr>
              <a:lnSpc>
                <a:spcPct val="125000"/>
              </a:lnSpc>
              <a:buNone/>
              <a:defRPr sz="2175" b="1">
                <a:solidFill>
                  <a:srgbClr val="151515"/>
                </a:solidFill>
              </a:defRPr>
            </a:pPr>
            <a:r>
              <a:rPr sz="2175" b="1">
                <a:solidFill>
                  <a:srgbClr val="151515"/>
                </a:solidFill>
              </a:rPr>
              <a:t>Backend controls</a:t>
            </a:r>
          </a:p>
        </p:txBody>
      </p:sp>
      <p:sp>
        <p:nvSpPr>
          <p:cNvPr id="12" name="Hình chữ nhật 11">
            <a:extLst>
              <a:ext uri="{FF2B5EF4-FFF2-40B4-BE49-F238E27FC236}">
                <a16:creationId xmlns:a16="http://schemas.microsoft.com/office/drawing/2014/main" id="{474D05BC-3246-4405-A1E6-341B4967BAFA}"/>
              </a:ext>
            </a:extLst>
          </p:cNvPr>
          <p:cNvSpPr>
            <a:spLocks noGrp="1"/>
          </p:cNvSpPr>
          <p:nvPr/>
        </p:nvSpPr>
        <p:spPr>
          <a:xfrm>
            <a:off x="1028700" y="2609850"/>
            <a:ext cx="7734300" cy="2419350"/>
          </a:xfrm>
          <a:prstGeom prst="rect">
            <a:avLst/>
          </a:prstGeom>
        </p:spPr>
        <p:txBody>
          <a:bodyPr lIns="0" tIns="0" rIns="0" bIns="0"/>
          <a:lstStyle/>
          <a:p>
            <a:pPr>
              <a:lnSpc>
                <a:spcPct val="120000"/>
              </a:lnSpc>
              <a:buNone/>
              <a:defRPr sz="1650">
                <a:solidFill>
                  <a:srgbClr val="647067"/>
                </a:solidFill>
              </a:defRPr>
            </a:pPr>
            <a:r>
              <a:rPr sz="1650">
                <a:solidFill>
                  <a:srgbClr val="647067"/>
                </a:solidFill>
              </a:rPr>
              <a:t>Helmet security headers</a:t>
            </a:r>
          </a:p>
          <a:p>
            <a:pPr>
              <a:lnSpc>
                <a:spcPct val="120000"/>
              </a:lnSpc>
              <a:buNone/>
              <a:defRPr sz="1650">
                <a:solidFill>
                  <a:srgbClr val="647067"/>
                </a:solidFill>
              </a:defRPr>
            </a:pPr>
            <a:r>
              <a:rPr sz="1650">
                <a:solidFill>
                  <a:srgbClr val="647067"/>
                </a:solidFill>
              </a:rPr>
              <a:t>CORS whitelist theo environment</a:t>
            </a:r>
          </a:p>
          <a:p>
            <a:pPr>
              <a:lnSpc>
                <a:spcPct val="120000"/>
              </a:lnSpc>
              <a:buNone/>
              <a:defRPr sz="1650">
                <a:solidFill>
                  <a:srgbClr val="647067"/>
                </a:solidFill>
              </a:defRPr>
            </a:pPr>
            <a:r>
              <a:rPr sz="1650">
                <a:solidFill>
                  <a:srgbClr val="647067"/>
                </a:solidFill>
              </a:rPr>
              <a:t>Rate limit chung cho /api</a:t>
            </a:r>
          </a:p>
          <a:p>
            <a:pPr>
              <a:lnSpc>
                <a:spcPct val="120000"/>
              </a:lnSpc>
              <a:buNone/>
              <a:defRPr sz="1650">
                <a:solidFill>
                  <a:srgbClr val="647067"/>
                </a:solidFill>
              </a:defRPr>
            </a:pPr>
            <a:r>
              <a:rPr sz="1650">
                <a:solidFill>
                  <a:srgbClr val="647067"/>
                </a:solidFill>
              </a:rPr>
              <a:t>Rate limit riêng cho auth</a:t>
            </a:r>
          </a:p>
          <a:p>
            <a:pPr>
              <a:lnSpc>
                <a:spcPct val="120000"/>
              </a:lnSpc>
              <a:buNone/>
              <a:defRPr sz="1650">
                <a:solidFill>
                  <a:srgbClr val="647067"/>
                </a:solidFill>
              </a:defRPr>
            </a:pPr>
            <a:r>
              <a:rPr sz="1650">
                <a:solidFill>
                  <a:srgbClr val="647067"/>
                </a:solidFill>
              </a:rPr>
              <a:t>JWT middleware protect</a:t>
            </a:r>
          </a:p>
          <a:p>
            <a:pPr>
              <a:lnSpc>
                <a:spcPct val="120000"/>
              </a:lnSpc>
              <a:buNone/>
              <a:defRPr sz="1650">
                <a:solidFill>
                  <a:srgbClr val="647067"/>
                </a:solidFill>
              </a:defRPr>
            </a:pPr>
            <a:r>
              <a:rPr sz="1650">
                <a:solidFill>
                  <a:srgbClr val="647067"/>
                </a:solidFill>
              </a:rPr>
              <a:t>adminOnly cho admin routes</a:t>
            </a:r>
          </a:p>
          <a:p>
            <a:pPr>
              <a:lnSpc>
                <a:spcPct val="120000"/>
              </a:lnSpc>
              <a:buNone/>
              <a:defRPr sz="1650">
                <a:solidFill>
                  <a:srgbClr val="647067"/>
                </a:solidFill>
              </a:defRPr>
            </a:pPr>
            <a:r>
              <a:rPr sz="1650">
                <a:solidFill>
                  <a:srgbClr val="647067"/>
                </a:solidFill>
              </a:rPr>
              <a:t>express-validator, bcryptjs, multer</a:t>
            </a:r>
          </a:p>
          <a:p>
            <a:pPr>
              <a:lnSpc>
                <a:spcPct val="120000"/>
              </a:lnSpc>
              <a:buNone/>
              <a:defRPr sz="1650">
                <a:solidFill>
                  <a:srgbClr val="647067"/>
                </a:solidFill>
              </a:defRPr>
            </a:pPr>
            <a:r>
              <a:rPr sz="1650">
                <a:solidFill>
                  <a:srgbClr val="647067"/>
                </a:solidFill>
              </a:rPr>
              <a:t>notFound và errorHandler</a:t>
            </a:r>
          </a:p>
        </p:txBody>
      </p:sp>
      <p:sp>
        <p:nvSpPr>
          <p:cNvPr id="13" name="Hình chữ nhật: Góc Tròn 12">
            <a:extLst>
              <a:ext uri="{FF2B5EF4-FFF2-40B4-BE49-F238E27FC236}">
                <a16:creationId xmlns:a16="http://schemas.microsoft.com/office/drawing/2014/main" id="{DB520A60-885D-48FE-9593-70BCDD43429E}"/>
              </a:ext>
            </a:extLst>
          </p:cNvPr>
          <p:cNvSpPr>
            <a:spLocks noGrp="1"/>
          </p:cNvSpPr>
          <p:nvPr/>
        </p:nvSpPr>
        <p:spPr>
          <a:xfrm>
            <a:off x="9324975" y="1933194"/>
            <a:ext cx="8143875" cy="2653475"/>
          </a:xfrm>
          <a:prstGeom prst="roundRect">
            <a:avLst>
              <a:gd name="adj" fmla="val 2872"/>
            </a:avLst>
          </a:prstGeom>
          <a:solidFill>
            <a:srgbClr val="FEFCF8"/>
          </a:solidFill>
          <a:ln w="9525">
            <a:solidFill>
              <a:srgbClr val="E8DDCF"/>
            </a:solidFill>
            <a:prstDash val="solid"/>
          </a:ln>
        </p:spPr>
      </p:sp>
      <p:sp>
        <p:nvSpPr>
          <p:cNvPr id="14" name="Hình chữ nhật: Góc Tròn 13">
            <a:extLst>
              <a:ext uri="{FF2B5EF4-FFF2-40B4-BE49-F238E27FC236}">
                <a16:creationId xmlns:a16="http://schemas.microsoft.com/office/drawing/2014/main" id="{FB4503E3-1EAC-4CC9-B3EE-36128FF32C8A}"/>
              </a:ext>
            </a:extLst>
          </p:cNvPr>
          <p:cNvSpPr>
            <a:spLocks noGrp="1"/>
          </p:cNvSpPr>
          <p:nvPr/>
        </p:nvSpPr>
        <p:spPr>
          <a:xfrm>
            <a:off x="9525000" y="2171700"/>
            <a:ext cx="104775" cy="323850"/>
          </a:xfrm>
          <a:prstGeom prst="roundRect">
            <a:avLst>
              <a:gd name="adj" fmla="val 50000"/>
            </a:avLst>
          </a:prstGeom>
          <a:solidFill>
            <a:srgbClr val="77B8A4"/>
          </a:solidFill>
        </p:spPr>
      </p:sp>
      <p:sp>
        <p:nvSpPr>
          <p:cNvPr id="15" name="Hình chữ nhật 14">
            <a:extLst>
              <a:ext uri="{FF2B5EF4-FFF2-40B4-BE49-F238E27FC236}">
                <a16:creationId xmlns:a16="http://schemas.microsoft.com/office/drawing/2014/main" id="{3AA9C0E4-90A2-4DDE-A7B2-4DF580923CE5}"/>
              </a:ext>
            </a:extLst>
          </p:cNvPr>
          <p:cNvSpPr>
            <a:spLocks noGrp="1"/>
          </p:cNvSpPr>
          <p:nvPr/>
        </p:nvSpPr>
        <p:spPr>
          <a:xfrm>
            <a:off x="9734550" y="2095500"/>
            <a:ext cx="7524750" cy="419100"/>
          </a:xfrm>
          <a:prstGeom prst="rect">
            <a:avLst/>
          </a:prstGeom>
        </p:spPr>
        <p:txBody>
          <a:bodyPr lIns="0" tIns="0" rIns="0" bIns="0"/>
          <a:lstStyle/>
          <a:p>
            <a:pPr>
              <a:lnSpc>
                <a:spcPct val="125000"/>
              </a:lnSpc>
              <a:buNone/>
              <a:defRPr sz="2175" b="1">
                <a:solidFill>
                  <a:srgbClr val="151515"/>
                </a:solidFill>
              </a:defRPr>
            </a:pPr>
            <a:r>
              <a:rPr sz="2175" b="1">
                <a:solidFill>
                  <a:srgbClr val="151515"/>
                </a:solidFill>
              </a:rPr>
              <a:t>Frontend controls</a:t>
            </a:r>
          </a:p>
        </p:txBody>
      </p:sp>
      <p:sp>
        <p:nvSpPr>
          <p:cNvPr id="16" name="Hình chữ nhật 15">
            <a:extLst>
              <a:ext uri="{FF2B5EF4-FFF2-40B4-BE49-F238E27FC236}">
                <a16:creationId xmlns:a16="http://schemas.microsoft.com/office/drawing/2014/main" id="{B1305EB8-87A6-4434-8E15-7EFDCC389C05}"/>
              </a:ext>
            </a:extLst>
          </p:cNvPr>
          <p:cNvSpPr>
            <a:spLocks noGrp="1"/>
          </p:cNvSpPr>
          <p:nvPr/>
        </p:nvSpPr>
        <p:spPr>
          <a:xfrm>
            <a:off x="9544050" y="2609850"/>
            <a:ext cx="7734300" cy="1828800"/>
          </a:xfrm>
          <a:prstGeom prst="rect">
            <a:avLst/>
          </a:prstGeom>
        </p:spPr>
        <p:txBody>
          <a:bodyPr lIns="0" tIns="0" rIns="0" bIns="0"/>
          <a:lstStyle/>
          <a:p>
            <a:pPr>
              <a:lnSpc>
                <a:spcPct val="120000"/>
              </a:lnSpc>
              <a:buNone/>
              <a:defRPr sz="1650">
                <a:solidFill>
                  <a:srgbClr val="647067"/>
                </a:solidFill>
              </a:defRPr>
            </a:pPr>
            <a:r>
              <a:rPr sz="1650">
                <a:solidFill>
                  <a:srgbClr val="647067"/>
                </a:solidFill>
              </a:rPr>
              <a:t>Route middleware auth.ts</a:t>
            </a:r>
          </a:p>
          <a:p>
            <a:pPr>
              <a:lnSpc>
                <a:spcPct val="120000"/>
              </a:lnSpc>
              <a:buNone/>
              <a:defRPr sz="1650">
                <a:solidFill>
                  <a:srgbClr val="647067"/>
                </a:solidFill>
              </a:defRPr>
            </a:pPr>
            <a:r>
              <a:rPr sz="1650">
                <a:solidFill>
                  <a:srgbClr val="647067"/>
                </a:solidFill>
              </a:rPr>
              <a:t>Route middleware admin.ts</a:t>
            </a:r>
          </a:p>
          <a:p>
            <a:pPr>
              <a:lnSpc>
                <a:spcPct val="120000"/>
              </a:lnSpc>
              <a:buNone/>
              <a:defRPr sz="1650">
                <a:solidFill>
                  <a:srgbClr val="647067"/>
                </a:solidFill>
              </a:defRPr>
            </a:pPr>
            <a:r>
              <a:rPr sz="1650">
                <a:solidFill>
                  <a:srgbClr val="647067"/>
                </a:solidFill>
              </a:rPr>
              <a:t>Route middleware guest.ts</a:t>
            </a:r>
          </a:p>
          <a:p>
            <a:pPr>
              <a:lnSpc>
                <a:spcPct val="120000"/>
              </a:lnSpc>
              <a:buNone/>
              <a:defRPr sz="1650">
                <a:solidFill>
                  <a:srgbClr val="647067"/>
                </a:solidFill>
              </a:defRPr>
            </a:pPr>
            <a:r>
              <a:rPr sz="1650">
                <a:solidFill>
                  <a:srgbClr val="647067"/>
                </a:solidFill>
              </a:rPr>
              <a:t>Auth token/state qua Pinia/composable</a:t>
            </a:r>
          </a:p>
          <a:p>
            <a:pPr>
              <a:lnSpc>
                <a:spcPct val="120000"/>
              </a:lnSpc>
              <a:buNone/>
              <a:defRPr sz="1650">
                <a:solidFill>
                  <a:srgbClr val="647067"/>
                </a:solidFill>
              </a:defRPr>
            </a:pPr>
            <a:r>
              <a:rPr sz="1650">
                <a:solidFill>
                  <a:srgbClr val="647067"/>
                </a:solidFill>
              </a:rPr>
              <a:t>UI phân vai customer/admin</a:t>
            </a:r>
          </a:p>
          <a:p>
            <a:pPr>
              <a:lnSpc>
                <a:spcPct val="120000"/>
              </a:lnSpc>
              <a:buNone/>
              <a:defRPr sz="1650">
                <a:solidFill>
                  <a:srgbClr val="647067"/>
                </a:solidFill>
              </a:defRPr>
            </a:pPr>
            <a:r>
              <a:rPr sz="1650">
                <a:solidFill>
                  <a:srgbClr val="647067"/>
                </a:solidFill>
              </a:rPr>
              <a:t>API client layer gom logic gọi backend</a:t>
            </a:r>
          </a:p>
        </p:txBody>
      </p:sp>
    </p:spTree>
    <p:extLst>
      <p:ext uri="{BB962C8B-B14F-4D97-AF65-F5344CB8AC3E}">
        <p14:creationId xmlns:p14="http://schemas.microsoft.com/office/powerpoint/2010/main" val="3839774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background">
            <a:extLst>
              <a:ext uri="{FF2B5EF4-FFF2-40B4-BE49-F238E27FC236}">
                <a16:creationId xmlns:a16="http://schemas.microsoft.com/office/drawing/2014/main" id="{92C9FC95-8623-46DC-A367-5E1959F30F64}"/>
              </a:ext>
            </a:extLst>
          </p:cNvPr>
          <p:cNvSpPr>
            <a:spLocks noGrp="1"/>
          </p:cNvSpPr>
          <p:nvPr/>
        </p:nvSpPr>
        <p:spPr>
          <a:xfrm>
            <a:off x="0" y="0"/>
            <a:ext cx="18288000" cy="10287000"/>
          </a:xfrm>
          <a:prstGeom prst="rect">
            <a:avLst/>
          </a:prstGeom>
          <a:solidFill>
            <a:srgbClr val="FFFDF8"/>
          </a:solidFill>
        </p:spPr>
      </p:sp>
      <p:sp>
        <p:nvSpPr>
          <p:cNvPr id="2" name="top-band">
            <a:extLst>
              <a:ext uri="{FF2B5EF4-FFF2-40B4-BE49-F238E27FC236}">
                <a16:creationId xmlns:a16="http://schemas.microsoft.com/office/drawing/2014/main" id="{67C918B3-D785-4FC6-BA46-C0E5D546A7C5}"/>
              </a:ext>
            </a:extLst>
          </p:cNvPr>
          <p:cNvSpPr>
            <a:spLocks noGrp="1"/>
          </p:cNvSpPr>
          <p:nvPr/>
        </p:nvSpPr>
        <p:spPr>
          <a:xfrm>
            <a:off x="0" y="0"/>
            <a:ext cx="18288000" cy="152400"/>
          </a:xfrm>
          <a:prstGeom prst="rect">
            <a:avLst/>
          </a:prstGeom>
          <a:solidFill>
            <a:srgbClr val="D9B760"/>
          </a:solidFill>
        </p:spPr>
      </p:sp>
      <p:sp>
        <p:nvSpPr>
          <p:cNvPr id="3" name="bottom-band">
            <a:extLst>
              <a:ext uri="{FF2B5EF4-FFF2-40B4-BE49-F238E27FC236}">
                <a16:creationId xmlns:a16="http://schemas.microsoft.com/office/drawing/2014/main" id="{638FD0EB-6906-4DB5-95F6-3F8C3E031605}"/>
              </a:ext>
            </a:extLst>
          </p:cNvPr>
          <p:cNvSpPr>
            <a:spLocks noGrp="1"/>
          </p:cNvSpPr>
          <p:nvPr/>
        </p:nvSpPr>
        <p:spPr>
          <a:xfrm>
            <a:off x="0" y="0"/>
            <a:ext cx="18288000" cy="76200"/>
          </a:xfrm>
          <a:prstGeom prst="rect">
            <a:avLst/>
          </a:prstGeom>
          <a:solidFill>
            <a:srgbClr val="D9B760"/>
          </a:solidFill>
        </p:spPr>
      </p:sp>
      <p:sp>
        <p:nvSpPr>
          <p:cNvPr id="4" name="Hình chữ nhật: Góc Tròn 3">
            <a:extLst>
              <a:ext uri="{FF2B5EF4-FFF2-40B4-BE49-F238E27FC236}">
                <a16:creationId xmlns:a16="http://schemas.microsoft.com/office/drawing/2014/main" id="{D7D07ACD-8D77-4EA1-A909-64D1547FAC08}"/>
              </a:ext>
            </a:extLst>
          </p:cNvPr>
          <p:cNvSpPr>
            <a:spLocks noGrp="1"/>
          </p:cNvSpPr>
          <p:nvPr/>
        </p:nvSpPr>
        <p:spPr>
          <a:xfrm>
            <a:off x="838200" y="647700"/>
            <a:ext cx="400050" cy="95250"/>
          </a:xfrm>
          <a:prstGeom prst="roundRect">
            <a:avLst>
              <a:gd name="adj" fmla="val 50000"/>
            </a:avLst>
          </a:prstGeom>
          <a:solidFill>
            <a:srgbClr val="D9B760"/>
          </a:solidFill>
        </p:spPr>
      </p:sp>
      <p:sp>
        <p:nvSpPr>
          <p:cNvPr id="5" name="Hình chữ nhật 4">
            <a:extLst>
              <a:ext uri="{FF2B5EF4-FFF2-40B4-BE49-F238E27FC236}">
                <a16:creationId xmlns:a16="http://schemas.microsoft.com/office/drawing/2014/main" id="{D18B0563-6A8A-40AF-B373-91FDFE639EB9}"/>
              </a:ext>
            </a:extLst>
          </p:cNvPr>
          <p:cNvSpPr>
            <a:spLocks noGrp="1"/>
          </p:cNvSpPr>
          <p:nvPr/>
        </p:nvSpPr>
        <p:spPr>
          <a:xfrm>
            <a:off x="1371600" y="571500"/>
            <a:ext cx="15544800" cy="228600"/>
          </a:xfrm>
          <a:prstGeom prst="rect">
            <a:avLst/>
          </a:prstGeom>
        </p:spPr>
        <p:txBody>
          <a:bodyPr lIns="0" tIns="0" rIns="0" bIns="0"/>
          <a:lstStyle/>
          <a:p>
            <a:pPr>
              <a:lnSpc>
                <a:spcPct val="125000"/>
              </a:lnSpc>
              <a:buNone/>
              <a:defRPr sz="1200" b="1">
                <a:solidFill>
                  <a:srgbClr val="7E3D4A"/>
                </a:solidFill>
              </a:defRPr>
            </a:pPr>
            <a:r>
              <a:rPr sz="1200" b="1">
                <a:solidFill>
                  <a:srgbClr val="7E3D4A"/>
                </a:solidFill>
              </a:rPr>
              <a:t>UI / I18N</a:t>
            </a:r>
          </a:p>
        </p:txBody>
      </p:sp>
      <p:sp>
        <p:nvSpPr>
          <p:cNvPr id="6" name="Hình chữ nhật 5">
            <a:extLst>
              <a:ext uri="{FF2B5EF4-FFF2-40B4-BE49-F238E27FC236}">
                <a16:creationId xmlns:a16="http://schemas.microsoft.com/office/drawing/2014/main" id="{A77BA22D-DD91-45EC-9C64-45BEDECFF71D}"/>
              </a:ext>
            </a:extLst>
          </p:cNvPr>
          <p:cNvSpPr>
            <a:spLocks noGrp="1"/>
          </p:cNvSpPr>
          <p:nvPr/>
        </p:nvSpPr>
        <p:spPr>
          <a:xfrm>
            <a:off x="17068800" y="571500"/>
            <a:ext cx="400050" cy="228600"/>
          </a:xfrm>
          <a:prstGeom prst="rect">
            <a:avLst/>
          </a:prstGeom>
        </p:spPr>
        <p:txBody>
          <a:bodyPr lIns="0" tIns="0" rIns="0" bIns="0"/>
          <a:lstStyle/>
          <a:p>
            <a:pPr>
              <a:lnSpc>
                <a:spcPct val="120000"/>
              </a:lnSpc>
              <a:buNone/>
              <a:defRPr sz="1275" b="1">
                <a:solidFill>
                  <a:srgbClr val="7E3D4A"/>
                </a:solidFill>
              </a:defRPr>
            </a:pPr>
            <a:r>
              <a:rPr sz="1275" b="1">
                <a:solidFill>
                  <a:srgbClr val="7E3D4A"/>
                </a:solidFill>
              </a:rPr>
              <a:t>23/30</a:t>
            </a:r>
          </a:p>
        </p:txBody>
      </p:sp>
      <p:sp>
        <p:nvSpPr>
          <p:cNvPr id="7" name="slide-title">
            <a:extLst>
              <a:ext uri="{FF2B5EF4-FFF2-40B4-BE49-F238E27FC236}">
                <a16:creationId xmlns:a16="http://schemas.microsoft.com/office/drawing/2014/main" id="{BC179C28-86AC-46EE-93B3-972C467963AD}"/>
              </a:ext>
            </a:extLst>
          </p:cNvPr>
          <p:cNvSpPr>
            <a:spLocks noGrp="1"/>
          </p:cNvSpPr>
          <p:nvPr/>
        </p:nvSpPr>
        <p:spPr>
          <a:xfrm>
            <a:off x="819150" y="933450"/>
            <a:ext cx="16649700" cy="590550"/>
          </a:xfrm>
          <a:prstGeom prst="rect">
            <a:avLst/>
          </a:prstGeom>
        </p:spPr>
        <p:txBody>
          <a:bodyPr lIns="0" tIns="0" rIns="0" bIns="0"/>
          <a:lstStyle/>
          <a:p>
            <a:pPr>
              <a:lnSpc>
                <a:spcPct val="105000"/>
              </a:lnSpc>
              <a:buNone/>
              <a:defRPr sz="3600" b="1">
                <a:solidFill>
                  <a:srgbClr val="151515"/>
                </a:solidFill>
              </a:defRPr>
            </a:pPr>
            <a:r>
              <a:rPr sz="3600" b="1">
                <a:solidFill>
                  <a:srgbClr val="151515"/>
                </a:solidFill>
              </a:rPr>
              <a:t>Giao diện luxury sáng, song ngữ Việt / Anh</a:t>
            </a:r>
          </a:p>
        </p:txBody>
      </p:sp>
      <p:sp>
        <p:nvSpPr>
          <p:cNvPr id="8" name="title-rule">
            <a:extLst>
              <a:ext uri="{FF2B5EF4-FFF2-40B4-BE49-F238E27FC236}">
                <a16:creationId xmlns:a16="http://schemas.microsoft.com/office/drawing/2014/main" id="{3B000E40-6313-4334-94DA-F3BEFB41A43A}"/>
              </a:ext>
            </a:extLst>
          </p:cNvPr>
          <p:cNvSpPr>
            <a:spLocks noGrp="1"/>
          </p:cNvSpPr>
          <p:nvPr/>
        </p:nvSpPr>
        <p:spPr>
          <a:xfrm>
            <a:off x="819150" y="1619250"/>
            <a:ext cx="1905000" cy="38100"/>
          </a:xfrm>
          <a:prstGeom prst="rect">
            <a:avLst/>
          </a:prstGeom>
          <a:solidFill>
            <a:srgbClr val="D9B760"/>
          </a:solidFill>
          <a:ln w="0">
            <a:solidFill>
              <a:srgbClr val="D9B760"/>
            </a:solidFill>
            <a:prstDash val="solid"/>
          </a:ln>
        </p:spPr>
      </p:sp>
      <p:sp>
        <p:nvSpPr>
          <p:cNvPr id="9" name="Hình chữ nhật: Góc Tròn 8">
            <a:extLst>
              <a:ext uri="{FF2B5EF4-FFF2-40B4-BE49-F238E27FC236}">
                <a16:creationId xmlns:a16="http://schemas.microsoft.com/office/drawing/2014/main" id="{84825E5A-D003-426B-AD20-F388323FF58C}"/>
              </a:ext>
            </a:extLst>
          </p:cNvPr>
          <p:cNvSpPr>
            <a:spLocks noGrp="1"/>
          </p:cNvSpPr>
          <p:nvPr/>
        </p:nvSpPr>
        <p:spPr>
          <a:xfrm>
            <a:off x="838200" y="4267200"/>
            <a:ext cx="95250" cy="876300"/>
          </a:xfrm>
          <a:prstGeom prst="roundRect">
            <a:avLst>
              <a:gd name="adj" fmla="val 50000"/>
            </a:avLst>
          </a:prstGeom>
          <a:solidFill>
            <a:srgbClr val="77B8A4"/>
          </a:solidFill>
        </p:spPr>
      </p:sp>
      <p:sp>
        <p:nvSpPr>
          <p:cNvPr id="10" name="Hình chữ nhật 9">
            <a:extLst>
              <a:ext uri="{FF2B5EF4-FFF2-40B4-BE49-F238E27FC236}">
                <a16:creationId xmlns:a16="http://schemas.microsoft.com/office/drawing/2014/main" id="{F61D7BAA-FDBE-4EA4-B472-0AE93953D0AA}"/>
              </a:ext>
            </a:extLst>
          </p:cNvPr>
          <p:cNvSpPr>
            <a:spLocks noGrp="1"/>
          </p:cNvSpPr>
          <p:nvPr/>
        </p:nvSpPr>
        <p:spPr>
          <a:xfrm>
            <a:off x="1085850" y="4305300"/>
            <a:ext cx="7848600" cy="400050"/>
          </a:xfrm>
          <a:prstGeom prst="rect">
            <a:avLst/>
          </a:prstGeom>
        </p:spPr>
        <p:txBody>
          <a:bodyPr lIns="0" tIns="0" rIns="0" bIns="0"/>
          <a:lstStyle/>
          <a:p>
            <a:pPr>
              <a:lnSpc>
                <a:spcPct val="125000"/>
              </a:lnSpc>
              <a:buNone/>
              <a:defRPr sz="2100" b="1">
                <a:solidFill>
                  <a:srgbClr val="151515"/>
                </a:solidFill>
              </a:defRPr>
            </a:pPr>
            <a:r>
              <a:rPr sz="2100" b="1">
                <a:solidFill>
                  <a:srgbClr val="151515"/>
                </a:solidFill>
              </a:rPr>
              <a:t>i18n</a:t>
            </a:r>
          </a:p>
        </p:txBody>
      </p:sp>
      <p:sp>
        <p:nvSpPr>
          <p:cNvPr id="11" name="Hình chữ nhật 10">
            <a:extLst>
              <a:ext uri="{FF2B5EF4-FFF2-40B4-BE49-F238E27FC236}">
                <a16:creationId xmlns:a16="http://schemas.microsoft.com/office/drawing/2014/main" id="{CAA9D6F6-6448-46C9-9FF9-2E068F411B57}"/>
              </a:ext>
            </a:extLst>
          </p:cNvPr>
          <p:cNvSpPr>
            <a:spLocks noGrp="1"/>
          </p:cNvSpPr>
          <p:nvPr/>
        </p:nvSpPr>
        <p:spPr>
          <a:xfrm>
            <a:off x="1085850" y="4762500"/>
            <a:ext cx="7848600" cy="304800"/>
          </a:xfrm>
          <a:prstGeom prst="rect">
            <a:avLst/>
          </a:prstGeom>
        </p:spPr>
        <p:txBody>
          <a:bodyPr lIns="0" tIns="0" rIns="0" bIns="0"/>
          <a:lstStyle/>
          <a:p>
            <a:pPr>
              <a:lnSpc>
                <a:spcPct val="122000"/>
              </a:lnSpc>
              <a:buNone/>
              <a:defRPr sz="1575">
                <a:solidFill>
                  <a:srgbClr val="647067"/>
                </a:solidFill>
              </a:defRPr>
            </a:pPr>
            <a:r>
              <a:rPr sz="1575">
                <a:solidFill>
                  <a:srgbClr val="647067"/>
                </a:solidFill>
              </a:rPr>
              <a:t>Hỗ trợ `vi` và `en`, mặc định tiếng Việt, locale files lazy-loaded.</a:t>
            </a:r>
          </a:p>
        </p:txBody>
      </p:sp>
      <p:sp>
        <p:nvSpPr>
          <p:cNvPr id="12" name="Hình chữ nhật: Góc Tròn 11">
            <a:extLst>
              <a:ext uri="{FF2B5EF4-FFF2-40B4-BE49-F238E27FC236}">
                <a16:creationId xmlns:a16="http://schemas.microsoft.com/office/drawing/2014/main" id="{85F961C4-3EC7-4256-8D7B-04C5EF2E2188}"/>
              </a:ext>
            </a:extLst>
          </p:cNvPr>
          <p:cNvSpPr>
            <a:spLocks noGrp="1"/>
          </p:cNvSpPr>
          <p:nvPr/>
        </p:nvSpPr>
        <p:spPr>
          <a:xfrm>
            <a:off x="838200" y="5410200"/>
            <a:ext cx="95250" cy="876300"/>
          </a:xfrm>
          <a:prstGeom prst="roundRect">
            <a:avLst>
              <a:gd name="adj" fmla="val 50000"/>
            </a:avLst>
          </a:prstGeom>
          <a:solidFill>
            <a:srgbClr val="D9B760"/>
          </a:solidFill>
        </p:spPr>
      </p:sp>
      <p:sp>
        <p:nvSpPr>
          <p:cNvPr id="13" name="Hình chữ nhật 12">
            <a:extLst>
              <a:ext uri="{FF2B5EF4-FFF2-40B4-BE49-F238E27FC236}">
                <a16:creationId xmlns:a16="http://schemas.microsoft.com/office/drawing/2014/main" id="{859A99B8-614F-428E-A1C0-0351E3DADEB9}"/>
              </a:ext>
            </a:extLst>
          </p:cNvPr>
          <p:cNvSpPr>
            <a:spLocks noGrp="1"/>
          </p:cNvSpPr>
          <p:nvPr/>
        </p:nvSpPr>
        <p:spPr>
          <a:xfrm>
            <a:off x="1085850" y="5391150"/>
            <a:ext cx="7848600" cy="400050"/>
          </a:xfrm>
          <a:prstGeom prst="rect">
            <a:avLst/>
          </a:prstGeom>
        </p:spPr>
        <p:txBody>
          <a:bodyPr lIns="0" tIns="0" rIns="0" bIns="0"/>
          <a:lstStyle/>
          <a:p>
            <a:pPr>
              <a:lnSpc>
                <a:spcPct val="125000"/>
              </a:lnSpc>
              <a:buNone/>
              <a:defRPr sz="2100" b="1">
                <a:solidFill>
                  <a:srgbClr val="151515"/>
                </a:solidFill>
              </a:defRPr>
            </a:pPr>
            <a:r>
              <a:rPr sz="2100" b="1">
                <a:solidFill>
                  <a:srgbClr val="151515"/>
                </a:solidFill>
              </a:rPr>
              <a:t>Typography</a:t>
            </a:r>
          </a:p>
        </p:txBody>
      </p:sp>
      <p:sp>
        <p:nvSpPr>
          <p:cNvPr id="14" name="Hình chữ nhật 13">
            <a:extLst>
              <a:ext uri="{FF2B5EF4-FFF2-40B4-BE49-F238E27FC236}">
                <a16:creationId xmlns:a16="http://schemas.microsoft.com/office/drawing/2014/main" id="{B77868FE-8A41-444B-9DE0-3F59D76E0269}"/>
              </a:ext>
            </a:extLst>
          </p:cNvPr>
          <p:cNvSpPr>
            <a:spLocks noGrp="1"/>
          </p:cNvSpPr>
          <p:nvPr/>
        </p:nvSpPr>
        <p:spPr>
          <a:xfrm>
            <a:off x="1085850" y="5848350"/>
            <a:ext cx="7848600" cy="304800"/>
          </a:xfrm>
          <a:prstGeom prst="rect">
            <a:avLst/>
          </a:prstGeom>
        </p:spPr>
        <p:txBody>
          <a:bodyPr lIns="0" tIns="0" rIns="0" bIns="0"/>
          <a:lstStyle/>
          <a:p>
            <a:pPr>
              <a:lnSpc>
                <a:spcPct val="122000"/>
              </a:lnSpc>
              <a:buNone/>
              <a:defRPr sz="1575">
                <a:solidFill>
                  <a:srgbClr val="647067"/>
                </a:solidFill>
              </a:defRPr>
            </a:pPr>
            <a:r>
              <a:rPr sz="1575">
                <a:solidFill>
                  <a:srgbClr val="647067"/>
                </a:solidFill>
              </a:rPr>
              <a:t>Serif cho tiêu đề lớn, sans-serif cho nội dung, ưu tiên khoảng trắng và ảnh sản phẩm.</a:t>
            </a:r>
          </a:p>
        </p:txBody>
      </p:sp>
      <p:sp>
        <p:nvSpPr>
          <p:cNvPr id="15" name="Hình chữ nhật: Góc Tròn 14">
            <a:extLst>
              <a:ext uri="{FF2B5EF4-FFF2-40B4-BE49-F238E27FC236}">
                <a16:creationId xmlns:a16="http://schemas.microsoft.com/office/drawing/2014/main" id="{7347F7CC-B150-4018-B2AF-396E35F98086}"/>
              </a:ext>
            </a:extLst>
          </p:cNvPr>
          <p:cNvSpPr>
            <a:spLocks noGrp="1"/>
          </p:cNvSpPr>
          <p:nvPr/>
        </p:nvSpPr>
        <p:spPr>
          <a:xfrm>
            <a:off x="838200" y="6477000"/>
            <a:ext cx="95250" cy="876300"/>
          </a:xfrm>
          <a:prstGeom prst="roundRect">
            <a:avLst>
              <a:gd name="adj" fmla="val 50000"/>
            </a:avLst>
          </a:prstGeom>
          <a:solidFill>
            <a:srgbClr val="F39A8A"/>
          </a:solidFill>
        </p:spPr>
      </p:sp>
      <p:sp>
        <p:nvSpPr>
          <p:cNvPr id="16" name="Hình chữ nhật 15">
            <a:extLst>
              <a:ext uri="{FF2B5EF4-FFF2-40B4-BE49-F238E27FC236}">
                <a16:creationId xmlns:a16="http://schemas.microsoft.com/office/drawing/2014/main" id="{7B4FBCDF-AD16-41A7-B6D1-23293D75AF26}"/>
              </a:ext>
            </a:extLst>
          </p:cNvPr>
          <p:cNvSpPr>
            <a:spLocks noGrp="1"/>
          </p:cNvSpPr>
          <p:nvPr/>
        </p:nvSpPr>
        <p:spPr>
          <a:xfrm>
            <a:off x="1085850" y="6477000"/>
            <a:ext cx="7848600" cy="400050"/>
          </a:xfrm>
          <a:prstGeom prst="rect">
            <a:avLst/>
          </a:prstGeom>
        </p:spPr>
        <p:txBody>
          <a:bodyPr lIns="0" tIns="0" rIns="0" bIns="0"/>
          <a:lstStyle/>
          <a:p>
            <a:pPr>
              <a:lnSpc>
                <a:spcPct val="125000"/>
              </a:lnSpc>
              <a:buNone/>
              <a:defRPr sz="2100" b="1">
                <a:solidFill>
                  <a:srgbClr val="151515"/>
                </a:solidFill>
              </a:defRPr>
            </a:pPr>
            <a:r>
              <a:rPr sz="2100" b="1">
                <a:solidFill>
                  <a:srgbClr val="151515"/>
                </a:solidFill>
              </a:rPr>
              <a:t>Design direction</a:t>
            </a:r>
          </a:p>
        </p:txBody>
      </p:sp>
      <p:sp>
        <p:nvSpPr>
          <p:cNvPr id="17" name="Hình chữ nhật 16">
            <a:extLst>
              <a:ext uri="{FF2B5EF4-FFF2-40B4-BE49-F238E27FC236}">
                <a16:creationId xmlns:a16="http://schemas.microsoft.com/office/drawing/2014/main" id="{AC460BFB-8893-437C-A76B-4A935B1BC881}"/>
              </a:ext>
            </a:extLst>
          </p:cNvPr>
          <p:cNvSpPr>
            <a:spLocks noGrp="1"/>
          </p:cNvSpPr>
          <p:nvPr/>
        </p:nvSpPr>
        <p:spPr>
          <a:xfrm>
            <a:off x="1085850" y="6934200"/>
            <a:ext cx="7848600" cy="304800"/>
          </a:xfrm>
          <a:prstGeom prst="rect">
            <a:avLst/>
          </a:prstGeom>
        </p:spPr>
        <p:txBody>
          <a:bodyPr lIns="0" tIns="0" rIns="0" bIns="0"/>
          <a:lstStyle/>
          <a:p>
            <a:pPr>
              <a:lnSpc>
                <a:spcPct val="122000"/>
              </a:lnSpc>
              <a:buNone/>
              <a:defRPr sz="1575">
                <a:solidFill>
                  <a:srgbClr val="647067"/>
                </a:solidFill>
              </a:defRPr>
            </a:pPr>
            <a:r>
              <a:rPr sz="1575">
                <a:solidFill>
                  <a:srgbClr val="647067"/>
                </a:solidFill>
              </a:rPr>
              <a:t>Luxury, tối giản, cao cấp, tập trung vào trải nghiệm mua hàng và AI chat.</a:t>
            </a:r>
          </a:p>
        </p:txBody>
      </p:sp>
      <p:sp>
        <p:nvSpPr>
          <p:cNvPr id="18" name="Hình chữ nhật 17">
            <a:extLst>
              <a:ext uri="{FF2B5EF4-FFF2-40B4-BE49-F238E27FC236}">
                <a16:creationId xmlns:a16="http://schemas.microsoft.com/office/drawing/2014/main" id="{8138EAF2-36CC-407B-B33D-2DFA4FCEFDB2}"/>
              </a:ext>
            </a:extLst>
          </p:cNvPr>
          <p:cNvSpPr>
            <a:spLocks noGrp="1"/>
          </p:cNvSpPr>
          <p:nvPr/>
        </p:nvSpPr>
        <p:spPr>
          <a:xfrm>
            <a:off x="9353550" y="4381500"/>
            <a:ext cx="8115300" cy="438150"/>
          </a:xfrm>
          <a:prstGeom prst="rect">
            <a:avLst/>
          </a:prstGeom>
        </p:spPr>
        <p:txBody>
          <a:bodyPr lIns="0" tIns="0" rIns="0" bIns="0"/>
          <a:lstStyle/>
          <a:p>
            <a:pPr>
              <a:lnSpc>
                <a:spcPct val="125000"/>
              </a:lnSpc>
              <a:buNone/>
              <a:defRPr sz="2250" b="1">
                <a:solidFill>
                  <a:srgbClr val="151515"/>
                </a:solidFill>
              </a:defRPr>
            </a:pPr>
            <a:r>
              <a:rPr sz="2250" b="1">
                <a:solidFill>
                  <a:srgbClr val="151515"/>
                </a:solidFill>
              </a:rPr>
              <a:t>Bảng màu sản phẩm</a:t>
            </a:r>
          </a:p>
        </p:txBody>
      </p:sp>
      <p:sp>
        <p:nvSpPr>
          <p:cNvPr id="19" name="Hình chữ nhật: Góc Tròn 18">
            <a:extLst>
              <a:ext uri="{FF2B5EF4-FFF2-40B4-BE49-F238E27FC236}">
                <a16:creationId xmlns:a16="http://schemas.microsoft.com/office/drawing/2014/main" id="{E343D427-E023-4F45-B776-24E7E5B650BB}"/>
              </a:ext>
            </a:extLst>
          </p:cNvPr>
          <p:cNvSpPr>
            <a:spLocks noGrp="1"/>
          </p:cNvSpPr>
          <p:nvPr/>
        </p:nvSpPr>
        <p:spPr>
          <a:xfrm>
            <a:off x="9353550" y="5025580"/>
            <a:ext cx="2590800" cy="1032129"/>
          </a:xfrm>
          <a:prstGeom prst="roundRect">
            <a:avLst>
              <a:gd name="adj" fmla="val 7383"/>
            </a:avLst>
          </a:prstGeom>
          <a:solidFill>
            <a:srgbClr val="F7F7F4"/>
          </a:solidFill>
          <a:ln w="9525">
            <a:solidFill>
              <a:srgbClr val="E8DDCF"/>
            </a:solidFill>
            <a:prstDash val="solid"/>
          </a:ln>
        </p:spPr>
      </p:sp>
      <p:sp>
        <p:nvSpPr>
          <p:cNvPr id="20" name="Hình chữ nhật: Góc Tròn 19">
            <a:extLst>
              <a:ext uri="{FF2B5EF4-FFF2-40B4-BE49-F238E27FC236}">
                <a16:creationId xmlns:a16="http://schemas.microsoft.com/office/drawing/2014/main" id="{CF68A320-7279-4628-9AC1-7CF3FFCA7713}"/>
              </a:ext>
            </a:extLst>
          </p:cNvPr>
          <p:cNvSpPr>
            <a:spLocks noGrp="1"/>
          </p:cNvSpPr>
          <p:nvPr/>
        </p:nvSpPr>
        <p:spPr>
          <a:xfrm>
            <a:off x="9563100" y="5219700"/>
            <a:ext cx="104775" cy="323850"/>
          </a:xfrm>
          <a:prstGeom prst="roundRect">
            <a:avLst>
              <a:gd name="adj" fmla="val 50000"/>
            </a:avLst>
          </a:prstGeom>
          <a:solidFill>
            <a:srgbClr val="151515"/>
          </a:solidFill>
        </p:spPr>
      </p:sp>
      <p:sp>
        <p:nvSpPr>
          <p:cNvPr id="21" name="Hình chữ nhật 20">
            <a:extLst>
              <a:ext uri="{FF2B5EF4-FFF2-40B4-BE49-F238E27FC236}">
                <a16:creationId xmlns:a16="http://schemas.microsoft.com/office/drawing/2014/main" id="{88ECD65A-BD26-40E1-BA3E-0B95211EF410}"/>
              </a:ext>
            </a:extLst>
          </p:cNvPr>
          <p:cNvSpPr>
            <a:spLocks noGrp="1"/>
          </p:cNvSpPr>
          <p:nvPr/>
        </p:nvSpPr>
        <p:spPr>
          <a:xfrm>
            <a:off x="9772650" y="5200650"/>
            <a:ext cx="198120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Black</a:t>
            </a:r>
          </a:p>
        </p:txBody>
      </p:sp>
      <p:sp>
        <p:nvSpPr>
          <p:cNvPr id="22" name="Hình chữ nhật 21">
            <a:extLst>
              <a:ext uri="{FF2B5EF4-FFF2-40B4-BE49-F238E27FC236}">
                <a16:creationId xmlns:a16="http://schemas.microsoft.com/office/drawing/2014/main" id="{4EADF055-1C6C-4EAD-848A-528A995B1BFA}"/>
              </a:ext>
            </a:extLst>
          </p:cNvPr>
          <p:cNvSpPr>
            <a:spLocks noGrp="1"/>
          </p:cNvSpPr>
          <p:nvPr/>
        </p:nvSpPr>
        <p:spPr>
          <a:xfrm>
            <a:off x="9563100" y="5619750"/>
            <a:ext cx="2171700" cy="266700"/>
          </a:xfrm>
          <a:prstGeom prst="rect">
            <a:avLst/>
          </a:prstGeom>
        </p:spPr>
        <p:txBody>
          <a:bodyPr lIns="0" tIns="0" rIns="0" bIns="0"/>
          <a:lstStyle/>
          <a:p>
            <a:pPr>
              <a:lnSpc>
                <a:spcPct val="120000"/>
              </a:lnSpc>
              <a:buNone/>
              <a:defRPr sz="1425">
                <a:solidFill>
                  <a:srgbClr val="647067"/>
                </a:solidFill>
              </a:defRPr>
            </a:pPr>
            <a:r>
              <a:rPr sz="1425">
                <a:solidFill>
                  <a:srgbClr val="647067"/>
                </a:solidFill>
              </a:rPr>
              <a:t>#0A0A0A</a:t>
            </a:r>
          </a:p>
        </p:txBody>
      </p:sp>
      <p:sp>
        <p:nvSpPr>
          <p:cNvPr id="23" name="Hình chữ nhật: Góc Tròn 22">
            <a:extLst>
              <a:ext uri="{FF2B5EF4-FFF2-40B4-BE49-F238E27FC236}">
                <a16:creationId xmlns:a16="http://schemas.microsoft.com/office/drawing/2014/main" id="{299C2084-F2ED-4BFD-95C8-48818E3F6825}"/>
              </a:ext>
            </a:extLst>
          </p:cNvPr>
          <p:cNvSpPr>
            <a:spLocks noGrp="1"/>
          </p:cNvSpPr>
          <p:nvPr/>
        </p:nvSpPr>
        <p:spPr>
          <a:xfrm>
            <a:off x="12115800" y="5025580"/>
            <a:ext cx="2590800" cy="1032129"/>
          </a:xfrm>
          <a:prstGeom prst="roundRect">
            <a:avLst>
              <a:gd name="adj" fmla="val 7383"/>
            </a:avLst>
          </a:prstGeom>
          <a:solidFill>
            <a:srgbClr val="FFFDF8"/>
          </a:solidFill>
          <a:ln w="9525">
            <a:solidFill>
              <a:srgbClr val="E8DDCF"/>
            </a:solidFill>
            <a:prstDash val="solid"/>
          </a:ln>
        </p:spPr>
      </p:sp>
      <p:sp>
        <p:nvSpPr>
          <p:cNvPr id="24" name="Hình chữ nhật: Góc Tròn 23">
            <a:extLst>
              <a:ext uri="{FF2B5EF4-FFF2-40B4-BE49-F238E27FC236}">
                <a16:creationId xmlns:a16="http://schemas.microsoft.com/office/drawing/2014/main" id="{5464C76F-7B7F-4F2E-8483-4C9B4FF0F1C3}"/>
              </a:ext>
            </a:extLst>
          </p:cNvPr>
          <p:cNvSpPr>
            <a:spLocks noGrp="1"/>
          </p:cNvSpPr>
          <p:nvPr/>
        </p:nvSpPr>
        <p:spPr>
          <a:xfrm>
            <a:off x="12344400" y="5219700"/>
            <a:ext cx="104775" cy="323850"/>
          </a:xfrm>
          <a:prstGeom prst="roundRect">
            <a:avLst>
              <a:gd name="adj" fmla="val 50000"/>
            </a:avLst>
          </a:prstGeom>
          <a:solidFill>
            <a:srgbClr val="D9B760"/>
          </a:solidFill>
        </p:spPr>
      </p:sp>
      <p:sp>
        <p:nvSpPr>
          <p:cNvPr id="25" name="Hình chữ nhật 24">
            <a:extLst>
              <a:ext uri="{FF2B5EF4-FFF2-40B4-BE49-F238E27FC236}">
                <a16:creationId xmlns:a16="http://schemas.microsoft.com/office/drawing/2014/main" id="{7BFA2F00-7C13-4E9B-B33D-54C183D44329}"/>
              </a:ext>
            </a:extLst>
          </p:cNvPr>
          <p:cNvSpPr>
            <a:spLocks noGrp="1"/>
          </p:cNvSpPr>
          <p:nvPr/>
        </p:nvSpPr>
        <p:spPr>
          <a:xfrm>
            <a:off x="12534900" y="5200650"/>
            <a:ext cx="198120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Cream</a:t>
            </a:r>
          </a:p>
        </p:txBody>
      </p:sp>
      <p:sp>
        <p:nvSpPr>
          <p:cNvPr id="26" name="Hình chữ nhật 25">
            <a:extLst>
              <a:ext uri="{FF2B5EF4-FFF2-40B4-BE49-F238E27FC236}">
                <a16:creationId xmlns:a16="http://schemas.microsoft.com/office/drawing/2014/main" id="{1C725CC5-2B03-41F2-9ED9-A4413DF31F2F}"/>
              </a:ext>
            </a:extLst>
          </p:cNvPr>
          <p:cNvSpPr>
            <a:spLocks noGrp="1"/>
          </p:cNvSpPr>
          <p:nvPr/>
        </p:nvSpPr>
        <p:spPr>
          <a:xfrm>
            <a:off x="12325350" y="5619750"/>
            <a:ext cx="2171700" cy="266700"/>
          </a:xfrm>
          <a:prstGeom prst="rect">
            <a:avLst/>
          </a:prstGeom>
        </p:spPr>
        <p:txBody>
          <a:bodyPr lIns="0" tIns="0" rIns="0" bIns="0"/>
          <a:lstStyle/>
          <a:p>
            <a:pPr>
              <a:lnSpc>
                <a:spcPct val="120000"/>
              </a:lnSpc>
              <a:buNone/>
              <a:defRPr sz="1425">
                <a:solidFill>
                  <a:srgbClr val="647067"/>
                </a:solidFill>
              </a:defRPr>
            </a:pPr>
            <a:r>
              <a:rPr sz="1425">
                <a:solidFill>
                  <a:srgbClr val="647067"/>
                </a:solidFill>
              </a:rPr>
              <a:t>#FAF9F6</a:t>
            </a:r>
          </a:p>
        </p:txBody>
      </p:sp>
      <p:sp>
        <p:nvSpPr>
          <p:cNvPr id="27" name="Hình chữ nhật: Góc Tròn 26">
            <a:extLst>
              <a:ext uri="{FF2B5EF4-FFF2-40B4-BE49-F238E27FC236}">
                <a16:creationId xmlns:a16="http://schemas.microsoft.com/office/drawing/2014/main" id="{40265DF2-7EC3-421B-9CEB-CB7825CA9B3F}"/>
              </a:ext>
            </a:extLst>
          </p:cNvPr>
          <p:cNvSpPr>
            <a:spLocks noGrp="1"/>
          </p:cNvSpPr>
          <p:nvPr/>
        </p:nvSpPr>
        <p:spPr>
          <a:xfrm>
            <a:off x="14878050" y="5025580"/>
            <a:ext cx="2590800" cy="1032129"/>
          </a:xfrm>
          <a:prstGeom prst="roundRect">
            <a:avLst>
              <a:gd name="adj" fmla="val 7383"/>
            </a:avLst>
          </a:prstGeom>
          <a:solidFill>
            <a:srgbClr val="FFF8DD"/>
          </a:solidFill>
          <a:ln w="9525">
            <a:solidFill>
              <a:srgbClr val="E8DDCF"/>
            </a:solidFill>
            <a:prstDash val="solid"/>
          </a:ln>
        </p:spPr>
      </p:sp>
      <p:sp>
        <p:nvSpPr>
          <p:cNvPr id="28" name="Hình chữ nhật: Góc Tròn 27">
            <a:extLst>
              <a:ext uri="{FF2B5EF4-FFF2-40B4-BE49-F238E27FC236}">
                <a16:creationId xmlns:a16="http://schemas.microsoft.com/office/drawing/2014/main" id="{44EB7FBB-3D3F-491D-A7BC-C5E915CE7839}"/>
              </a:ext>
            </a:extLst>
          </p:cNvPr>
          <p:cNvSpPr>
            <a:spLocks noGrp="1"/>
          </p:cNvSpPr>
          <p:nvPr/>
        </p:nvSpPr>
        <p:spPr>
          <a:xfrm>
            <a:off x="15087600" y="5219700"/>
            <a:ext cx="104775" cy="323850"/>
          </a:xfrm>
          <a:prstGeom prst="roundRect">
            <a:avLst>
              <a:gd name="adj" fmla="val 50000"/>
            </a:avLst>
          </a:prstGeom>
          <a:solidFill>
            <a:srgbClr val="D9B760"/>
          </a:solidFill>
        </p:spPr>
      </p:sp>
      <p:sp>
        <p:nvSpPr>
          <p:cNvPr id="29" name="Hình chữ nhật 28">
            <a:extLst>
              <a:ext uri="{FF2B5EF4-FFF2-40B4-BE49-F238E27FC236}">
                <a16:creationId xmlns:a16="http://schemas.microsoft.com/office/drawing/2014/main" id="{F324B660-F74B-4C26-B758-DCEE4022E706}"/>
              </a:ext>
            </a:extLst>
          </p:cNvPr>
          <p:cNvSpPr>
            <a:spLocks noGrp="1"/>
          </p:cNvSpPr>
          <p:nvPr/>
        </p:nvSpPr>
        <p:spPr>
          <a:xfrm>
            <a:off x="15297150" y="5200650"/>
            <a:ext cx="198120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Gold</a:t>
            </a:r>
          </a:p>
        </p:txBody>
      </p:sp>
      <p:sp>
        <p:nvSpPr>
          <p:cNvPr id="30" name="Hình chữ nhật 29">
            <a:extLst>
              <a:ext uri="{FF2B5EF4-FFF2-40B4-BE49-F238E27FC236}">
                <a16:creationId xmlns:a16="http://schemas.microsoft.com/office/drawing/2014/main" id="{8A304966-9350-4AC6-993F-05738FD0C038}"/>
              </a:ext>
            </a:extLst>
          </p:cNvPr>
          <p:cNvSpPr>
            <a:spLocks noGrp="1"/>
          </p:cNvSpPr>
          <p:nvPr/>
        </p:nvSpPr>
        <p:spPr>
          <a:xfrm>
            <a:off x="15087600" y="5619750"/>
            <a:ext cx="2171700" cy="266700"/>
          </a:xfrm>
          <a:prstGeom prst="rect">
            <a:avLst/>
          </a:prstGeom>
        </p:spPr>
        <p:txBody>
          <a:bodyPr lIns="0" tIns="0" rIns="0" bIns="0"/>
          <a:lstStyle/>
          <a:p>
            <a:pPr>
              <a:lnSpc>
                <a:spcPct val="120000"/>
              </a:lnSpc>
              <a:buNone/>
              <a:defRPr sz="1425">
                <a:solidFill>
                  <a:srgbClr val="647067"/>
                </a:solidFill>
              </a:defRPr>
            </a:pPr>
            <a:r>
              <a:rPr sz="1425">
                <a:solidFill>
                  <a:srgbClr val="647067"/>
                </a:solidFill>
              </a:rPr>
              <a:t>#D4AF37</a:t>
            </a:r>
          </a:p>
        </p:txBody>
      </p:sp>
      <p:sp>
        <p:nvSpPr>
          <p:cNvPr id="31" name="Hình chữ nhật: Góc Tròn 30">
            <a:extLst>
              <a:ext uri="{FF2B5EF4-FFF2-40B4-BE49-F238E27FC236}">
                <a16:creationId xmlns:a16="http://schemas.microsoft.com/office/drawing/2014/main" id="{53CD8E64-07D3-440D-9261-09448FFB25E9}"/>
              </a:ext>
            </a:extLst>
          </p:cNvPr>
          <p:cNvSpPr>
            <a:spLocks noGrp="1"/>
          </p:cNvSpPr>
          <p:nvPr/>
        </p:nvSpPr>
        <p:spPr>
          <a:xfrm>
            <a:off x="9353550" y="6229159"/>
            <a:ext cx="2590800" cy="1032129"/>
          </a:xfrm>
          <a:prstGeom prst="roundRect">
            <a:avLst>
              <a:gd name="adj" fmla="val 7383"/>
            </a:avLst>
          </a:prstGeom>
          <a:solidFill>
            <a:srgbClr val="F7E7EA"/>
          </a:solidFill>
          <a:ln w="9525">
            <a:solidFill>
              <a:srgbClr val="E8DDCF"/>
            </a:solidFill>
            <a:prstDash val="solid"/>
          </a:ln>
        </p:spPr>
      </p:sp>
      <p:sp>
        <p:nvSpPr>
          <p:cNvPr id="32" name="Hình chữ nhật: Góc Tròn 31">
            <a:extLst>
              <a:ext uri="{FF2B5EF4-FFF2-40B4-BE49-F238E27FC236}">
                <a16:creationId xmlns:a16="http://schemas.microsoft.com/office/drawing/2014/main" id="{B6577F86-02F3-418B-8632-D7B5855A33F8}"/>
              </a:ext>
            </a:extLst>
          </p:cNvPr>
          <p:cNvSpPr>
            <a:spLocks noGrp="1"/>
          </p:cNvSpPr>
          <p:nvPr/>
        </p:nvSpPr>
        <p:spPr>
          <a:xfrm>
            <a:off x="9563100" y="6400800"/>
            <a:ext cx="104775" cy="323850"/>
          </a:xfrm>
          <a:prstGeom prst="roundRect">
            <a:avLst>
              <a:gd name="adj" fmla="val 50000"/>
            </a:avLst>
          </a:prstGeom>
          <a:solidFill>
            <a:srgbClr val="7E3D4A"/>
          </a:solidFill>
        </p:spPr>
      </p:sp>
      <p:sp>
        <p:nvSpPr>
          <p:cNvPr id="33" name="Hình chữ nhật 32">
            <a:extLst>
              <a:ext uri="{FF2B5EF4-FFF2-40B4-BE49-F238E27FC236}">
                <a16:creationId xmlns:a16="http://schemas.microsoft.com/office/drawing/2014/main" id="{8F706278-B373-4B7C-981A-B950305D83D6}"/>
              </a:ext>
            </a:extLst>
          </p:cNvPr>
          <p:cNvSpPr>
            <a:spLocks noGrp="1"/>
          </p:cNvSpPr>
          <p:nvPr/>
        </p:nvSpPr>
        <p:spPr>
          <a:xfrm>
            <a:off x="9772650" y="6400800"/>
            <a:ext cx="198120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Burgundy</a:t>
            </a:r>
          </a:p>
        </p:txBody>
      </p:sp>
      <p:sp>
        <p:nvSpPr>
          <p:cNvPr id="34" name="Hình chữ nhật 33">
            <a:extLst>
              <a:ext uri="{FF2B5EF4-FFF2-40B4-BE49-F238E27FC236}">
                <a16:creationId xmlns:a16="http://schemas.microsoft.com/office/drawing/2014/main" id="{261D550F-0A60-41C3-AFA3-4FB5AE95D813}"/>
              </a:ext>
            </a:extLst>
          </p:cNvPr>
          <p:cNvSpPr>
            <a:spLocks noGrp="1"/>
          </p:cNvSpPr>
          <p:nvPr/>
        </p:nvSpPr>
        <p:spPr>
          <a:xfrm>
            <a:off x="9563100" y="6819900"/>
            <a:ext cx="2171700" cy="266700"/>
          </a:xfrm>
          <a:prstGeom prst="rect">
            <a:avLst/>
          </a:prstGeom>
        </p:spPr>
        <p:txBody>
          <a:bodyPr lIns="0" tIns="0" rIns="0" bIns="0"/>
          <a:lstStyle/>
          <a:p>
            <a:pPr>
              <a:lnSpc>
                <a:spcPct val="120000"/>
              </a:lnSpc>
              <a:buNone/>
              <a:defRPr sz="1425">
                <a:solidFill>
                  <a:srgbClr val="647067"/>
                </a:solidFill>
              </a:defRPr>
            </a:pPr>
            <a:r>
              <a:rPr sz="1425">
                <a:solidFill>
                  <a:srgbClr val="647067"/>
                </a:solidFill>
              </a:rPr>
              <a:t>#722F37</a:t>
            </a:r>
          </a:p>
        </p:txBody>
      </p:sp>
      <p:sp>
        <p:nvSpPr>
          <p:cNvPr id="35" name="Hình chữ nhật: Góc Tròn 34">
            <a:extLst>
              <a:ext uri="{FF2B5EF4-FFF2-40B4-BE49-F238E27FC236}">
                <a16:creationId xmlns:a16="http://schemas.microsoft.com/office/drawing/2014/main" id="{94B28B39-102B-47CB-8E87-F94EE3E7C649}"/>
              </a:ext>
            </a:extLst>
          </p:cNvPr>
          <p:cNvSpPr>
            <a:spLocks noGrp="1"/>
          </p:cNvSpPr>
          <p:nvPr/>
        </p:nvSpPr>
        <p:spPr>
          <a:xfrm>
            <a:off x="12115800" y="6229159"/>
            <a:ext cx="2590800" cy="1032129"/>
          </a:xfrm>
          <a:prstGeom prst="roundRect">
            <a:avLst>
              <a:gd name="adj" fmla="val 7383"/>
            </a:avLst>
          </a:prstGeom>
          <a:solidFill>
            <a:srgbClr val="EAF2F8"/>
          </a:solidFill>
          <a:ln w="9525">
            <a:solidFill>
              <a:srgbClr val="E8DDCF"/>
            </a:solidFill>
            <a:prstDash val="solid"/>
          </a:ln>
        </p:spPr>
      </p:sp>
      <p:sp>
        <p:nvSpPr>
          <p:cNvPr id="36" name="Hình chữ nhật: Góc Tròn 35">
            <a:extLst>
              <a:ext uri="{FF2B5EF4-FFF2-40B4-BE49-F238E27FC236}">
                <a16:creationId xmlns:a16="http://schemas.microsoft.com/office/drawing/2014/main" id="{391F58A3-144B-42A0-A89C-44439C12AB80}"/>
              </a:ext>
            </a:extLst>
          </p:cNvPr>
          <p:cNvSpPr>
            <a:spLocks noGrp="1"/>
          </p:cNvSpPr>
          <p:nvPr/>
        </p:nvSpPr>
        <p:spPr>
          <a:xfrm>
            <a:off x="12344400" y="6400800"/>
            <a:ext cx="104775" cy="323850"/>
          </a:xfrm>
          <a:prstGeom prst="roundRect">
            <a:avLst>
              <a:gd name="adj" fmla="val 50000"/>
            </a:avLst>
          </a:prstGeom>
          <a:solidFill>
            <a:srgbClr val="25384A"/>
          </a:solidFill>
        </p:spPr>
      </p:sp>
      <p:sp>
        <p:nvSpPr>
          <p:cNvPr id="37" name="Hình chữ nhật 36">
            <a:extLst>
              <a:ext uri="{FF2B5EF4-FFF2-40B4-BE49-F238E27FC236}">
                <a16:creationId xmlns:a16="http://schemas.microsoft.com/office/drawing/2014/main" id="{A47F1DF4-E08D-4A0C-900E-C04DCBED924C}"/>
              </a:ext>
            </a:extLst>
          </p:cNvPr>
          <p:cNvSpPr>
            <a:spLocks noGrp="1"/>
          </p:cNvSpPr>
          <p:nvPr/>
        </p:nvSpPr>
        <p:spPr>
          <a:xfrm>
            <a:off x="12534900" y="6400800"/>
            <a:ext cx="198120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Navy</a:t>
            </a:r>
          </a:p>
        </p:txBody>
      </p:sp>
      <p:sp>
        <p:nvSpPr>
          <p:cNvPr id="38" name="Hình chữ nhật 37">
            <a:extLst>
              <a:ext uri="{FF2B5EF4-FFF2-40B4-BE49-F238E27FC236}">
                <a16:creationId xmlns:a16="http://schemas.microsoft.com/office/drawing/2014/main" id="{FDF35371-8CC7-4FB9-9C7D-A5F0D23A9676}"/>
              </a:ext>
            </a:extLst>
          </p:cNvPr>
          <p:cNvSpPr>
            <a:spLocks noGrp="1"/>
          </p:cNvSpPr>
          <p:nvPr/>
        </p:nvSpPr>
        <p:spPr>
          <a:xfrm>
            <a:off x="12325350" y="6819900"/>
            <a:ext cx="2171700" cy="266700"/>
          </a:xfrm>
          <a:prstGeom prst="rect">
            <a:avLst/>
          </a:prstGeom>
        </p:spPr>
        <p:txBody>
          <a:bodyPr lIns="0" tIns="0" rIns="0" bIns="0"/>
          <a:lstStyle/>
          <a:p>
            <a:pPr>
              <a:lnSpc>
                <a:spcPct val="120000"/>
              </a:lnSpc>
              <a:buNone/>
              <a:defRPr sz="1425">
                <a:solidFill>
                  <a:srgbClr val="647067"/>
                </a:solidFill>
              </a:defRPr>
            </a:pPr>
            <a:r>
              <a:rPr sz="1425">
                <a:solidFill>
                  <a:srgbClr val="647067"/>
                </a:solidFill>
              </a:rPr>
              <a:t>#041E42</a:t>
            </a:r>
          </a:p>
        </p:txBody>
      </p:sp>
      <p:sp>
        <p:nvSpPr>
          <p:cNvPr id="39" name="Hình chữ nhật: Góc Tròn 38">
            <a:extLst>
              <a:ext uri="{FF2B5EF4-FFF2-40B4-BE49-F238E27FC236}">
                <a16:creationId xmlns:a16="http://schemas.microsoft.com/office/drawing/2014/main" id="{8FDB5E0E-D3EB-4FCE-94F0-89B639BDD90C}"/>
              </a:ext>
            </a:extLst>
          </p:cNvPr>
          <p:cNvSpPr>
            <a:spLocks noGrp="1"/>
          </p:cNvSpPr>
          <p:nvPr/>
        </p:nvSpPr>
        <p:spPr>
          <a:xfrm>
            <a:off x="14878050" y="6229159"/>
            <a:ext cx="2590800" cy="1032129"/>
          </a:xfrm>
          <a:prstGeom prst="roundRect">
            <a:avLst>
              <a:gd name="adj" fmla="val 7383"/>
            </a:avLst>
          </a:prstGeom>
          <a:solidFill>
            <a:srgbClr val="FFFFFF"/>
          </a:solidFill>
          <a:ln w="9525">
            <a:solidFill>
              <a:srgbClr val="E8DDCF"/>
            </a:solidFill>
            <a:prstDash val="solid"/>
          </a:ln>
        </p:spPr>
      </p:sp>
      <p:sp>
        <p:nvSpPr>
          <p:cNvPr id="40" name="Hình chữ nhật: Góc Tròn 39">
            <a:extLst>
              <a:ext uri="{FF2B5EF4-FFF2-40B4-BE49-F238E27FC236}">
                <a16:creationId xmlns:a16="http://schemas.microsoft.com/office/drawing/2014/main" id="{CECF8F81-1962-4370-A6E5-A4F936306B02}"/>
              </a:ext>
            </a:extLst>
          </p:cNvPr>
          <p:cNvSpPr>
            <a:spLocks noGrp="1"/>
          </p:cNvSpPr>
          <p:nvPr/>
        </p:nvSpPr>
        <p:spPr>
          <a:xfrm>
            <a:off x="15087600" y="6400800"/>
            <a:ext cx="104775" cy="323850"/>
          </a:xfrm>
          <a:prstGeom prst="roundRect">
            <a:avLst>
              <a:gd name="adj" fmla="val 50000"/>
            </a:avLst>
          </a:prstGeom>
          <a:solidFill>
            <a:srgbClr val="77B8A4"/>
          </a:solidFill>
        </p:spPr>
      </p:sp>
      <p:sp>
        <p:nvSpPr>
          <p:cNvPr id="41" name="Hình chữ nhật 40">
            <a:extLst>
              <a:ext uri="{FF2B5EF4-FFF2-40B4-BE49-F238E27FC236}">
                <a16:creationId xmlns:a16="http://schemas.microsoft.com/office/drawing/2014/main" id="{14006537-9F0A-48EB-8FB9-FEC2A17A83D7}"/>
              </a:ext>
            </a:extLst>
          </p:cNvPr>
          <p:cNvSpPr>
            <a:spLocks noGrp="1"/>
          </p:cNvSpPr>
          <p:nvPr/>
        </p:nvSpPr>
        <p:spPr>
          <a:xfrm>
            <a:off x="15297150" y="6400800"/>
            <a:ext cx="198120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White</a:t>
            </a:r>
          </a:p>
        </p:txBody>
      </p:sp>
      <p:sp>
        <p:nvSpPr>
          <p:cNvPr id="42" name="Hình chữ nhật 41">
            <a:extLst>
              <a:ext uri="{FF2B5EF4-FFF2-40B4-BE49-F238E27FC236}">
                <a16:creationId xmlns:a16="http://schemas.microsoft.com/office/drawing/2014/main" id="{4B4DE269-E5AE-4D6C-9F61-E2C96C99605E}"/>
              </a:ext>
            </a:extLst>
          </p:cNvPr>
          <p:cNvSpPr>
            <a:spLocks noGrp="1"/>
          </p:cNvSpPr>
          <p:nvPr/>
        </p:nvSpPr>
        <p:spPr>
          <a:xfrm>
            <a:off x="15087600" y="6819900"/>
            <a:ext cx="2171700" cy="266700"/>
          </a:xfrm>
          <a:prstGeom prst="rect">
            <a:avLst/>
          </a:prstGeom>
        </p:spPr>
        <p:txBody>
          <a:bodyPr lIns="0" tIns="0" rIns="0" bIns="0"/>
          <a:lstStyle/>
          <a:p>
            <a:pPr>
              <a:lnSpc>
                <a:spcPct val="120000"/>
              </a:lnSpc>
              <a:buNone/>
              <a:defRPr sz="1425">
                <a:solidFill>
                  <a:srgbClr val="647067"/>
                </a:solidFill>
              </a:defRPr>
            </a:pPr>
            <a:r>
              <a:rPr sz="1425">
                <a:solidFill>
                  <a:srgbClr val="647067"/>
                </a:solidFill>
              </a:rPr>
              <a:t>#FFFFFF</a:t>
            </a:r>
          </a:p>
        </p:txBody>
      </p:sp>
    </p:spTree>
    <p:extLst>
      <p:ext uri="{BB962C8B-B14F-4D97-AF65-F5344CB8AC3E}">
        <p14:creationId xmlns:p14="http://schemas.microsoft.com/office/powerpoint/2010/main" val="1437521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background">
            <a:extLst>
              <a:ext uri="{FF2B5EF4-FFF2-40B4-BE49-F238E27FC236}">
                <a16:creationId xmlns:a16="http://schemas.microsoft.com/office/drawing/2014/main" id="{4BA13135-7B67-49B6-9922-6DC27C5D5BDB}"/>
              </a:ext>
            </a:extLst>
          </p:cNvPr>
          <p:cNvSpPr>
            <a:spLocks noGrp="1"/>
          </p:cNvSpPr>
          <p:nvPr/>
        </p:nvSpPr>
        <p:spPr>
          <a:xfrm>
            <a:off x="0" y="0"/>
            <a:ext cx="18288000" cy="10287000"/>
          </a:xfrm>
          <a:prstGeom prst="rect">
            <a:avLst/>
          </a:prstGeom>
          <a:solidFill>
            <a:srgbClr val="FFFDF8"/>
          </a:solidFill>
        </p:spPr>
      </p:sp>
      <p:sp>
        <p:nvSpPr>
          <p:cNvPr id="2" name="top-band">
            <a:extLst>
              <a:ext uri="{FF2B5EF4-FFF2-40B4-BE49-F238E27FC236}">
                <a16:creationId xmlns:a16="http://schemas.microsoft.com/office/drawing/2014/main" id="{BFCACD3B-6805-4529-821E-0EE310CC0114}"/>
              </a:ext>
            </a:extLst>
          </p:cNvPr>
          <p:cNvSpPr>
            <a:spLocks noGrp="1"/>
          </p:cNvSpPr>
          <p:nvPr/>
        </p:nvSpPr>
        <p:spPr>
          <a:xfrm>
            <a:off x="0" y="0"/>
            <a:ext cx="18288000" cy="152400"/>
          </a:xfrm>
          <a:prstGeom prst="rect">
            <a:avLst/>
          </a:prstGeom>
          <a:solidFill>
            <a:srgbClr val="77B8A4"/>
          </a:solidFill>
        </p:spPr>
      </p:sp>
      <p:sp>
        <p:nvSpPr>
          <p:cNvPr id="3" name="bottom-band">
            <a:extLst>
              <a:ext uri="{FF2B5EF4-FFF2-40B4-BE49-F238E27FC236}">
                <a16:creationId xmlns:a16="http://schemas.microsoft.com/office/drawing/2014/main" id="{F021FEE4-DF29-4753-9FF6-15FB2B3770FD}"/>
              </a:ext>
            </a:extLst>
          </p:cNvPr>
          <p:cNvSpPr>
            <a:spLocks noGrp="1"/>
          </p:cNvSpPr>
          <p:nvPr/>
        </p:nvSpPr>
        <p:spPr>
          <a:xfrm>
            <a:off x="0" y="0"/>
            <a:ext cx="18288000" cy="76200"/>
          </a:xfrm>
          <a:prstGeom prst="rect">
            <a:avLst/>
          </a:prstGeom>
          <a:solidFill>
            <a:srgbClr val="D9B760"/>
          </a:solidFill>
        </p:spPr>
      </p:sp>
      <p:sp>
        <p:nvSpPr>
          <p:cNvPr id="4" name="Hình chữ nhật: Góc Tròn 3">
            <a:extLst>
              <a:ext uri="{FF2B5EF4-FFF2-40B4-BE49-F238E27FC236}">
                <a16:creationId xmlns:a16="http://schemas.microsoft.com/office/drawing/2014/main" id="{5DCE42C5-C08B-4E06-8553-3091684F1C09}"/>
              </a:ext>
            </a:extLst>
          </p:cNvPr>
          <p:cNvSpPr>
            <a:spLocks noGrp="1"/>
          </p:cNvSpPr>
          <p:nvPr/>
        </p:nvSpPr>
        <p:spPr>
          <a:xfrm>
            <a:off x="838200" y="647700"/>
            <a:ext cx="400050" cy="95250"/>
          </a:xfrm>
          <a:prstGeom prst="roundRect">
            <a:avLst>
              <a:gd name="adj" fmla="val 50000"/>
            </a:avLst>
          </a:prstGeom>
          <a:solidFill>
            <a:srgbClr val="77B8A4"/>
          </a:solidFill>
        </p:spPr>
      </p:sp>
      <p:sp>
        <p:nvSpPr>
          <p:cNvPr id="5" name="Hình chữ nhật 4">
            <a:extLst>
              <a:ext uri="{FF2B5EF4-FFF2-40B4-BE49-F238E27FC236}">
                <a16:creationId xmlns:a16="http://schemas.microsoft.com/office/drawing/2014/main" id="{64B36331-DE08-440B-8238-A218865ECCA7}"/>
              </a:ext>
            </a:extLst>
          </p:cNvPr>
          <p:cNvSpPr>
            <a:spLocks noGrp="1"/>
          </p:cNvSpPr>
          <p:nvPr/>
        </p:nvSpPr>
        <p:spPr>
          <a:xfrm>
            <a:off x="1371600" y="571500"/>
            <a:ext cx="15544800" cy="228600"/>
          </a:xfrm>
          <a:prstGeom prst="rect">
            <a:avLst/>
          </a:prstGeom>
        </p:spPr>
        <p:txBody>
          <a:bodyPr lIns="0" tIns="0" rIns="0" bIns="0"/>
          <a:lstStyle/>
          <a:p>
            <a:pPr>
              <a:lnSpc>
                <a:spcPct val="125000"/>
              </a:lnSpc>
              <a:buNone/>
              <a:defRPr sz="1200" b="1">
                <a:solidFill>
                  <a:srgbClr val="7E3D4A"/>
                </a:solidFill>
              </a:defRPr>
            </a:pPr>
            <a:r>
              <a:rPr sz="1200" b="1">
                <a:solidFill>
                  <a:srgbClr val="7E3D4A"/>
                </a:solidFill>
              </a:rPr>
              <a:t>TRIỂN KHAI</a:t>
            </a:r>
          </a:p>
        </p:txBody>
      </p:sp>
      <p:sp>
        <p:nvSpPr>
          <p:cNvPr id="6" name="Hình chữ nhật 5">
            <a:extLst>
              <a:ext uri="{FF2B5EF4-FFF2-40B4-BE49-F238E27FC236}">
                <a16:creationId xmlns:a16="http://schemas.microsoft.com/office/drawing/2014/main" id="{FE406E23-8C12-46AB-AA16-0B5EFAA99565}"/>
              </a:ext>
            </a:extLst>
          </p:cNvPr>
          <p:cNvSpPr>
            <a:spLocks noGrp="1"/>
          </p:cNvSpPr>
          <p:nvPr/>
        </p:nvSpPr>
        <p:spPr>
          <a:xfrm>
            <a:off x="17068800" y="571500"/>
            <a:ext cx="400050" cy="228600"/>
          </a:xfrm>
          <a:prstGeom prst="rect">
            <a:avLst/>
          </a:prstGeom>
        </p:spPr>
        <p:txBody>
          <a:bodyPr lIns="0" tIns="0" rIns="0" bIns="0"/>
          <a:lstStyle/>
          <a:p>
            <a:pPr>
              <a:lnSpc>
                <a:spcPct val="120000"/>
              </a:lnSpc>
              <a:buNone/>
              <a:defRPr sz="1275" b="1">
                <a:solidFill>
                  <a:srgbClr val="7E3D4A"/>
                </a:solidFill>
              </a:defRPr>
            </a:pPr>
            <a:r>
              <a:rPr sz="1275" b="1">
                <a:solidFill>
                  <a:srgbClr val="7E3D4A"/>
                </a:solidFill>
              </a:rPr>
              <a:t>24/30</a:t>
            </a:r>
          </a:p>
        </p:txBody>
      </p:sp>
      <p:sp>
        <p:nvSpPr>
          <p:cNvPr id="7" name="slide-title">
            <a:extLst>
              <a:ext uri="{FF2B5EF4-FFF2-40B4-BE49-F238E27FC236}">
                <a16:creationId xmlns:a16="http://schemas.microsoft.com/office/drawing/2014/main" id="{F6D7CA88-BF2A-4461-B604-8F627A8F206E}"/>
              </a:ext>
            </a:extLst>
          </p:cNvPr>
          <p:cNvSpPr>
            <a:spLocks noGrp="1"/>
          </p:cNvSpPr>
          <p:nvPr/>
        </p:nvSpPr>
        <p:spPr>
          <a:xfrm>
            <a:off x="819150" y="933450"/>
            <a:ext cx="16649700" cy="590550"/>
          </a:xfrm>
          <a:prstGeom prst="rect">
            <a:avLst/>
          </a:prstGeom>
        </p:spPr>
        <p:txBody>
          <a:bodyPr lIns="0" tIns="0" rIns="0" bIns="0"/>
          <a:lstStyle/>
          <a:p>
            <a:pPr>
              <a:lnSpc>
                <a:spcPct val="105000"/>
              </a:lnSpc>
              <a:buNone/>
              <a:defRPr sz="3600" b="1">
                <a:solidFill>
                  <a:srgbClr val="151515"/>
                </a:solidFill>
              </a:defRPr>
            </a:pPr>
            <a:r>
              <a:rPr sz="3600" b="1">
                <a:solidFill>
                  <a:srgbClr val="151515"/>
                </a:solidFill>
              </a:rPr>
              <a:t>Docker Compose gom các service cần chạy demo</a:t>
            </a:r>
          </a:p>
        </p:txBody>
      </p:sp>
      <p:sp>
        <p:nvSpPr>
          <p:cNvPr id="8" name="title-rule">
            <a:extLst>
              <a:ext uri="{FF2B5EF4-FFF2-40B4-BE49-F238E27FC236}">
                <a16:creationId xmlns:a16="http://schemas.microsoft.com/office/drawing/2014/main" id="{A3E970F3-FDF0-4164-A4EC-9B69EFE256A6}"/>
              </a:ext>
            </a:extLst>
          </p:cNvPr>
          <p:cNvSpPr>
            <a:spLocks noGrp="1"/>
          </p:cNvSpPr>
          <p:nvPr/>
        </p:nvSpPr>
        <p:spPr>
          <a:xfrm>
            <a:off x="819150" y="1619250"/>
            <a:ext cx="1905000" cy="38100"/>
          </a:xfrm>
          <a:prstGeom prst="rect">
            <a:avLst/>
          </a:prstGeom>
          <a:solidFill>
            <a:srgbClr val="77B8A4"/>
          </a:solidFill>
          <a:ln w="0">
            <a:solidFill>
              <a:srgbClr val="77B8A4"/>
            </a:solidFill>
            <a:prstDash val="solid"/>
          </a:ln>
        </p:spPr>
      </p:sp>
      <p:sp>
        <p:nvSpPr>
          <p:cNvPr id="9" name="Hình chữ nhật: Góc Tròn 8">
            <a:extLst>
              <a:ext uri="{FF2B5EF4-FFF2-40B4-BE49-F238E27FC236}">
                <a16:creationId xmlns:a16="http://schemas.microsoft.com/office/drawing/2014/main" id="{F77FF44A-6479-4154-99D8-8717F2028D7F}"/>
              </a:ext>
            </a:extLst>
          </p:cNvPr>
          <p:cNvSpPr>
            <a:spLocks noGrp="1"/>
          </p:cNvSpPr>
          <p:nvPr/>
        </p:nvSpPr>
        <p:spPr>
          <a:xfrm>
            <a:off x="819150" y="1933194"/>
            <a:ext cx="3981450" cy="2479802"/>
          </a:xfrm>
          <a:prstGeom prst="roundRect">
            <a:avLst>
              <a:gd name="adj" fmla="val 3073"/>
            </a:avLst>
          </a:prstGeom>
          <a:solidFill>
            <a:srgbClr val="FFFFFF"/>
          </a:solidFill>
          <a:ln w="9525">
            <a:solidFill>
              <a:srgbClr val="E8DDCF"/>
            </a:solidFill>
            <a:prstDash val="solid"/>
          </a:ln>
        </p:spPr>
      </p:sp>
      <p:sp>
        <p:nvSpPr>
          <p:cNvPr id="10" name="Hình chữ nhật: Góc Tròn 9">
            <a:extLst>
              <a:ext uri="{FF2B5EF4-FFF2-40B4-BE49-F238E27FC236}">
                <a16:creationId xmlns:a16="http://schemas.microsoft.com/office/drawing/2014/main" id="{BCA9D8D8-B464-42DE-A345-CB5782685229}"/>
              </a:ext>
            </a:extLst>
          </p:cNvPr>
          <p:cNvSpPr>
            <a:spLocks noGrp="1"/>
          </p:cNvSpPr>
          <p:nvPr/>
        </p:nvSpPr>
        <p:spPr>
          <a:xfrm>
            <a:off x="1028700" y="2133600"/>
            <a:ext cx="104775" cy="323850"/>
          </a:xfrm>
          <a:prstGeom prst="roundRect">
            <a:avLst>
              <a:gd name="adj" fmla="val 50000"/>
            </a:avLst>
          </a:prstGeom>
          <a:solidFill>
            <a:srgbClr val="77B8A4"/>
          </a:solidFill>
        </p:spPr>
      </p:sp>
      <p:sp>
        <p:nvSpPr>
          <p:cNvPr id="11" name="Hình chữ nhật 10">
            <a:extLst>
              <a:ext uri="{FF2B5EF4-FFF2-40B4-BE49-F238E27FC236}">
                <a16:creationId xmlns:a16="http://schemas.microsoft.com/office/drawing/2014/main" id="{3D170B5D-C049-4C9B-9084-213A5DA21C4E}"/>
              </a:ext>
            </a:extLst>
          </p:cNvPr>
          <p:cNvSpPr>
            <a:spLocks noGrp="1"/>
          </p:cNvSpPr>
          <p:nvPr/>
        </p:nvSpPr>
        <p:spPr>
          <a:xfrm>
            <a:off x="1238250" y="2095500"/>
            <a:ext cx="337185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postgres</a:t>
            </a:r>
          </a:p>
        </p:txBody>
      </p:sp>
      <p:sp>
        <p:nvSpPr>
          <p:cNvPr id="12" name="Hình chữ nhật 11">
            <a:extLst>
              <a:ext uri="{FF2B5EF4-FFF2-40B4-BE49-F238E27FC236}">
                <a16:creationId xmlns:a16="http://schemas.microsoft.com/office/drawing/2014/main" id="{8EDC18DD-362C-4D81-8364-66B25A1C4E37}"/>
              </a:ext>
            </a:extLst>
          </p:cNvPr>
          <p:cNvSpPr>
            <a:spLocks noGrp="1"/>
          </p:cNvSpPr>
          <p:nvPr/>
        </p:nvSpPr>
        <p:spPr>
          <a:xfrm>
            <a:off x="1028700" y="2533650"/>
            <a:ext cx="3562350" cy="552450"/>
          </a:xfrm>
          <a:prstGeom prst="rect">
            <a:avLst/>
          </a:prstGeom>
        </p:spPr>
        <p:txBody>
          <a:bodyPr lIns="0" tIns="0" rIns="0" bIns="0"/>
          <a:lstStyle/>
          <a:p>
            <a:pPr>
              <a:lnSpc>
                <a:spcPct val="120000"/>
              </a:lnSpc>
              <a:buNone/>
              <a:defRPr sz="1500">
                <a:solidFill>
                  <a:srgbClr val="647067"/>
                </a:solidFill>
              </a:defRPr>
            </a:pPr>
            <a:r>
              <a:rPr sz="1500">
                <a:solidFill>
                  <a:srgbClr val="647067"/>
                </a:solidFill>
              </a:rPr>
              <a:t>PostgreSQL 15 Alpine</a:t>
            </a:r>
          </a:p>
          <a:p>
            <a:pPr>
              <a:lnSpc>
                <a:spcPct val="120000"/>
              </a:lnSpc>
              <a:buNone/>
              <a:defRPr sz="1500">
                <a:solidFill>
                  <a:srgbClr val="647067"/>
                </a:solidFill>
              </a:defRPr>
            </a:pPr>
            <a:r>
              <a:rPr sz="1500">
                <a:solidFill>
                  <a:srgbClr val="647067"/>
                </a:solidFill>
              </a:rPr>
              <a:t>port 5432</a:t>
            </a:r>
          </a:p>
        </p:txBody>
      </p:sp>
      <p:sp>
        <p:nvSpPr>
          <p:cNvPr id="13" name="Hình chữ nhật: Góc Tròn 12">
            <a:extLst>
              <a:ext uri="{FF2B5EF4-FFF2-40B4-BE49-F238E27FC236}">
                <a16:creationId xmlns:a16="http://schemas.microsoft.com/office/drawing/2014/main" id="{3783E254-5C18-433B-BF8A-71F1A78885DB}"/>
              </a:ext>
            </a:extLst>
          </p:cNvPr>
          <p:cNvSpPr>
            <a:spLocks noGrp="1"/>
          </p:cNvSpPr>
          <p:nvPr/>
        </p:nvSpPr>
        <p:spPr>
          <a:xfrm>
            <a:off x="4972050" y="1933194"/>
            <a:ext cx="3981450" cy="2479802"/>
          </a:xfrm>
          <a:prstGeom prst="roundRect">
            <a:avLst>
              <a:gd name="adj" fmla="val 3073"/>
            </a:avLst>
          </a:prstGeom>
          <a:solidFill>
            <a:srgbClr val="FFFFFF"/>
          </a:solidFill>
          <a:ln w="9525">
            <a:solidFill>
              <a:srgbClr val="E8DDCF"/>
            </a:solidFill>
            <a:prstDash val="solid"/>
          </a:ln>
        </p:spPr>
      </p:sp>
      <p:sp>
        <p:nvSpPr>
          <p:cNvPr id="14" name="Hình chữ nhật: Góc Tròn 13">
            <a:extLst>
              <a:ext uri="{FF2B5EF4-FFF2-40B4-BE49-F238E27FC236}">
                <a16:creationId xmlns:a16="http://schemas.microsoft.com/office/drawing/2014/main" id="{4131B76D-5C13-4597-978D-C4AB3F0758ED}"/>
              </a:ext>
            </a:extLst>
          </p:cNvPr>
          <p:cNvSpPr>
            <a:spLocks noGrp="1"/>
          </p:cNvSpPr>
          <p:nvPr/>
        </p:nvSpPr>
        <p:spPr>
          <a:xfrm>
            <a:off x="5181600" y="2133600"/>
            <a:ext cx="104775" cy="323850"/>
          </a:xfrm>
          <a:prstGeom prst="roundRect">
            <a:avLst>
              <a:gd name="adj" fmla="val 50000"/>
            </a:avLst>
          </a:prstGeom>
          <a:solidFill>
            <a:srgbClr val="87B8D6"/>
          </a:solidFill>
        </p:spPr>
      </p:sp>
      <p:sp>
        <p:nvSpPr>
          <p:cNvPr id="15" name="Hình chữ nhật 14">
            <a:extLst>
              <a:ext uri="{FF2B5EF4-FFF2-40B4-BE49-F238E27FC236}">
                <a16:creationId xmlns:a16="http://schemas.microsoft.com/office/drawing/2014/main" id="{A0202A65-AA3C-4523-BC24-3E1783D85379}"/>
              </a:ext>
            </a:extLst>
          </p:cNvPr>
          <p:cNvSpPr>
            <a:spLocks noGrp="1"/>
          </p:cNvSpPr>
          <p:nvPr/>
        </p:nvSpPr>
        <p:spPr>
          <a:xfrm>
            <a:off x="5391150" y="2095500"/>
            <a:ext cx="337185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server</a:t>
            </a:r>
          </a:p>
        </p:txBody>
      </p:sp>
      <p:sp>
        <p:nvSpPr>
          <p:cNvPr id="16" name="Hình chữ nhật 15">
            <a:extLst>
              <a:ext uri="{FF2B5EF4-FFF2-40B4-BE49-F238E27FC236}">
                <a16:creationId xmlns:a16="http://schemas.microsoft.com/office/drawing/2014/main" id="{0851EA7A-F235-4B09-88E4-FFF641308699}"/>
              </a:ext>
            </a:extLst>
          </p:cNvPr>
          <p:cNvSpPr>
            <a:spLocks noGrp="1"/>
          </p:cNvSpPr>
          <p:nvPr/>
        </p:nvSpPr>
        <p:spPr>
          <a:xfrm>
            <a:off x="5181600" y="2533650"/>
            <a:ext cx="3562350" cy="552450"/>
          </a:xfrm>
          <a:prstGeom prst="rect">
            <a:avLst/>
          </a:prstGeom>
        </p:spPr>
        <p:txBody>
          <a:bodyPr lIns="0" tIns="0" rIns="0" bIns="0"/>
          <a:lstStyle/>
          <a:p>
            <a:pPr>
              <a:lnSpc>
                <a:spcPct val="120000"/>
              </a:lnSpc>
              <a:buNone/>
              <a:defRPr sz="1500">
                <a:solidFill>
                  <a:srgbClr val="647067"/>
                </a:solidFill>
              </a:defRPr>
            </a:pPr>
            <a:r>
              <a:rPr sz="1500">
                <a:solidFill>
                  <a:srgbClr val="647067"/>
                </a:solidFill>
              </a:rPr>
              <a:t>Node.js API production</a:t>
            </a:r>
          </a:p>
          <a:p>
            <a:pPr>
              <a:lnSpc>
                <a:spcPct val="120000"/>
              </a:lnSpc>
              <a:buNone/>
              <a:defRPr sz="1500">
                <a:solidFill>
                  <a:srgbClr val="647067"/>
                </a:solidFill>
              </a:defRPr>
            </a:pPr>
            <a:r>
              <a:rPr sz="1500">
                <a:solidFill>
                  <a:srgbClr val="647067"/>
                </a:solidFill>
              </a:rPr>
              <a:t>expose 5000</a:t>
            </a:r>
          </a:p>
        </p:txBody>
      </p:sp>
      <p:sp>
        <p:nvSpPr>
          <p:cNvPr id="17" name="Hình chữ nhật: Góc Tròn 16">
            <a:extLst>
              <a:ext uri="{FF2B5EF4-FFF2-40B4-BE49-F238E27FC236}">
                <a16:creationId xmlns:a16="http://schemas.microsoft.com/office/drawing/2014/main" id="{32BF7DF0-CD0E-4AEC-AB95-B0EA60DB5253}"/>
              </a:ext>
            </a:extLst>
          </p:cNvPr>
          <p:cNvSpPr>
            <a:spLocks noGrp="1"/>
          </p:cNvSpPr>
          <p:nvPr/>
        </p:nvSpPr>
        <p:spPr>
          <a:xfrm>
            <a:off x="819150" y="4584446"/>
            <a:ext cx="3981450" cy="2479802"/>
          </a:xfrm>
          <a:prstGeom prst="roundRect">
            <a:avLst>
              <a:gd name="adj" fmla="val 3073"/>
            </a:avLst>
          </a:prstGeom>
          <a:solidFill>
            <a:srgbClr val="FFFFFF"/>
          </a:solidFill>
          <a:ln w="9525">
            <a:solidFill>
              <a:srgbClr val="E8DDCF"/>
            </a:solidFill>
            <a:prstDash val="solid"/>
          </a:ln>
        </p:spPr>
      </p:sp>
      <p:sp>
        <p:nvSpPr>
          <p:cNvPr id="18" name="Hình chữ nhật: Góc Tròn 17">
            <a:extLst>
              <a:ext uri="{FF2B5EF4-FFF2-40B4-BE49-F238E27FC236}">
                <a16:creationId xmlns:a16="http://schemas.microsoft.com/office/drawing/2014/main" id="{D9501B12-C1FF-42E6-B70C-278651AB46A8}"/>
              </a:ext>
            </a:extLst>
          </p:cNvPr>
          <p:cNvSpPr>
            <a:spLocks noGrp="1"/>
          </p:cNvSpPr>
          <p:nvPr/>
        </p:nvSpPr>
        <p:spPr>
          <a:xfrm>
            <a:off x="1028700" y="4762500"/>
            <a:ext cx="104775" cy="323850"/>
          </a:xfrm>
          <a:prstGeom prst="roundRect">
            <a:avLst>
              <a:gd name="adj" fmla="val 50000"/>
            </a:avLst>
          </a:prstGeom>
          <a:solidFill>
            <a:srgbClr val="D9B760"/>
          </a:solidFill>
        </p:spPr>
      </p:sp>
      <p:sp>
        <p:nvSpPr>
          <p:cNvPr id="19" name="Hình chữ nhật 18">
            <a:extLst>
              <a:ext uri="{FF2B5EF4-FFF2-40B4-BE49-F238E27FC236}">
                <a16:creationId xmlns:a16="http://schemas.microsoft.com/office/drawing/2014/main" id="{7FB03BF0-915A-48C0-B394-710282944ECB}"/>
              </a:ext>
            </a:extLst>
          </p:cNvPr>
          <p:cNvSpPr>
            <a:spLocks noGrp="1"/>
          </p:cNvSpPr>
          <p:nvPr/>
        </p:nvSpPr>
        <p:spPr>
          <a:xfrm>
            <a:off x="1238250" y="4762500"/>
            <a:ext cx="337185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client</a:t>
            </a:r>
          </a:p>
        </p:txBody>
      </p:sp>
      <p:sp>
        <p:nvSpPr>
          <p:cNvPr id="20" name="Hình chữ nhật 19">
            <a:extLst>
              <a:ext uri="{FF2B5EF4-FFF2-40B4-BE49-F238E27FC236}">
                <a16:creationId xmlns:a16="http://schemas.microsoft.com/office/drawing/2014/main" id="{8267BC5F-D1F2-4294-B162-0D2B07B48FC6}"/>
              </a:ext>
            </a:extLst>
          </p:cNvPr>
          <p:cNvSpPr>
            <a:spLocks noGrp="1"/>
          </p:cNvSpPr>
          <p:nvPr/>
        </p:nvSpPr>
        <p:spPr>
          <a:xfrm>
            <a:off x="1028700" y="5181600"/>
            <a:ext cx="3562350" cy="552450"/>
          </a:xfrm>
          <a:prstGeom prst="rect">
            <a:avLst/>
          </a:prstGeom>
        </p:spPr>
        <p:txBody>
          <a:bodyPr lIns="0" tIns="0" rIns="0" bIns="0"/>
          <a:lstStyle/>
          <a:p>
            <a:pPr>
              <a:lnSpc>
                <a:spcPct val="120000"/>
              </a:lnSpc>
              <a:buNone/>
              <a:defRPr sz="1500">
                <a:solidFill>
                  <a:srgbClr val="647067"/>
                </a:solidFill>
              </a:defRPr>
            </a:pPr>
            <a:r>
              <a:rPr sz="1500">
                <a:solidFill>
                  <a:srgbClr val="647067"/>
                </a:solidFill>
              </a:rPr>
              <a:t>Nuxt production</a:t>
            </a:r>
          </a:p>
          <a:p>
            <a:pPr>
              <a:lnSpc>
                <a:spcPct val="120000"/>
              </a:lnSpc>
              <a:buNone/>
              <a:defRPr sz="1500">
                <a:solidFill>
                  <a:srgbClr val="647067"/>
                </a:solidFill>
              </a:defRPr>
            </a:pPr>
            <a:r>
              <a:rPr sz="1500">
                <a:solidFill>
                  <a:srgbClr val="647067"/>
                </a:solidFill>
              </a:rPr>
              <a:t>expose 3000</a:t>
            </a:r>
          </a:p>
        </p:txBody>
      </p:sp>
      <p:sp>
        <p:nvSpPr>
          <p:cNvPr id="21" name="Hình chữ nhật: Góc Tròn 20">
            <a:extLst>
              <a:ext uri="{FF2B5EF4-FFF2-40B4-BE49-F238E27FC236}">
                <a16:creationId xmlns:a16="http://schemas.microsoft.com/office/drawing/2014/main" id="{6D9B56B9-3D6A-4D3E-96C8-8F2688DCA61C}"/>
              </a:ext>
            </a:extLst>
          </p:cNvPr>
          <p:cNvSpPr>
            <a:spLocks noGrp="1"/>
          </p:cNvSpPr>
          <p:nvPr/>
        </p:nvSpPr>
        <p:spPr>
          <a:xfrm>
            <a:off x="4972050" y="4584446"/>
            <a:ext cx="3981450" cy="2479802"/>
          </a:xfrm>
          <a:prstGeom prst="roundRect">
            <a:avLst>
              <a:gd name="adj" fmla="val 3073"/>
            </a:avLst>
          </a:prstGeom>
          <a:solidFill>
            <a:srgbClr val="FFFFFF"/>
          </a:solidFill>
          <a:ln w="9525">
            <a:solidFill>
              <a:srgbClr val="E8DDCF"/>
            </a:solidFill>
            <a:prstDash val="solid"/>
          </a:ln>
        </p:spPr>
      </p:sp>
      <p:sp>
        <p:nvSpPr>
          <p:cNvPr id="22" name="Hình chữ nhật: Góc Tròn 21">
            <a:extLst>
              <a:ext uri="{FF2B5EF4-FFF2-40B4-BE49-F238E27FC236}">
                <a16:creationId xmlns:a16="http://schemas.microsoft.com/office/drawing/2014/main" id="{07736BE8-930D-4C78-8224-1B350629F147}"/>
              </a:ext>
            </a:extLst>
          </p:cNvPr>
          <p:cNvSpPr>
            <a:spLocks noGrp="1"/>
          </p:cNvSpPr>
          <p:nvPr/>
        </p:nvSpPr>
        <p:spPr>
          <a:xfrm>
            <a:off x="5181600" y="4762500"/>
            <a:ext cx="104775" cy="323850"/>
          </a:xfrm>
          <a:prstGeom prst="roundRect">
            <a:avLst>
              <a:gd name="adj" fmla="val 50000"/>
            </a:avLst>
          </a:prstGeom>
          <a:solidFill>
            <a:srgbClr val="F39A8A"/>
          </a:solidFill>
        </p:spPr>
      </p:sp>
      <p:sp>
        <p:nvSpPr>
          <p:cNvPr id="23" name="Hình chữ nhật 22">
            <a:extLst>
              <a:ext uri="{FF2B5EF4-FFF2-40B4-BE49-F238E27FC236}">
                <a16:creationId xmlns:a16="http://schemas.microsoft.com/office/drawing/2014/main" id="{83279947-A1C0-4EB6-A718-9BC68947323C}"/>
              </a:ext>
            </a:extLst>
          </p:cNvPr>
          <p:cNvSpPr>
            <a:spLocks noGrp="1"/>
          </p:cNvSpPr>
          <p:nvPr/>
        </p:nvSpPr>
        <p:spPr>
          <a:xfrm>
            <a:off x="5391150" y="4762500"/>
            <a:ext cx="337185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nginx</a:t>
            </a:r>
          </a:p>
        </p:txBody>
      </p:sp>
      <p:sp>
        <p:nvSpPr>
          <p:cNvPr id="24" name="Hình chữ nhật 23">
            <a:extLst>
              <a:ext uri="{FF2B5EF4-FFF2-40B4-BE49-F238E27FC236}">
                <a16:creationId xmlns:a16="http://schemas.microsoft.com/office/drawing/2014/main" id="{DCEEF48D-76C8-4BC7-A35D-401659268E1B}"/>
              </a:ext>
            </a:extLst>
          </p:cNvPr>
          <p:cNvSpPr>
            <a:spLocks noGrp="1"/>
          </p:cNvSpPr>
          <p:nvPr/>
        </p:nvSpPr>
        <p:spPr>
          <a:xfrm>
            <a:off x="5181600" y="5181600"/>
            <a:ext cx="3562350" cy="552450"/>
          </a:xfrm>
          <a:prstGeom prst="rect">
            <a:avLst/>
          </a:prstGeom>
        </p:spPr>
        <p:txBody>
          <a:bodyPr lIns="0" tIns="0" rIns="0" bIns="0"/>
          <a:lstStyle/>
          <a:p>
            <a:pPr>
              <a:lnSpc>
                <a:spcPct val="120000"/>
              </a:lnSpc>
              <a:buNone/>
              <a:defRPr sz="1500">
                <a:solidFill>
                  <a:srgbClr val="647067"/>
                </a:solidFill>
              </a:defRPr>
            </a:pPr>
            <a:r>
              <a:rPr sz="1500">
                <a:solidFill>
                  <a:srgbClr val="647067"/>
                </a:solidFill>
              </a:rPr>
              <a:t>reverse proxy</a:t>
            </a:r>
          </a:p>
          <a:p>
            <a:pPr>
              <a:lnSpc>
                <a:spcPct val="120000"/>
              </a:lnSpc>
              <a:buNone/>
              <a:defRPr sz="1500">
                <a:solidFill>
                  <a:srgbClr val="647067"/>
                </a:solidFill>
              </a:defRPr>
            </a:pPr>
            <a:r>
              <a:rPr sz="1500">
                <a:solidFill>
                  <a:srgbClr val="647067"/>
                </a:solidFill>
              </a:rPr>
              <a:t>public port 80</a:t>
            </a:r>
          </a:p>
        </p:txBody>
      </p:sp>
      <p:sp>
        <p:nvSpPr>
          <p:cNvPr id="25" name="Hình chữ nhật: Góc Tròn 24">
            <a:extLst>
              <a:ext uri="{FF2B5EF4-FFF2-40B4-BE49-F238E27FC236}">
                <a16:creationId xmlns:a16="http://schemas.microsoft.com/office/drawing/2014/main" id="{485B2063-75C5-4E8C-B25B-97FED22ADD09}"/>
              </a:ext>
            </a:extLst>
          </p:cNvPr>
          <p:cNvSpPr>
            <a:spLocks noGrp="1"/>
          </p:cNvSpPr>
          <p:nvPr/>
        </p:nvSpPr>
        <p:spPr>
          <a:xfrm>
            <a:off x="819150" y="7235698"/>
            <a:ext cx="3981450" cy="2479802"/>
          </a:xfrm>
          <a:prstGeom prst="roundRect">
            <a:avLst>
              <a:gd name="adj" fmla="val 3073"/>
            </a:avLst>
          </a:prstGeom>
          <a:solidFill>
            <a:srgbClr val="FFFFFF"/>
          </a:solidFill>
          <a:ln w="9525">
            <a:solidFill>
              <a:srgbClr val="E8DDCF"/>
            </a:solidFill>
            <a:prstDash val="solid"/>
          </a:ln>
        </p:spPr>
      </p:sp>
      <p:sp>
        <p:nvSpPr>
          <p:cNvPr id="26" name="Hình chữ nhật: Góc Tròn 25">
            <a:extLst>
              <a:ext uri="{FF2B5EF4-FFF2-40B4-BE49-F238E27FC236}">
                <a16:creationId xmlns:a16="http://schemas.microsoft.com/office/drawing/2014/main" id="{A388868F-20D8-4595-B643-3DE1BC0EE810}"/>
              </a:ext>
            </a:extLst>
          </p:cNvPr>
          <p:cNvSpPr>
            <a:spLocks noGrp="1"/>
          </p:cNvSpPr>
          <p:nvPr/>
        </p:nvSpPr>
        <p:spPr>
          <a:xfrm>
            <a:off x="1028700" y="7429500"/>
            <a:ext cx="104775" cy="323850"/>
          </a:xfrm>
          <a:prstGeom prst="roundRect">
            <a:avLst>
              <a:gd name="adj" fmla="val 50000"/>
            </a:avLst>
          </a:prstGeom>
          <a:solidFill>
            <a:srgbClr val="7E3D4A"/>
          </a:solidFill>
        </p:spPr>
      </p:sp>
      <p:sp>
        <p:nvSpPr>
          <p:cNvPr id="27" name="Hình chữ nhật 26">
            <a:extLst>
              <a:ext uri="{FF2B5EF4-FFF2-40B4-BE49-F238E27FC236}">
                <a16:creationId xmlns:a16="http://schemas.microsoft.com/office/drawing/2014/main" id="{4F4BC09F-6353-418D-868E-FD47F46CED6C}"/>
              </a:ext>
            </a:extLst>
          </p:cNvPr>
          <p:cNvSpPr>
            <a:spLocks noGrp="1"/>
          </p:cNvSpPr>
          <p:nvPr/>
        </p:nvSpPr>
        <p:spPr>
          <a:xfrm>
            <a:off x="1238250" y="7410450"/>
            <a:ext cx="337185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server-dev</a:t>
            </a:r>
          </a:p>
        </p:txBody>
      </p:sp>
      <p:sp>
        <p:nvSpPr>
          <p:cNvPr id="28" name="Hình chữ nhật 27">
            <a:extLst>
              <a:ext uri="{FF2B5EF4-FFF2-40B4-BE49-F238E27FC236}">
                <a16:creationId xmlns:a16="http://schemas.microsoft.com/office/drawing/2014/main" id="{42306616-ECD6-41AF-B322-E3C5B6B628E2}"/>
              </a:ext>
            </a:extLst>
          </p:cNvPr>
          <p:cNvSpPr>
            <a:spLocks noGrp="1"/>
          </p:cNvSpPr>
          <p:nvPr/>
        </p:nvSpPr>
        <p:spPr>
          <a:xfrm>
            <a:off x="1028700" y="7829550"/>
            <a:ext cx="3562350" cy="552450"/>
          </a:xfrm>
          <a:prstGeom prst="rect">
            <a:avLst/>
          </a:prstGeom>
        </p:spPr>
        <p:txBody>
          <a:bodyPr lIns="0" tIns="0" rIns="0" bIns="0"/>
          <a:lstStyle/>
          <a:p>
            <a:pPr>
              <a:lnSpc>
                <a:spcPct val="120000"/>
              </a:lnSpc>
              <a:buNone/>
              <a:defRPr sz="1500">
                <a:solidFill>
                  <a:srgbClr val="647067"/>
                </a:solidFill>
              </a:defRPr>
            </a:pPr>
            <a:r>
              <a:rPr sz="1500">
                <a:solidFill>
                  <a:srgbClr val="647067"/>
                </a:solidFill>
              </a:rPr>
              <a:t>hot reload backend</a:t>
            </a:r>
          </a:p>
          <a:p>
            <a:pPr>
              <a:lnSpc>
                <a:spcPct val="120000"/>
              </a:lnSpc>
              <a:buNone/>
              <a:defRPr sz="1500">
                <a:solidFill>
                  <a:srgbClr val="647067"/>
                </a:solidFill>
              </a:defRPr>
            </a:pPr>
            <a:r>
              <a:rPr sz="1500">
                <a:solidFill>
                  <a:srgbClr val="647067"/>
                </a:solidFill>
              </a:rPr>
              <a:t>port 5000</a:t>
            </a:r>
          </a:p>
        </p:txBody>
      </p:sp>
      <p:sp>
        <p:nvSpPr>
          <p:cNvPr id="29" name="Hình chữ nhật: Góc Tròn 28">
            <a:extLst>
              <a:ext uri="{FF2B5EF4-FFF2-40B4-BE49-F238E27FC236}">
                <a16:creationId xmlns:a16="http://schemas.microsoft.com/office/drawing/2014/main" id="{8164391E-FEFB-438C-8E47-60EDE0DFED85}"/>
              </a:ext>
            </a:extLst>
          </p:cNvPr>
          <p:cNvSpPr>
            <a:spLocks noGrp="1"/>
          </p:cNvSpPr>
          <p:nvPr/>
        </p:nvSpPr>
        <p:spPr>
          <a:xfrm>
            <a:off x="4972050" y="7235698"/>
            <a:ext cx="3981450" cy="2479802"/>
          </a:xfrm>
          <a:prstGeom prst="roundRect">
            <a:avLst>
              <a:gd name="adj" fmla="val 3073"/>
            </a:avLst>
          </a:prstGeom>
          <a:solidFill>
            <a:srgbClr val="FFFFFF"/>
          </a:solidFill>
          <a:ln w="9525">
            <a:solidFill>
              <a:srgbClr val="E8DDCF"/>
            </a:solidFill>
            <a:prstDash val="solid"/>
          </a:ln>
        </p:spPr>
      </p:sp>
      <p:sp>
        <p:nvSpPr>
          <p:cNvPr id="30" name="Hình chữ nhật: Góc Tròn 29">
            <a:extLst>
              <a:ext uri="{FF2B5EF4-FFF2-40B4-BE49-F238E27FC236}">
                <a16:creationId xmlns:a16="http://schemas.microsoft.com/office/drawing/2014/main" id="{E710B6DD-8665-4373-81A2-56CABE4BDD09}"/>
              </a:ext>
            </a:extLst>
          </p:cNvPr>
          <p:cNvSpPr>
            <a:spLocks noGrp="1"/>
          </p:cNvSpPr>
          <p:nvPr/>
        </p:nvSpPr>
        <p:spPr>
          <a:xfrm>
            <a:off x="5181600" y="7429500"/>
            <a:ext cx="104775" cy="323850"/>
          </a:xfrm>
          <a:prstGeom prst="roundRect">
            <a:avLst>
              <a:gd name="adj" fmla="val 50000"/>
            </a:avLst>
          </a:prstGeom>
          <a:solidFill>
            <a:srgbClr val="25384A"/>
          </a:solidFill>
        </p:spPr>
      </p:sp>
      <p:sp>
        <p:nvSpPr>
          <p:cNvPr id="31" name="Hình chữ nhật 30">
            <a:extLst>
              <a:ext uri="{FF2B5EF4-FFF2-40B4-BE49-F238E27FC236}">
                <a16:creationId xmlns:a16="http://schemas.microsoft.com/office/drawing/2014/main" id="{7DFFE00B-E655-4805-88A3-CDDA1C8A2269}"/>
              </a:ext>
            </a:extLst>
          </p:cNvPr>
          <p:cNvSpPr>
            <a:spLocks noGrp="1"/>
          </p:cNvSpPr>
          <p:nvPr/>
        </p:nvSpPr>
        <p:spPr>
          <a:xfrm>
            <a:off x="5391150" y="7410450"/>
            <a:ext cx="337185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client-dev</a:t>
            </a:r>
          </a:p>
        </p:txBody>
      </p:sp>
      <p:sp>
        <p:nvSpPr>
          <p:cNvPr id="32" name="Hình chữ nhật 31">
            <a:extLst>
              <a:ext uri="{FF2B5EF4-FFF2-40B4-BE49-F238E27FC236}">
                <a16:creationId xmlns:a16="http://schemas.microsoft.com/office/drawing/2014/main" id="{5C7893CB-E39F-4289-AD66-68C662DE98CA}"/>
              </a:ext>
            </a:extLst>
          </p:cNvPr>
          <p:cNvSpPr>
            <a:spLocks noGrp="1"/>
          </p:cNvSpPr>
          <p:nvPr/>
        </p:nvSpPr>
        <p:spPr>
          <a:xfrm>
            <a:off x="5181600" y="7829550"/>
            <a:ext cx="3562350" cy="552450"/>
          </a:xfrm>
          <a:prstGeom prst="rect">
            <a:avLst/>
          </a:prstGeom>
        </p:spPr>
        <p:txBody>
          <a:bodyPr lIns="0" tIns="0" rIns="0" bIns="0"/>
          <a:lstStyle/>
          <a:p>
            <a:pPr>
              <a:lnSpc>
                <a:spcPct val="120000"/>
              </a:lnSpc>
              <a:buNone/>
              <a:defRPr sz="1500">
                <a:solidFill>
                  <a:srgbClr val="647067"/>
                </a:solidFill>
              </a:defRPr>
            </a:pPr>
            <a:r>
              <a:rPr sz="1500">
                <a:solidFill>
                  <a:srgbClr val="647067"/>
                </a:solidFill>
              </a:rPr>
              <a:t>hot reload frontend</a:t>
            </a:r>
          </a:p>
          <a:p>
            <a:pPr>
              <a:lnSpc>
                <a:spcPct val="120000"/>
              </a:lnSpc>
              <a:buNone/>
              <a:defRPr sz="1500">
                <a:solidFill>
                  <a:srgbClr val="647067"/>
                </a:solidFill>
              </a:defRPr>
            </a:pPr>
            <a:r>
              <a:rPr sz="1500">
                <a:solidFill>
                  <a:srgbClr val="647067"/>
                </a:solidFill>
              </a:rPr>
              <a:t>port 3000</a:t>
            </a:r>
          </a:p>
        </p:txBody>
      </p:sp>
      <p:sp>
        <p:nvSpPr>
          <p:cNvPr id="33" name="Hình chữ nhật: Góc Tròn 32">
            <a:extLst>
              <a:ext uri="{FF2B5EF4-FFF2-40B4-BE49-F238E27FC236}">
                <a16:creationId xmlns:a16="http://schemas.microsoft.com/office/drawing/2014/main" id="{DF999820-4C82-48C7-BC0A-57D2B73A7712}"/>
              </a:ext>
            </a:extLst>
          </p:cNvPr>
          <p:cNvSpPr>
            <a:spLocks noGrp="1"/>
          </p:cNvSpPr>
          <p:nvPr/>
        </p:nvSpPr>
        <p:spPr>
          <a:xfrm>
            <a:off x="9372600" y="4343400"/>
            <a:ext cx="95250" cy="876300"/>
          </a:xfrm>
          <a:prstGeom prst="roundRect">
            <a:avLst>
              <a:gd name="adj" fmla="val 50000"/>
            </a:avLst>
          </a:prstGeom>
          <a:solidFill>
            <a:srgbClr val="D9B760"/>
          </a:solidFill>
        </p:spPr>
      </p:sp>
      <p:sp>
        <p:nvSpPr>
          <p:cNvPr id="34" name="Hình chữ nhật 33">
            <a:extLst>
              <a:ext uri="{FF2B5EF4-FFF2-40B4-BE49-F238E27FC236}">
                <a16:creationId xmlns:a16="http://schemas.microsoft.com/office/drawing/2014/main" id="{5B071E66-5B1F-4B32-8BD3-CABEA7EF9394}"/>
              </a:ext>
            </a:extLst>
          </p:cNvPr>
          <p:cNvSpPr>
            <a:spLocks noGrp="1"/>
          </p:cNvSpPr>
          <p:nvPr/>
        </p:nvSpPr>
        <p:spPr>
          <a:xfrm>
            <a:off x="9601200" y="4343400"/>
            <a:ext cx="7867650" cy="400050"/>
          </a:xfrm>
          <a:prstGeom prst="rect">
            <a:avLst/>
          </a:prstGeom>
        </p:spPr>
        <p:txBody>
          <a:bodyPr lIns="0" tIns="0" rIns="0" bIns="0"/>
          <a:lstStyle/>
          <a:p>
            <a:pPr>
              <a:lnSpc>
                <a:spcPct val="125000"/>
              </a:lnSpc>
              <a:buNone/>
              <a:defRPr sz="2100" b="1">
                <a:solidFill>
                  <a:srgbClr val="151515"/>
                </a:solidFill>
              </a:defRPr>
            </a:pPr>
            <a:r>
              <a:rPr sz="2100" b="1">
                <a:solidFill>
                  <a:srgbClr val="151515"/>
                </a:solidFill>
              </a:rPr>
              <a:t>Nginx route</a:t>
            </a:r>
          </a:p>
        </p:txBody>
      </p:sp>
      <p:sp>
        <p:nvSpPr>
          <p:cNvPr id="35" name="Hình chữ nhật 34">
            <a:extLst>
              <a:ext uri="{FF2B5EF4-FFF2-40B4-BE49-F238E27FC236}">
                <a16:creationId xmlns:a16="http://schemas.microsoft.com/office/drawing/2014/main" id="{5431D1A3-2A5B-42AB-AB7B-C9842A36F4E6}"/>
              </a:ext>
            </a:extLst>
          </p:cNvPr>
          <p:cNvSpPr>
            <a:spLocks noGrp="1"/>
          </p:cNvSpPr>
          <p:nvPr/>
        </p:nvSpPr>
        <p:spPr>
          <a:xfrm>
            <a:off x="9601200" y="4800600"/>
            <a:ext cx="7867650" cy="304800"/>
          </a:xfrm>
          <a:prstGeom prst="rect">
            <a:avLst/>
          </a:prstGeom>
        </p:spPr>
        <p:txBody>
          <a:bodyPr lIns="0" tIns="0" rIns="0" bIns="0"/>
          <a:lstStyle/>
          <a:p>
            <a:pPr>
              <a:lnSpc>
                <a:spcPct val="122000"/>
              </a:lnSpc>
              <a:buNone/>
              <a:defRPr sz="1575">
                <a:solidFill>
                  <a:srgbClr val="647067"/>
                </a:solidFill>
              </a:defRPr>
            </a:pPr>
            <a:r>
              <a:rPr sz="1575">
                <a:solidFill>
                  <a:srgbClr val="647067"/>
                </a:solidFill>
              </a:rPr>
              <a:t>`/api`, `/uploads`, `/socket.io/` proxy về backend; route còn lại về Nuxt client.</a:t>
            </a:r>
          </a:p>
        </p:txBody>
      </p:sp>
      <p:sp>
        <p:nvSpPr>
          <p:cNvPr id="36" name="Hình chữ nhật: Góc Tròn 35">
            <a:extLst>
              <a:ext uri="{FF2B5EF4-FFF2-40B4-BE49-F238E27FC236}">
                <a16:creationId xmlns:a16="http://schemas.microsoft.com/office/drawing/2014/main" id="{6E959CFD-1F4D-4A28-8BCC-02906DDC298A}"/>
              </a:ext>
            </a:extLst>
          </p:cNvPr>
          <p:cNvSpPr>
            <a:spLocks noGrp="1"/>
          </p:cNvSpPr>
          <p:nvPr/>
        </p:nvSpPr>
        <p:spPr>
          <a:xfrm>
            <a:off x="9372600" y="5410200"/>
            <a:ext cx="95250" cy="876300"/>
          </a:xfrm>
          <a:prstGeom prst="roundRect">
            <a:avLst>
              <a:gd name="adj" fmla="val 50000"/>
            </a:avLst>
          </a:prstGeom>
          <a:solidFill>
            <a:srgbClr val="77B8A4"/>
          </a:solidFill>
        </p:spPr>
      </p:sp>
      <p:sp>
        <p:nvSpPr>
          <p:cNvPr id="37" name="Hình chữ nhật 36">
            <a:extLst>
              <a:ext uri="{FF2B5EF4-FFF2-40B4-BE49-F238E27FC236}">
                <a16:creationId xmlns:a16="http://schemas.microsoft.com/office/drawing/2014/main" id="{A980BFB5-0F61-4D27-84CA-5F4F5BEC25C6}"/>
              </a:ext>
            </a:extLst>
          </p:cNvPr>
          <p:cNvSpPr>
            <a:spLocks noGrp="1"/>
          </p:cNvSpPr>
          <p:nvPr/>
        </p:nvSpPr>
        <p:spPr>
          <a:xfrm>
            <a:off x="9601200" y="5391150"/>
            <a:ext cx="7867650" cy="400050"/>
          </a:xfrm>
          <a:prstGeom prst="rect">
            <a:avLst/>
          </a:prstGeom>
        </p:spPr>
        <p:txBody>
          <a:bodyPr lIns="0" tIns="0" rIns="0" bIns="0"/>
          <a:lstStyle/>
          <a:p>
            <a:pPr>
              <a:lnSpc>
                <a:spcPct val="125000"/>
              </a:lnSpc>
              <a:buNone/>
              <a:defRPr sz="2100" b="1">
                <a:solidFill>
                  <a:srgbClr val="151515"/>
                </a:solidFill>
              </a:defRPr>
            </a:pPr>
            <a:r>
              <a:rPr sz="2100" b="1">
                <a:solidFill>
                  <a:srgbClr val="151515"/>
                </a:solidFill>
              </a:rPr>
              <a:t>Local URLs</a:t>
            </a:r>
          </a:p>
        </p:txBody>
      </p:sp>
      <p:sp>
        <p:nvSpPr>
          <p:cNvPr id="38" name="Hình chữ nhật 37">
            <a:extLst>
              <a:ext uri="{FF2B5EF4-FFF2-40B4-BE49-F238E27FC236}">
                <a16:creationId xmlns:a16="http://schemas.microsoft.com/office/drawing/2014/main" id="{69739937-BE30-4B19-8A39-916EAC57AA9A}"/>
              </a:ext>
            </a:extLst>
          </p:cNvPr>
          <p:cNvSpPr>
            <a:spLocks noGrp="1"/>
          </p:cNvSpPr>
          <p:nvPr/>
        </p:nvSpPr>
        <p:spPr>
          <a:xfrm>
            <a:off x="9601200" y="5848350"/>
            <a:ext cx="7867650" cy="304800"/>
          </a:xfrm>
          <a:prstGeom prst="rect">
            <a:avLst/>
          </a:prstGeom>
        </p:spPr>
        <p:txBody>
          <a:bodyPr lIns="0" tIns="0" rIns="0" bIns="0"/>
          <a:lstStyle/>
          <a:p>
            <a:pPr>
              <a:lnSpc>
                <a:spcPct val="122000"/>
              </a:lnSpc>
              <a:buNone/>
              <a:defRPr sz="1575">
                <a:solidFill>
                  <a:srgbClr val="647067"/>
                </a:solidFill>
              </a:defRPr>
            </a:pPr>
            <a:r>
              <a:rPr sz="1575">
                <a:solidFill>
                  <a:srgbClr val="647067"/>
                </a:solidFill>
              </a:rPr>
              <a:t>Client `localhost:3000`, server API `localhost:5000/api/v1`, health `/health`.</a:t>
            </a:r>
          </a:p>
        </p:txBody>
      </p:sp>
      <p:sp>
        <p:nvSpPr>
          <p:cNvPr id="39" name="Hình chữ nhật: Góc Tròn 38">
            <a:extLst>
              <a:ext uri="{FF2B5EF4-FFF2-40B4-BE49-F238E27FC236}">
                <a16:creationId xmlns:a16="http://schemas.microsoft.com/office/drawing/2014/main" id="{9D7F95B4-AFF8-4F01-A80E-FC773DFE6FE2}"/>
              </a:ext>
            </a:extLst>
          </p:cNvPr>
          <p:cNvSpPr>
            <a:spLocks noGrp="1"/>
          </p:cNvSpPr>
          <p:nvPr/>
        </p:nvSpPr>
        <p:spPr>
          <a:xfrm>
            <a:off x="9372600" y="6400800"/>
            <a:ext cx="95250" cy="876300"/>
          </a:xfrm>
          <a:prstGeom prst="roundRect">
            <a:avLst>
              <a:gd name="adj" fmla="val 50000"/>
            </a:avLst>
          </a:prstGeom>
          <a:solidFill>
            <a:srgbClr val="87B8D6"/>
          </a:solidFill>
        </p:spPr>
      </p:sp>
      <p:sp>
        <p:nvSpPr>
          <p:cNvPr id="40" name="Hình chữ nhật 39">
            <a:extLst>
              <a:ext uri="{FF2B5EF4-FFF2-40B4-BE49-F238E27FC236}">
                <a16:creationId xmlns:a16="http://schemas.microsoft.com/office/drawing/2014/main" id="{87468877-85CA-47B1-9764-ED5667C4EDB2}"/>
              </a:ext>
            </a:extLst>
          </p:cNvPr>
          <p:cNvSpPr>
            <a:spLocks noGrp="1"/>
          </p:cNvSpPr>
          <p:nvPr/>
        </p:nvSpPr>
        <p:spPr>
          <a:xfrm>
            <a:off x="9601200" y="6438900"/>
            <a:ext cx="7867650" cy="400050"/>
          </a:xfrm>
          <a:prstGeom prst="rect">
            <a:avLst/>
          </a:prstGeom>
        </p:spPr>
        <p:txBody>
          <a:bodyPr lIns="0" tIns="0" rIns="0" bIns="0"/>
          <a:lstStyle/>
          <a:p>
            <a:pPr>
              <a:lnSpc>
                <a:spcPct val="125000"/>
              </a:lnSpc>
              <a:buNone/>
              <a:defRPr sz="2100" b="1">
                <a:solidFill>
                  <a:srgbClr val="151515"/>
                </a:solidFill>
              </a:defRPr>
            </a:pPr>
            <a:r>
              <a:rPr sz="2100" b="1">
                <a:solidFill>
                  <a:srgbClr val="151515"/>
                </a:solidFill>
              </a:rPr>
              <a:t>API docs</a:t>
            </a:r>
          </a:p>
        </p:txBody>
      </p:sp>
      <p:sp>
        <p:nvSpPr>
          <p:cNvPr id="41" name="Hình chữ nhật 40">
            <a:extLst>
              <a:ext uri="{FF2B5EF4-FFF2-40B4-BE49-F238E27FC236}">
                <a16:creationId xmlns:a16="http://schemas.microsoft.com/office/drawing/2014/main" id="{FF27B1E8-70E2-4C59-A239-D9ACAFA8A3C6}"/>
              </a:ext>
            </a:extLst>
          </p:cNvPr>
          <p:cNvSpPr>
            <a:spLocks noGrp="1"/>
          </p:cNvSpPr>
          <p:nvPr/>
        </p:nvSpPr>
        <p:spPr>
          <a:xfrm>
            <a:off x="9601200" y="6896100"/>
            <a:ext cx="7867650" cy="304800"/>
          </a:xfrm>
          <a:prstGeom prst="rect">
            <a:avLst/>
          </a:prstGeom>
        </p:spPr>
        <p:txBody>
          <a:bodyPr lIns="0" tIns="0" rIns="0" bIns="0"/>
          <a:lstStyle/>
          <a:p>
            <a:pPr>
              <a:lnSpc>
                <a:spcPct val="122000"/>
              </a:lnSpc>
              <a:buNone/>
              <a:defRPr sz="1575">
                <a:solidFill>
                  <a:srgbClr val="647067"/>
                </a:solidFill>
              </a:defRPr>
            </a:pPr>
            <a:r>
              <a:rPr sz="1575">
                <a:solidFill>
                  <a:srgbClr val="647067"/>
                </a:solidFill>
              </a:rPr>
              <a:t>Swagger UI/OpenAPI có thể bật qua `API_DOCS_MODE`.</a:t>
            </a:r>
          </a:p>
        </p:txBody>
      </p:sp>
    </p:spTree>
    <p:extLst>
      <p:ext uri="{BB962C8B-B14F-4D97-AF65-F5344CB8AC3E}">
        <p14:creationId xmlns:p14="http://schemas.microsoft.com/office/powerpoint/2010/main" val="17082780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background">
            <a:extLst>
              <a:ext uri="{FF2B5EF4-FFF2-40B4-BE49-F238E27FC236}">
                <a16:creationId xmlns:a16="http://schemas.microsoft.com/office/drawing/2014/main" id="{67912DBF-F1E4-46FB-8D5F-DA7F9256E302}"/>
              </a:ext>
            </a:extLst>
          </p:cNvPr>
          <p:cNvSpPr>
            <a:spLocks noGrp="1"/>
          </p:cNvSpPr>
          <p:nvPr/>
        </p:nvSpPr>
        <p:spPr>
          <a:xfrm>
            <a:off x="0" y="0"/>
            <a:ext cx="18288000" cy="10287000"/>
          </a:xfrm>
          <a:prstGeom prst="rect">
            <a:avLst/>
          </a:prstGeom>
          <a:solidFill>
            <a:srgbClr val="FFFDF8"/>
          </a:solidFill>
        </p:spPr>
      </p:sp>
      <p:sp>
        <p:nvSpPr>
          <p:cNvPr id="2" name="top-band">
            <a:extLst>
              <a:ext uri="{FF2B5EF4-FFF2-40B4-BE49-F238E27FC236}">
                <a16:creationId xmlns:a16="http://schemas.microsoft.com/office/drawing/2014/main" id="{FAC9C6D6-2DB8-49BC-A472-0641FBFF4B09}"/>
              </a:ext>
            </a:extLst>
          </p:cNvPr>
          <p:cNvSpPr>
            <a:spLocks noGrp="1"/>
          </p:cNvSpPr>
          <p:nvPr/>
        </p:nvSpPr>
        <p:spPr>
          <a:xfrm>
            <a:off x="0" y="0"/>
            <a:ext cx="18288000" cy="152400"/>
          </a:xfrm>
          <a:prstGeom prst="rect">
            <a:avLst/>
          </a:prstGeom>
          <a:solidFill>
            <a:srgbClr val="F39A8A"/>
          </a:solidFill>
        </p:spPr>
      </p:sp>
      <p:sp>
        <p:nvSpPr>
          <p:cNvPr id="3" name="bottom-band">
            <a:extLst>
              <a:ext uri="{FF2B5EF4-FFF2-40B4-BE49-F238E27FC236}">
                <a16:creationId xmlns:a16="http://schemas.microsoft.com/office/drawing/2014/main" id="{EB8D80FD-D627-401B-92F2-15DC63C902A2}"/>
              </a:ext>
            </a:extLst>
          </p:cNvPr>
          <p:cNvSpPr>
            <a:spLocks noGrp="1"/>
          </p:cNvSpPr>
          <p:nvPr/>
        </p:nvSpPr>
        <p:spPr>
          <a:xfrm>
            <a:off x="0" y="0"/>
            <a:ext cx="18288000" cy="76200"/>
          </a:xfrm>
          <a:prstGeom prst="rect">
            <a:avLst/>
          </a:prstGeom>
          <a:solidFill>
            <a:srgbClr val="D9B760"/>
          </a:solidFill>
        </p:spPr>
      </p:sp>
      <p:sp>
        <p:nvSpPr>
          <p:cNvPr id="4" name="Hình chữ nhật: Góc Tròn 3">
            <a:extLst>
              <a:ext uri="{FF2B5EF4-FFF2-40B4-BE49-F238E27FC236}">
                <a16:creationId xmlns:a16="http://schemas.microsoft.com/office/drawing/2014/main" id="{BAD956CF-5DE4-4767-97AC-2538B7FCFBCB}"/>
              </a:ext>
            </a:extLst>
          </p:cNvPr>
          <p:cNvSpPr>
            <a:spLocks noGrp="1"/>
          </p:cNvSpPr>
          <p:nvPr/>
        </p:nvSpPr>
        <p:spPr>
          <a:xfrm>
            <a:off x="838200" y="647700"/>
            <a:ext cx="400050" cy="95250"/>
          </a:xfrm>
          <a:prstGeom prst="roundRect">
            <a:avLst>
              <a:gd name="adj" fmla="val 50000"/>
            </a:avLst>
          </a:prstGeom>
          <a:solidFill>
            <a:srgbClr val="F39A8A"/>
          </a:solidFill>
        </p:spPr>
      </p:sp>
      <p:sp>
        <p:nvSpPr>
          <p:cNvPr id="5" name="Hình chữ nhật 4">
            <a:extLst>
              <a:ext uri="{FF2B5EF4-FFF2-40B4-BE49-F238E27FC236}">
                <a16:creationId xmlns:a16="http://schemas.microsoft.com/office/drawing/2014/main" id="{25E4B025-E149-411F-81F7-E3FF4C371B92}"/>
              </a:ext>
            </a:extLst>
          </p:cNvPr>
          <p:cNvSpPr>
            <a:spLocks noGrp="1"/>
          </p:cNvSpPr>
          <p:nvPr/>
        </p:nvSpPr>
        <p:spPr>
          <a:xfrm>
            <a:off x="1371600" y="571500"/>
            <a:ext cx="15544800" cy="228600"/>
          </a:xfrm>
          <a:prstGeom prst="rect">
            <a:avLst/>
          </a:prstGeom>
        </p:spPr>
        <p:txBody>
          <a:bodyPr lIns="0" tIns="0" rIns="0" bIns="0"/>
          <a:lstStyle/>
          <a:p>
            <a:pPr>
              <a:lnSpc>
                <a:spcPct val="125000"/>
              </a:lnSpc>
              <a:buNone/>
              <a:defRPr sz="1200" b="1">
                <a:solidFill>
                  <a:srgbClr val="7E3D4A"/>
                </a:solidFill>
              </a:defRPr>
            </a:pPr>
            <a:r>
              <a:rPr sz="1200" b="1">
                <a:solidFill>
                  <a:srgbClr val="7E3D4A"/>
                </a:solidFill>
              </a:rPr>
              <a:t>DEMO</a:t>
            </a:r>
          </a:p>
        </p:txBody>
      </p:sp>
      <p:sp>
        <p:nvSpPr>
          <p:cNvPr id="6" name="Hình chữ nhật 5">
            <a:extLst>
              <a:ext uri="{FF2B5EF4-FFF2-40B4-BE49-F238E27FC236}">
                <a16:creationId xmlns:a16="http://schemas.microsoft.com/office/drawing/2014/main" id="{4A2D1CBF-0B4F-4EB0-A098-AEAAFF3BECA8}"/>
              </a:ext>
            </a:extLst>
          </p:cNvPr>
          <p:cNvSpPr>
            <a:spLocks noGrp="1"/>
          </p:cNvSpPr>
          <p:nvPr/>
        </p:nvSpPr>
        <p:spPr>
          <a:xfrm>
            <a:off x="17068800" y="571500"/>
            <a:ext cx="400050" cy="228600"/>
          </a:xfrm>
          <a:prstGeom prst="rect">
            <a:avLst/>
          </a:prstGeom>
        </p:spPr>
        <p:txBody>
          <a:bodyPr lIns="0" tIns="0" rIns="0" bIns="0"/>
          <a:lstStyle/>
          <a:p>
            <a:pPr>
              <a:lnSpc>
                <a:spcPct val="120000"/>
              </a:lnSpc>
              <a:buNone/>
              <a:defRPr sz="1275" b="1">
                <a:solidFill>
                  <a:srgbClr val="7E3D4A"/>
                </a:solidFill>
              </a:defRPr>
            </a:pPr>
            <a:r>
              <a:rPr sz="1275" b="1">
                <a:solidFill>
                  <a:srgbClr val="7E3D4A"/>
                </a:solidFill>
              </a:rPr>
              <a:t>25/30</a:t>
            </a:r>
          </a:p>
        </p:txBody>
      </p:sp>
      <p:sp>
        <p:nvSpPr>
          <p:cNvPr id="7" name="slide-title">
            <a:extLst>
              <a:ext uri="{FF2B5EF4-FFF2-40B4-BE49-F238E27FC236}">
                <a16:creationId xmlns:a16="http://schemas.microsoft.com/office/drawing/2014/main" id="{266D3411-44CF-4E41-AB6E-8FBCC65B5FB9}"/>
              </a:ext>
            </a:extLst>
          </p:cNvPr>
          <p:cNvSpPr>
            <a:spLocks noGrp="1"/>
          </p:cNvSpPr>
          <p:nvPr/>
        </p:nvSpPr>
        <p:spPr>
          <a:xfrm>
            <a:off x="819150" y="933450"/>
            <a:ext cx="16649700" cy="590550"/>
          </a:xfrm>
          <a:prstGeom prst="rect">
            <a:avLst/>
          </a:prstGeom>
        </p:spPr>
        <p:txBody>
          <a:bodyPr lIns="0" tIns="0" rIns="0" bIns="0"/>
          <a:lstStyle/>
          <a:p>
            <a:pPr>
              <a:lnSpc>
                <a:spcPct val="105000"/>
              </a:lnSpc>
              <a:buNone/>
              <a:defRPr sz="3600" b="1">
                <a:solidFill>
                  <a:srgbClr val="151515"/>
                </a:solidFill>
              </a:defRPr>
            </a:pPr>
            <a:r>
              <a:rPr sz="3600" b="1">
                <a:solidFill>
                  <a:srgbClr val="151515"/>
                </a:solidFill>
              </a:rPr>
              <a:t>Demo flow nên kể theo hai tuyến: customer và admin</a:t>
            </a:r>
          </a:p>
        </p:txBody>
      </p:sp>
      <p:sp>
        <p:nvSpPr>
          <p:cNvPr id="8" name="title-rule">
            <a:extLst>
              <a:ext uri="{FF2B5EF4-FFF2-40B4-BE49-F238E27FC236}">
                <a16:creationId xmlns:a16="http://schemas.microsoft.com/office/drawing/2014/main" id="{8C0A4CFF-3917-468F-8EBA-6D73C69DED46}"/>
              </a:ext>
            </a:extLst>
          </p:cNvPr>
          <p:cNvSpPr>
            <a:spLocks noGrp="1"/>
          </p:cNvSpPr>
          <p:nvPr/>
        </p:nvSpPr>
        <p:spPr>
          <a:xfrm>
            <a:off x="819150" y="1619250"/>
            <a:ext cx="1905000" cy="38100"/>
          </a:xfrm>
          <a:prstGeom prst="rect">
            <a:avLst/>
          </a:prstGeom>
          <a:solidFill>
            <a:srgbClr val="F39A8A"/>
          </a:solidFill>
          <a:ln w="0">
            <a:solidFill>
              <a:srgbClr val="F39A8A"/>
            </a:solidFill>
            <a:prstDash val="solid"/>
          </a:ln>
        </p:spPr>
      </p:sp>
      <p:sp>
        <p:nvSpPr>
          <p:cNvPr id="9" name="Hình chữ nhật: Góc Tròn 8">
            <a:extLst>
              <a:ext uri="{FF2B5EF4-FFF2-40B4-BE49-F238E27FC236}">
                <a16:creationId xmlns:a16="http://schemas.microsoft.com/office/drawing/2014/main" id="{B9ABA316-5B97-43D9-9A21-152F8FFC3322}"/>
              </a:ext>
            </a:extLst>
          </p:cNvPr>
          <p:cNvSpPr>
            <a:spLocks noGrp="1"/>
          </p:cNvSpPr>
          <p:nvPr/>
        </p:nvSpPr>
        <p:spPr>
          <a:xfrm>
            <a:off x="819150" y="1933194"/>
            <a:ext cx="8143875" cy="2653475"/>
          </a:xfrm>
          <a:prstGeom prst="roundRect">
            <a:avLst>
              <a:gd name="adj" fmla="val 2872"/>
            </a:avLst>
          </a:prstGeom>
          <a:solidFill>
            <a:srgbClr val="FEFCF8"/>
          </a:solidFill>
          <a:ln w="9525">
            <a:solidFill>
              <a:srgbClr val="E8DDCF"/>
            </a:solidFill>
            <a:prstDash val="solid"/>
          </a:ln>
        </p:spPr>
      </p:sp>
      <p:sp>
        <p:nvSpPr>
          <p:cNvPr id="10" name="Hình chữ nhật: Góc Tròn 9">
            <a:extLst>
              <a:ext uri="{FF2B5EF4-FFF2-40B4-BE49-F238E27FC236}">
                <a16:creationId xmlns:a16="http://schemas.microsoft.com/office/drawing/2014/main" id="{FFCA06AE-7FE7-477A-BDDD-A2CE8FF88023}"/>
              </a:ext>
            </a:extLst>
          </p:cNvPr>
          <p:cNvSpPr>
            <a:spLocks noGrp="1"/>
          </p:cNvSpPr>
          <p:nvPr/>
        </p:nvSpPr>
        <p:spPr>
          <a:xfrm>
            <a:off x="1028700" y="2171700"/>
            <a:ext cx="104775" cy="323850"/>
          </a:xfrm>
          <a:prstGeom prst="roundRect">
            <a:avLst>
              <a:gd name="adj" fmla="val 50000"/>
            </a:avLst>
          </a:prstGeom>
          <a:solidFill>
            <a:srgbClr val="77B8A4"/>
          </a:solidFill>
        </p:spPr>
      </p:sp>
      <p:sp>
        <p:nvSpPr>
          <p:cNvPr id="11" name="Hình chữ nhật 10">
            <a:extLst>
              <a:ext uri="{FF2B5EF4-FFF2-40B4-BE49-F238E27FC236}">
                <a16:creationId xmlns:a16="http://schemas.microsoft.com/office/drawing/2014/main" id="{F00A9112-3032-4C62-8476-8FE99D0FB9B5}"/>
              </a:ext>
            </a:extLst>
          </p:cNvPr>
          <p:cNvSpPr>
            <a:spLocks noGrp="1"/>
          </p:cNvSpPr>
          <p:nvPr/>
        </p:nvSpPr>
        <p:spPr>
          <a:xfrm>
            <a:off x="1238250" y="2095500"/>
            <a:ext cx="7524750" cy="419100"/>
          </a:xfrm>
          <a:prstGeom prst="rect">
            <a:avLst/>
          </a:prstGeom>
        </p:spPr>
        <p:txBody>
          <a:bodyPr lIns="0" tIns="0" rIns="0" bIns="0"/>
          <a:lstStyle/>
          <a:p>
            <a:pPr>
              <a:lnSpc>
                <a:spcPct val="125000"/>
              </a:lnSpc>
              <a:buNone/>
              <a:defRPr sz="2175" b="1">
                <a:solidFill>
                  <a:srgbClr val="151515"/>
                </a:solidFill>
              </a:defRPr>
            </a:pPr>
            <a:r>
              <a:rPr sz="2175" b="1">
                <a:solidFill>
                  <a:srgbClr val="151515"/>
                </a:solidFill>
              </a:rPr>
              <a:t>Customer demo</a:t>
            </a:r>
          </a:p>
        </p:txBody>
      </p:sp>
      <p:sp>
        <p:nvSpPr>
          <p:cNvPr id="12" name="Hình chữ nhật 11">
            <a:extLst>
              <a:ext uri="{FF2B5EF4-FFF2-40B4-BE49-F238E27FC236}">
                <a16:creationId xmlns:a16="http://schemas.microsoft.com/office/drawing/2014/main" id="{76054518-7D05-4638-947E-C484D23A577D}"/>
              </a:ext>
            </a:extLst>
          </p:cNvPr>
          <p:cNvSpPr>
            <a:spLocks noGrp="1"/>
          </p:cNvSpPr>
          <p:nvPr/>
        </p:nvSpPr>
        <p:spPr>
          <a:xfrm>
            <a:off x="1028700" y="2609850"/>
            <a:ext cx="7734300" cy="1828800"/>
          </a:xfrm>
          <a:prstGeom prst="rect">
            <a:avLst/>
          </a:prstGeom>
        </p:spPr>
        <p:txBody>
          <a:bodyPr lIns="0" tIns="0" rIns="0" bIns="0"/>
          <a:lstStyle/>
          <a:p>
            <a:pPr>
              <a:lnSpc>
                <a:spcPct val="120000"/>
              </a:lnSpc>
              <a:buNone/>
              <a:defRPr sz="1650">
                <a:solidFill>
                  <a:srgbClr val="647067"/>
                </a:solidFill>
              </a:defRPr>
            </a:pPr>
            <a:r>
              <a:rPr sz="1650">
                <a:solidFill>
                  <a:srgbClr val="647067"/>
                </a:solidFill>
              </a:rPr>
              <a:t>1. Homepage và song ngữ</a:t>
            </a:r>
          </a:p>
          <a:p>
            <a:pPr>
              <a:lnSpc>
                <a:spcPct val="120000"/>
              </a:lnSpc>
              <a:buNone/>
              <a:defRPr sz="1650">
                <a:solidFill>
                  <a:srgbClr val="647067"/>
                </a:solidFill>
              </a:defRPr>
            </a:pPr>
            <a:r>
              <a:rPr sz="1650">
                <a:solidFill>
                  <a:srgbClr val="647067"/>
                </a:solidFill>
              </a:rPr>
              <a:t>2. Shop, filter theo category/brand</a:t>
            </a:r>
          </a:p>
          <a:p>
            <a:pPr>
              <a:lnSpc>
                <a:spcPct val="120000"/>
              </a:lnSpc>
              <a:buNone/>
              <a:defRPr sz="1650">
                <a:solidFill>
                  <a:srgbClr val="647067"/>
                </a:solidFill>
              </a:defRPr>
            </a:pPr>
            <a:r>
              <a:rPr sz="1650">
                <a:solidFill>
                  <a:srgbClr val="647067"/>
                </a:solidFill>
              </a:rPr>
              <a:t>3. Product detail, ảnh, variant, review</a:t>
            </a:r>
          </a:p>
          <a:p>
            <a:pPr>
              <a:lnSpc>
                <a:spcPct val="120000"/>
              </a:lnSpc>
              <a:buNone/>
              <a:defRPr sz="1650">
                <a:solidFill>
                  <a:srgbClr val="647067"/>
                </a:solidFill>
              </a:defRPr>
            </a:pPr>
            <a:r>
              <a:rPr sz="1650">
                <a:solidFill>
                  <a:srgbClr val="647067"/>
                </a:solidFill>
              </a:rPr>
              <a:t>4. Cart, coupon, checkout</a:t>
            </a:r>
          </a:p>
          <a:p>
            <a:pPr>
              <a:lnSpc>
                <a:spcPct val="120000"/>
              </a:lnSpc>
              <a:buNone/>
              <a:defRPr sz="1650">
                <a:solidFill>
                  <a:srgbClr val="647067"/>
                </a:solidFill>
              </a:defRPr>
            </a:pPr>
            <a:r>
              <a:rPr sz="1650">
                <a:solidFill>
                  <a:srgbClr val="647067"/>
                </a:solidFill>
              </a:rPr>
              <a:t>5. Payment success/failure</a:t>
            </a:r>
          </a:p>
          <a:p>
            <a:pPr>
              <a:lnSpc>
                <a:spcPct val="120000"/>
              </a:lnSpc>
              <a:buNone/>
              <a:defRPr sz="1650">
                <a:solidFill>
                  <a:srgbClr val="647067"/>
                </a:solidFill>
              </a:defRPr>
            </a:pPr>
            <a:r>
              <a:rPr sz="1650">
                <a:solidFill>
                  <a:srgbClr val="647067"/>
                </a:solidFill>
              </a:rPr>
              <a:t>6. AI Stylist hỏi gợi ý sản phẩm</a:t>
            </a:r>
          </a:p>
        </p:txBody>
      </p:sp>
      <p:sp>
        <p:nvSpPr>
          <p:cNvPr id="13" name="Hình chữ nhật: Góc Tròn 12">
            <a:extLst>
              <a:ext uri="{FF2B5EF4-FFF2-40B4-BE49-F238E27FC236}">
                <a16:creationId xmlns:a16="http://schemas.microsoft.com/office/drawing/2014/main" id="{D04E191C-6A2E-43B7-96FD-F21F016563E6}"/>
              </a:ext>
            </a:extLst>
          </p:cNvPr>
          <p:cNvSpPr>
            <a:spLocks noGrp="1"/>
          </p:cNvSpPr>
          <p:nvPr/>
        </p:nvSpPr>
        <p:spPr>
          <a:xfrm>
            <a:off x="9324975" y="1933194"/>
            <a:ext cx="8143875" cy="2653475"/>
          </a:xfrm>
          <a:prstGeom prst="roundRect">
            <a:avLst>
              <a:gd name="adj" fmla="val 2872"/>
            </a:avLst>
          </a:prstGeom>
          <a:solidFill>
            <a:srgbClr val="FEFCF8"/>
          </a:solidFill>
          <a:ln w="9525">
            <a:solidFill>
              <a:srgbClr val="E8DDCF"/>
            </a:solidFill>
            <a:prstDash val="solid"/>
          </a:ln>
        </p:spPr>
      </p:sp>
      <p:sp>
        <p:nvSpPr>
          <p:cNvPr id="14" name="Hình chữ nhật: Góc Tròn 13">
            <a:extLst>
              <a:ext uri="{FF2B5EF4-FFF2-40B4-BE49-F238E27FC236}">
                <a16:creationId xmlns:a16="http://schemas.microsoft.com/office/drawing/2014/main" id="{DC0599F4-F7F6-4676-AC55-86792198C0F0}"/>
              </a:ext>
            </a:extLst>
          </p:cNvPr>
          <p:cNvSpPr>
            <a:spLocks noGrp="1"/>
          </p:cNvSpPr>
          <p:nvPr/>
        </p:nvSpPr>
        <p:spPr>
          <a:xfrm>
            <a:off x="9525000" y="2171700"/>
            <a:ext cx="104775" cy="323850"/>
          </a:xfrm>
          <a:prstGeom prst="roundRect">
            <a:avLst>
              <a:gd name="adj" fmla="val 50000"/>
            </a:avLst>
          </a:prstGeom>
          <a:solidFill>
            <a:srgbClr val="7E3D4A"/>
          </a:solidFill>
        </p:spPr>
      </p:sp>
      <p:sp>
        <p:nvSpPr>
          <p:cNvPr id="15" name="Hình chữ nhật 14">
            <a:extLst>
              <a:ext uri="{FF2B5EF4-FFF2-40B4-BE49-F238E27FC236}">
                <a16:creationId xmlns:a16="http://schemas.microsoft.com/office/drawing/2014/main" id="{09F0FA65-1C54-4436-BA59-E78F8F833059}"/>
              </a:ext>
            </a:extLst>
          </p:cNvPr>
          <p:cNvSpPr>
            <a:spLocks noGrp="1"/>
          </p:cNvSpPr>
          <p:nvPr/>
        </p:nvSpPr>
        <p:spPr>
          <a:xfrm>
            <a:off x="9734550" y="2095500"/>
            <a:ext cx="7524750" cy="419100"/>
          </a:xfrm>
          <a:prstGeom prst="rect">
            <a:avLst/>
          </a:prstGeom>
        </p:spPr>
        <p:txBody>
          <a:bodyPr lIns="0" tIns="0" rIns="0" bIns="0"/>
          <a:lstStyle/>
          <a:p>
            <a:pPr>
              <a:lnSpc>
                <a:spcPct val="125000"/>
              </a:lnSpc>
              <a:buNone/>
              <a:defRPr sz="2175" b="1">
                <a:solidFill>
                  <a:srgbClr val="151515"/>
                </a:solidFill>
              </a:defRPr>
            </a:pPr>
            <a:r>
              <a:rPr sz="2175" b="1">
                <a:solidFill>
                  <a:srgbClr val="151515"/>
                </a:solidFill>
              </a:rPr>
              <a:t>Admin demo</a:t>
            </a:r>
          </a:p>
        </p:txBody>
      </p:sp>
      <p:sp>
        <p:nvSpPr>
          <p:cNvPr id="16" name="Hình chữ nhật 15">
            <a:extLst>
              <a:ext uri="{FF2B5EF4-FFF2-40B4-BE49-F238E27FC236}">
                <a16:creationId xmlns:a16="http://schemas.microsoft.com/office/drawing/2014/main" id="{B248B37A-682C-479E-96EA-939D08F18D7F}"/>
              </a:ext>
            </a:extLst>
          </p:cNvPr>
          <p:cNvSpPr>
            <a:spLocks noGrp="1"/>
          </p:cNvSpPr>
          <p:nvPr/>
        </p:nvSpPr>
        <p:spPr>
          <a:xfrm>
            <a:off x="9544050" y="2609850"/>
            <a:ext cx="7734300" cy="1828800"/>
          </a:xfrm>
          <a:prstGeom prst="rect">
            <a:avLst/>
          </a:prstGeom>
        </p:spPr>
        <p:txBody>
          <a:bodyPr lIns="0" tIns="0" rIns="0" bIns="0"/>
          <a:lstStyle/>
          <a:p>
            <a:pPr>
              <a:lnSpc>
                <a:spcPct val="120000"/>
              </a:lnSpc>
              <a:buNone/>
              <a:defRPr sz="1650">
                <a:solidFill>
                  <a:srgbClr val="647067"/>
                </a:solidFill>
              </a:defRPr>
            </a:pPr>
            <a:r>
              <a:rPr sz="1650">
                <a:solidFill>
                  <a:srgbClr val="647067"/>
                </a:solidFill>
              </a:rPr>
              <a:t>1. Đăng nhập admin</a:t>
            </a:r>
          </a:p>
          <a:p>
            <a:pPr>
              <a:lnSpc>
                <a:spcPct val="120000"/>
              </a:lnSpc>
              <a:buNone/>
              <a:defRPr sz="1650">
                <a:solidFill>
                  <a:srgbClr val="647067"/>
                </a:solidFill>
              </a:defRPr>
            </a:pPr>
            <a:r>
              <a:rPr sz="1650">
                <a:solidFill>
                  <a:srgbClr val="647067"/>
                </a:solidFill>
              </a:rPr>
              <a:t>2. Dashboard tổng quan</a:t>
            </a:r>
          </a:p>
          <a:p>
            <a:pPr>
              <a:lnSpc>
                <a:spcPct val="120000"/>
              </a:lnSpc>
              <a:buNone/>
              <a:defRPr sz="1650">
                <a:solidFill>
                  <a:srgbClr val="647067"/>
                </a:solidFill>
              </a:defRPr>
            </a:pPr>
            <a:r>
              <a:rPr sz="1650">
                <a:solidFill>
                  <a:srgbClr val="647067"/>
                </a:solidFill>
              </a:rPr>
              <a:t>3. Tạo/cập nhật product và variant</a:t>
            </a:r>
          </a:p>
          <a:p>
            <a:pPr>
              <a:lnSpc>
                <a:spcPct val="120000"/>
              </a:lnSpc>
              <a:buNone/>
              <a:defRPr sz="1650">
                <a:solidFill>
                  <a:srgbClr val="647067"/>
                </a:solidFill>
              </a:defRPr>
            </a:pPr>
            <a:r>
              <a:rPr sz="1650">
                <a:solidFill>
                  <a:srgbClr val="647067"/>
                </a:solidFill>
              </a:rPr>
              <a:t>4. Cập nhật trạng thái order</a:t>
            </a:r>
          </a:p>
          <a:p>
            <a:pPr>
              <a:lnSpc>
                <a:spcPct val="120000"/>
              </a:lnSpc>
              <a:buNone/>
              <a:defRPr sz="1650">
                <a:solidFill>
                  <a:srgbClr val="647067"/>
                </a:solidFill>
              </a:defRPr>
            </a:pPr>
            <a:r>
              <a:rPr sz="1650">
                <a:solidFill>
                  <a:srgbClr val="647067"/>
                </a:solidFill>
              </a:rPr>
              <a:t>5. Quản lý coupon/review/banner/popup</a:t>
            </a:r>
          </a:p>
          <a:p>
            <a:pPr>
              <a:lnSpc>
                <a:spcPct val="120000"/>
              </a:lnSpc>
              <a:buNone/>
              <a:defRPr sz="1650">
                <a:solidFill>
                  <a:srgbClr val="647067"/>
                </a:solidFill>
              </a:defRPr>
            </a:pPr>
            <a:r>
              <a:rPr sz="1650">
                <a:solidFill>
                  <a:srgbClr val="647067"/>
                </a:solidFill>
              </a:rPr>
              <a:t>6. AI config/chats, pause AI và join chat</a:t>
            </a:r>
          </a:p>
        </p:txBody>
      </p:sp>
    </p:spTree>
    <p:extLst>
      <p:ext uri="{BB962C8B-B14F-4D97-AF65-F5344CB8AC3E}">
        <p14:creationId xmlns:p14="http://schemas.microsoft.com/office/powerpoint/2010/main" val="15560159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background">
            <a:extLst>
              <a:ext uri="{FF2B5EF4-FFF2-40B4-BE49-F238E27FC236}">
                <a16:creationId xmlns:a16="http://schemas.microsoft.com/office/drawing/2014/main" id="{C4712CFC-C44D-4F6D-8B5B-FF6782AFC22B}"/>
              </a:ext>
            </a:extLst>
          </p:cNvPr>
          <p:cNvSpPr>
            <a:spLocks noGrp="1"/>
          </p:cNvSpPr>
          <p:nvPr/>
        </p:nvSpPr>
        <p:spPr>
          <a:xfrm>
            <a:off x="0" y="0"/>
            <a:ext cx="18288000" cy="10287000"/>
          </a:xfrm>
          <a:prstGeom prst="rect">
            <a:avLst/>
          </a:prstGeom>
          <a:solidFill>
            <a:srgbClr val="FFFDF8"/>
          </a:solidFill>
        </p:spPr>
      </p:sp>
      <p:sp>
        <p:nvSpPr>
          <p:cNvPr id="2" name="top-band">
            <a:extLst>
              <a:ext uri="{FF2B5EF4-FFF2-40B4-BE49-F238E27FC236}">
                <a16:creationId xmlns:a16="http://schemas.microsoft.com/office/drawing/2014/main" id="{3F419912-A9DA-4027-B517-59EDEA12997F}"/>
              </a:ext>
            </a:extLst>
          </p:cNvPr>
          <p:cNvSpPr>
            <a:spLocks noGrp="1"/>
          </p:cNvSpPr>
          <p:nvPr/>
        </p:nvSpPr>
        <p:spPr>
          <a:xfrm>
            <a:off x="0" y="0"/>
            <a:ext cx="18288000" cy="152400"/>
          </a:xfrm>
          <a:prstGeom prst="rect">
            <a:avLst/>
          </a:prstGeom>
          <a:solidFill>
            <a:srgbClr val="D9B760"/>
          </a:solidFill>
        </p:spPr>
      </p:sp>
      <p:sp>
        <p:nvSpPr>
          <p:cNvPr id="3" name="bottom-band">
            <a:extLst>
              <a:ext uri="{FF2B5EF4-FFF2-40B4-BE49-F238E27FC236}">
                <a16:creationId xmlns:a16="http://schemas.microsoft.com/office/drawing/2014/main" id="{A256C94F-AA78-49E9-A53A-1599593D0AD4}"/>
              </a:ext>
            </a:extLst>
          </p:cNvPr>
          <p:cNvSpPr>
            <a:spLocks noGrp="1"/>
          </p:cNvSpPr>
          <p:nvPr/>
        </p:nvSpPr>
        <p:spPr>
          <a:xfrm>
            <a:off x="0" y="0"/>
            <a:ext cx="18288000" cy="76200"/>
          </a:xfrm>
          <a:prstGeom prst="rect">
            <a:avLst/>
          </a:prstGeom>
          <a:solidFill>
            <a:srgbClr val="D9B760"/>
          </a:solidFill>
        </p:spPr>
      </p:sp>
      <p:sp>
        <p:nvSpPr>
          <p:cNvPr id="4" name="Hình chữ nhật: Góc Tròn 3">
            <a:extLst>
              <a:ext uri="{FF2B5EF4-FFF2-40B4-BE49-F238E27FC236}">
                <a16:creationId xmlns:a16="http://schemas.microsoft.com/office/drawing/2014/main" id="{E9AF032C-6409-4DF6-9F06-90BE496D572E}"/>
              </a:ext>
            </a:extLst>
          </p:cNvPr>
          <p:cNvSpPr>
            <a:spLocks noGrp="1"/>
          </p:cNvSpPr>
          <p:nvPr/>
        </p:nvSpPr>
        <p:spPr>
          <a:xfrm>
            <a:off x="838200" y="647700"/>
            <a:ext cx="400050" cy="95250"/>
          </a:xfrm>
          <a:prstGeom prst="roundRect">
            <a:avLst>
              <a:gd name="adj" fmla="val 50000"/>
            </a:avLst>
          </a:prstGeom>
          <a:solidFill>
            <a:srgbClr val="D9B760"/>
          </a:solidFill>
        </p:spPr>
      </p:sp>
      <p:sp>
        <p:nvSpPr>
          <p:cNvPr id="5" name="Hình chữ nhật 4">
            <a:extLst>
              <a:ext uri="{FF2B5EF4-FFF2-40B4-BE49-F238E27FC236}">
                <a16:creationId xmlns:a16="http://schemas.microsoft.com/office/drawing/2014/main" id="{DBFCD024-4791-4FFF-AFB5-0E37E782C555}"/>
              </a:ext>
            </a:extLst>
          </p:cNvPr>
          <p:cNvSpPr>
            <a:spLocks noGrp="1"/>
          </p:cNvSpPr>
          <p:nvPr/>
        </p:nvSpPr>
        <p:spPr>
          <a:xfrm>
            <a:off x="1371600" y="571500"/>
            <a:ext cx="15544800" cy="228600"/>
          </a:xfrm>
          <a:prstGeom prst="rect">
            <a:avLst/>
          </a:prstGeom>
        </p:spPr>
        <p:txBody>
          <a:bodyPr lIns="0" tIns="0" rIns="0" bIns="0"/>
          <a:lstStyle/>
          <a:p>
            <a:pPr>
              <a:lnSpc>
                <a:spcPct val="125000"/>
              </a:lnSpc>
              <a:buNone/>
              <a:defRPr sz="1200" b="1">
                <a:solidFill>
                  <a:srgbClr val="7E3D4A"/>
                </a:solidFill>
              </a:defRPr>
            </a:pPr>
            <a:r>
              <a:rPr sz="1200" b="1">
                <a:solidFill>
                  <a:srgbClr val="7E3D4A"/>
                </a:solidFill>
              </a:rPr>
              <a:t>KẾT QUẢ</a:t>
            </a:r>
          </a:p>
        </p:txBody>
      </p:sp>
      <p:sp>
        <p:nvSpPr>
          <p:cNvPr id="6" name="Hình chữ nhật 5">
            <a:extLst>
              <a:ext uri="{FF2B5EF4-FFF2-40B4-BE49-F238E27FC236}">
                <a16:creationId xmlns:a16="http://schemas.microsoft.com/office/drawing/2014/main" id="{5B0DE7B8-B167-4766-9712-B8ED3EBB425B}"/>
              </a:ext>
            </a:extLst>
          </p:cNvPr>
          <p:cNvSpPr>
            <a:spLocks noGrp="1"/>
          </p:cNvSpPr>
          <p:nvPr/>
        </p:nvSpPr>
        <p:spPr>
          <a:xfrm>
            <a:off x="17068800" y="571500"/>
            <a:ext cx="400050" cy="228600"/>
          </a:xfrm>
          <a:prstGeom prst="rect">
            <a:avLst/>
          </a:prstGeom>
        </p:spPr>
        <p:txBody>
          <a:bodyPr lIns="0" tIns="0" rIns="0" bIns="0"/>
          <a:lstStyle/>
          <a:p>
            <a:pPr>
              <a:lnSpc>
                <a:spcPct val="120000"/>
              </a:lnSpc>
              <a:buNone/>
              <a:defRPr sz="1275" b="1">
                <a:solidFill>
                  <a:srgbClr val="7E3D4A"/>
                </a:solidFill>
              </a:defRPr>
            </a:pPr>
            <a:r>
              <a:rPr sz="1275" b="1">
                <a:solidFill>
                  <a:srgbClr val="7E3D4A"/>
                </a:solidFill>
              </a:rPr>
              <a:t>26/30</a:t>
            </a:r>
          </a:p>
        </p:txBody>
      </p:sp>
      <p:sp>
        <p:nvSpPr>
          <p:cNvPr id="7" name="slide-title">
            <a:extLst>
              <a:ext uri="{FF2B5EF4-FFF2-40B4-BE49-F238E27FC236}">
                <a16:creationId xmlns:a16="http://schemas.microsoft.com/office/drawing/2014/main" id="{45B086C5-0FE0-49D8-AAE8-14A74FCD317A}"/>
              </a:ext>
            </a:extLst>
          </p:cNvPr>
          <p:cNvSpPr>
            <a:spLocks noGrp="1"/>
          </p:cNvSpPr>
          <p:nvPr/>
        </p:nvSpPr>
        <p:spPr>
          <a:xfrm>
            <a:off x="819150" y="933450"/>
            <a:ext cx="16649700" cy="590550"/>
          </a:xfrm>
          <a:prstGeom prst="rect">
            <a:avLst/>
          </a:prstGeom>
        </p:spPr>
        <p:txBody>
          <a:bodyPr lIns="0" tIns="0" rIns="0" bIns="0"/>
          <a:lstStyle/>
          <a:p>
            <a:pPr>
              <a:lnSpc>
                <a:spcPct val="105000"/>
              </a:lnSpc>
              <a:buNone/>
              <a:defRPr sz="3600" b="1">
                <a:solidFill>
                  <a:srgbClr val="151515"/>
                </a:solidFill>
              </a:defRPr>
            </a:pPr>
            <a:r>
              <a:rPr sz="3600" b="1">
                <a:solidFill>
                  <a:srgbClr val="151515"/>
                </a:solidFill>
              </a:rPr>
              <a:t>Kết quả đạt được nằm ở cả kỹ thuật và nghiệp vụ</a:t>
            </a:r>
          </a:p>
        </p:txBody>
      </p:sp>
      <p:sp>
        <p:nvSpPr>
          <p:cNvPr id="8" name="title-rule">
            <a:extLst>
              <a:ext uri="{FF2B5EF4-FFF2-40B4-BE49-F238E27FC236}">
                <a16:creationId xmlns:a16="http://schemas.microsoft.com/office/drawing/2014/main" id="{786A723D-A06B-4F1B-8780-E986AEDB7520}"/>
              </a:ext>
            </a:extLst>
          </p:cNvPr>
          <p:cNvSpPr>
            <a:spLocks noGrp="1"/>
          </p:cNvSpPr>
          <p:nvPr/>
        </p:nvSpPr>
        <p:spPr>
          <a:xfrm>
            <a:off x="819150" y="1619250"/>
            <a:ext cx="1905000" cy="38100"/>
          </a:xfrm>
          <a:prstGeom prst="rect">
            <a:avLst/>
          </a:prstGeom>
          <a:solidFill>
            <a:srgbClr val="D9B760"/>
          </a:solidFill>
          <a:ln w="0">
            <a:solidFill>
              <a:srgbClr val="D9B760"/>
            </a:solidFill>
            <a:prstDash val="solid"/>
          </a:ln>
        </p:spPr>
      </p:sp>
      <p:sp>
        <p:nvSpPr>
          <p:cNvPr id="9" name="Hình chữ nhật 8">
            <a:extLst>
              <a:ext uri="{FF2B5EF4-FFF2-40B4-BE49-F238E27FC236}">
                <a16:creationId xmlns:a16="http://schemas.microsoft.com/office/drawing/2014/main" id="{067B342F-8A29-4ACF-B923-97A599BC8513}"/>
              </a:ext>
            </a:extLst>
          </p:cNvPr>
          <p:cNvSpPr>
            <a:spLocks noGrp="1"/>
          </p:cNvSpPr>
          <p:nvPr/>
        </p:nvSpPr>
        <p:spPr>
          <a:xfrm>
            <a:off x="819150" y="3486150"/>
            <a:ext cx="8134350" cy="495300"/>
          </a:xfrm>
          <a:prstGeom prst="rect">
            <a:avLst/>
          </a:prstGeom>
        </p:spPr>
        <p:txBody>
          <a:bodyPr lIns="0" tIns="0" rIns="0" bIns="0"/>
          <a:lstStyle/>
          <a:p>
            <a:pPr>
              <a:lnSpc>
                <a:spcPct val="125000"/>
              </a:lnSpc>
              <a:buNone/>
              <a:defRPr sz="2550" b="1">
                <a:solidFill>
                  <a:srgbClr val="151515"/>
                </a:solidFill>
              </a:defRPr>
            </a:pPr>
            <a:r>
              <a:rPr sz="2550" b="1">
                <a:solidFill>
                  <a:srgbClr val="151515"/>
                </a:solidFill>
              </a:rPr>
              <a:t>Kỹ thuật</a:t>
            </a:r>
          </a:p>
        </p:txBody>
      </p:sp>
      <p:sp>
        <p:nvSpPr>
          <p:cNvPr id="10" name="Hình chữ nhật: Góc Tròn 9">
            <a:extLst>
              <a:ext uri="{FF2B5EF4-FFF2-40B4-BE49-F238E27FC236}">
                <a16:creationId xmlns:a16="http://schemas.microsoft.com/office/drawing/2014/main" id="{817031E4-F8ED-4230-BC8C-91F43DA32D47}"/>
              </a:ext>
            </a:extLst>
          </p:cNvPr>
          <p:cNvSpPr>
            <a:spLocks noGrp="1"/>
          </p:cNvSpPr>
          <p:nvPr/>
        </p:nvSpPr>
        <p:spPr>
          <a:xfrm>
            <a:off x="838200" y="4114800"/>
            <a:ext cx="95250" cy="876300"/>
          </a:xfrm>
          <a:prstGeom prst="roundRect">
            <a:avLst>
              <a:gd name="adj" fmla="val 50000"/>
            </a:avLst>
          </a:prstGeom>
          <a:solidFill>
            <a:srgbClr val="77B8A4"/>
          </a:solidFill>
        </p:spPr>
      </p:sp>
      <p:sp>
        <p:nvSpPr>
          <p:cNvPr id="11" name="Hình chữ nhật 10">
            <a:extLst>
              <a:ext uri="{FF2B5EF4-FFF2-40B4-BE49-F238E27FC236}">
                <a16:creationId xmlns:a16="http://schemas.microsoft.com/office/drawing/2014/main" id="{6B0463B4-42FB-45C5-A322-B750C87D0742}"/>
              </a:ext>
            </a:extLst>
          </p:cNvPr>
          <p:cNvSpPr>
            <a:spLocks noGrp="1"/>
          </p:cNvSpPr>
          <p:nvPr/>
        </p:nvSpPr>
        <p:spPr>
          <a:xfrm>
            <a:off x="1085850" y="4133850"/>
            <a:ext cx="7867650" cy="400050"/>
          </a:xfrm>
          <a:prstGeom prst="rect">
            <a:avLst/>
          </a:prstGeom>
        </p:spPr>
        <p:txBody>
          <a:bodyPr lIns="0" tIns="0" rIns="0" bIns="0"/>
          <a:lstStyle/>
          <a:p>
            <a:pPr>
              <a:lnSpc>
                <a:spcPct val="125000"/>
              </a:lnSpc>
              <a:buNone/>
              <a:defRPr sz="2100" b="1">
                <a:solidFill>
                  <a:srgbClr val="151515"/>
                </a:solidFill>
              </a:defRPr>
            </a:pPr>
            <a:r>
              <a:rPr sz="2100" b="1">
                <a:solidFill>
                  <a:srgbClr val="151515"/>
                </a:solidFill>
              </a:rPr>
              <a:t>Full-stack rõ ràng</a:t>
            </a:r>
          </a:p>
        </p:txBody>
      </p:sp>
      <p:sp>
        <p:nvSpPr>
          <p:cNvPr id="12" name="Hình chữ nhật 11">
            <a:extLst>
              <a:ext uri="{FF2B5EF4-FFF2-40B4-BE49-F238E27FC236}">
                <a16:creationId xmlns:a16="http://schemas.microsoft.com/office/drawing/2014/main" id="{E3CBEEF4-8EE8-4692-AE14-0BC45848F022}"/>
              </a:ext>
            </a:extLst>
          </p:cNvPr>
          <p:cNvSpPr>
            <a:spLocks noGrp="1"/>
          </p:cNvSpPr>
          <p:nvPr/>
        </p:nvSpPr>
        <p:spPr>
          <a:xfrm>
            <a:off x="1085850" y="4591050"/>
            <a:ext cx="7867650" cy="304800"/>
          </a:xfrm>
          <a:prstGeom prst="rect">
            <a:avLst/>
          </a:prstGeom>
        </p:spPr>
        <p:txBody>
          <a:bodyPr lIns="0" tIns="0" rIns="0" bIns="0"/>
          <a:lstStyle/>
          <a:p>
            <a:pPr>
              <a:lnSpc>
                <a:spcPct val="122000"/>
              </a:lnSpc>
              <a:buNone/>
              <a:defRPr sz="1575">
                <a:solidFill>
                  <a:srgbClr val="647067"/>
                </a:solidFill>
              </a:defRPr>
            </a:pPr>
            <a:r>
              <a:rPr sz="1575">
                <a:solidFill>
                  <a:srgbClr val="647067"/>
                </a:solidFill>
              </a:rPr>
              <a:t>Client/server/database đã tách trách nhiệm.</a:t>
            </a:r>
          </a:p>
        </p:txBody>
      </p:sp>
      <p:sp>
        <p:nvSpPr>
          <p:cNvPr id="13" name="Hình chữ nhật: Góc Tròn 12">
            <a:extLst>
              <a:ext uri="{FF2B5EF4-FFF2-40B4-BE49-F238E27FC236}">
                <a16:creationId xmlns:a16="http://schemas.microsoft.com/office/drawing/2014/main" id="{C3B63A08-63DE-432B-84C3-A7A14427E8F7}"/>
              </a:ext>
            </a:extLst>
          </p:cNvPr>
          <p:cNvSpPr>
            <a:spLocks noGrp="1"/>
          </p:cNvSpPr>
          <p:nvPr/>
        </p:nvSpPr>
        <p:spPr>
          <a:xfrm>
            <a:off x="838200" y="5181600"/>
            <a:ext cx="95250" cy="876300"/>
          </a:xfrm>
          <a:prstGeom prst="roundRect">
            <a:avLst>
              <a:gd name="adj" fmla="val 50000"/>
            </a:avLst>
          </a:prstGeom>
          <a:solidFill>
            <a:srgbClr val="87B8D6"/>
          </a:solidFill>
        </p:spPr>
      </p:sp>
      <p:sp>
        <p:nvSpPr>
          <p:cNvPr id="14" name="Hình chữ nhật 13">
            <a:extLst>
              <a:ext uri="{FF2B5EF4-FFF2-40B4-BE49-F238E27FC236}">
                <a16:creationId xmlns:a16="http://schemas.microsoft.com/office/drawing/2014/main" id="{07544E35-4E1E-4F3B-B09E-FB65644D143F}"/>
              </a:ext>
            </a:extLst>
          </p:cNvPr>
          <p:cNvSpPr>
            <a:spLocks noGrp="1"/>
          </p:cNvSpPr>
          <p:nvPr/>
        </p:nvSpPr>
        <p:spPr>
          <a:xfrm>
            <a:off x="1085850" y="5181600"/>
            <a:ext cx="7867650" cy="400050"/>
          </a:xfrm>
          <a:prstGeom prst="rect">
            <a:avLst/>
          </a:prstGeom>
        </p:spPr>
        <p:txBody>
          <a:bodyPr lIns="0" tIns="0" rIns="0" bIns="0"/>
          <a:lstStyle/>
          <a:p>
            <a:pPr>
              <a:lnSpc>
                <a:spcPct val="125000"/>
              </a:lnSpc>
              <a:buNone/>
              <a:defRPr sz="2100" b="1">
                <a:solidFill>
                  <a:srgbClr val="151515"/>
                </a:solidFill>
              </a:defRPr>
            </a:pPr>
            <a:r>
              <a:rPr sz="2100" b="1">
                <a:solidFill>
                  <a:srgbClr val="151515"/>
                </a:solidFill>
              </a:rPr>
              <a:t>API có phân lớp</a:t>
            </a:r>
          </a:p>
        </p:txBody>
      </p:sp>
      <p:sp>
        <p:nvSpPr>
          <p:cNvPr id="15" name="Hình chữ nhật 14">
            <a:extLst>
              <a:ext uri="{FF2B5EF4-FFF2-40B4-BE49-F238E27FC236}">
                <a16:creationId xmlns:a16="http://schemas.microsoft.com/office/drawing/2014/main" id="{F3499552-A582-40F6-A4AD-DBC2BA2A1106}"/>
              </a:ext>
            </a:extLst>
          </p:cNvPr>
          <p:cNvSpPr>
            <a:spLocks noGrp="1"/>
          </p:cNvSpPr>
          <p:nvPr/>
        </p:nvSpPr>
        <p:spPr>
          <a:xfrm>
            <a:off x="1085850" y="5638800"/>
            <a:ext cx="7867650" cy="304800"/>
          </a:xfrm>
          <a:prstGeom prst="rect">
            <a:avLst/>
          </a:prstGeom>
        </p:spPr>
        <p:txBody>
          <a:bodyPr lIns="0" tIns="0" rIns="0" bIns="0"/>
          <a:lstStyle/>
          <a:p>
            <a:pPr>
              <a:lnSpc>
                <a:spcPct val="122000"/>
              </a:lnSpc>
              <a:buNone/>
              <a:defRPr sz="1575">
                <a:solidFill>
                  <a:srgbClr val="647067"/>
                </a:solidFill>
              </a:defRPr>
            </a:pPr>
            <a:r>
              <a:rPr sz="1575">
                <a:solidFill>
                  <a:srgbClr val="647067"/>
                </a:solidFill>
              </a:rPr>
              <a:t>Route - controller - service - model dễ bảo trì.</a:t>
            </a:r>
          </a:p>
        </p:txBody>
      </p:sp>
      <p:sp>
        <p:nvSpPr>
          <p:cNvPr id="16" name="Hình chữ nhật: Góc Tròn 15">
            <a:extLst>
              <a:ext uri="{FF2B5EF4-FFF2-40B4-BE49-F238E27FC236}">
                <a16:creationId xmlns:a16="http://schemas.microsoft.com/office/drawing/2014/main" id="{C7637562-1B97-4B5B-830E-F774CADB8D8F}"/>
              </a:ext>
            </a:extLst>
          </p:cNvPr>
          <p:cNvSpPr>
            <a:spLocks noGrp="1"/>
          </p:cNvSpPr>
          <p:nvPr/>
        </p:nvSpPr>
        <p:spPr>
          <a:xfrm>
            <a:off x="838200" y="6248400"/>
            <a:ext cx="95250" cy="876300"/>
          </a:xfrm>
          <a:prstGeom prst="roundRect">
            <a:avLst>
              <a:gd name="adj" fmla="val 50000"/>
            </a:avLst>
          </a:prstGeom>
          <a:solidFill>
            <a:srgbClr val="F39A8A"/>
          </a:solidFill>
        </p:spPr>
      </p:sp>
      <p:sp>
        <p:nvSpPr>
          <p:cNvPr id="17" name="Hình chữ nhật 16">
            <a:extLst>
              <a:ext uri="{FF2B5EF4-FFF2-40B4-BE49-F238E27FC236}">
                <a16:creationId xmlns:a16="http://schemas.microsoft.com/office/drawing/2014/main" id="{A924599C-2575-492C-9C97-B2204014F3F0}"/>
              </a:ext>
            </a:extLst>
          </p:cNvPr>
          <p:cNvSpPr>
            <a:spLocks noGrp="1"/>
          </p:cNvSpPr>
          <p:nvPr/>
        </p:nvSpPr>
        <p:spPr>
          <a:xfrm>
            <a:off x="1085850" y="6229350"/>
            <a:ext cx="7867650" cy="400050"/>
          </a:xfrm>
          <a:prstGeom prst="rect">
            <a:avLst/>
          </a:prstGeom>
        </p:spPr>
        <p:txBody>
          <a:bodyPr lIns="0" tIns="0" rIns="0" bIns="0"/>
          <a:lstStyle/>
          <a:p>
            <a:pPr>
              <a:lnSpc>
                <a:spcPct val="125000"/>
              </a:lnSpc>
              <a:buNone/>
              <a:defRPr sz="2100" b="1">
                <a:solidFill>
                  <a:srgbClr val="151515"/>
                </a:solidFill>
              </a:defRPr>
            </a:pPr>
            <a:r>
              <a:rPr sz="2100" b="1">
                <a:solidFill>
                  <a:srgbClr val="151515"/>
                </a:solidFill>
              </a:rPr>
              <a:t>AI + realtime</a:t>
            </a:r>
          </a:p>
        </p:txBody>
      </p:sp>
      <p:sp>
        <p:nvSpPr>
          <p:cNvPr id="18" name="Hình chữ nhật 17">
            <a:extLst>
              <a:ext uri="{FF2B5EF4-FFF2-40B4-BE49-F238E27FC236}">
                <a16:creationId xmlns:a16="http://schemas.microsoft.com/office/drawing/2014/main" id="{74A4AFE3-3564-4248-94F2-D28B66CC3EE9}"/>
              </a:ext>
            </a:extLst>
          </p:cNvPr>
          <p:cNvSpPr>
            <a:spLocks noGrp="1"/>
          </p:cNvSpPr>
          <p:nvPr/>
        </p:nvSpPr>
        <p:spPr>
          <a:xfrm>
            <a:off x="1085850" y="6686550"/>
            <a:ext cx="7867650" cy="304800"/>
          </a:xfrm>
          <a:prstGeom prst="rect">
            <a:avLst/>
          </a:prstGeom>
        </p:spPr>
        <p:txBody>
          <a:bodyPr lIns="0" tIns="0" rIns="0" bIns="0"/>
          <a:lstStyle/>
          <a:p>
            <a:pPr>
              <a:lnSpc>
                <a:spcPct val="122000"/>
              </a:lnSpc>
              <a:buNone/>
              <a:defRPr sz="1575">
                <a:solidFill>
                  <a:srgbClr val="647067"/>
                </a:solidFill>
              </a:defRPr>
            </a:pPr>
            <a:r>
              <a:rPr sz="1575">
                <a:solidFill>
                  <a:srgbClr val="647067"/>
                </a:solidFill>
              </a:rPr>
              <a:t>AI chat/voice và Socket.IO phục vụ tư vấn.</a:t>
            </a:r>
          </a:p>
        </p:txBody>
      </p:sp>
      <p:sp>
        <p:nvSpPr>
          <p:cNvPr id="19" name="Hình chữ nhật: Góc Tròn 18">
            <a:extLst>
              <a:ext uri="{FF2B5EF4-FFF2-40B4-BE49-F238E27FC236}">
                <a16:creationId xmlns:a16="http://schemas.microsoft.com/office/drawing/2014/main" id="{6C03CA46-92A3-49D4-8FA5-A92D337257A2}"/>
              </a:ext>
            </a:extLst>
          </p:cNvPr>
          <p:cNvSpPr>
            <a:spLocks noGrp="1"/>
          </p:cNvSpPr>
          <p:nvPr/>
        </p:nvSpPr>
        <p:spPr>
          <a:xfrm>
            <a:off x="838200" y="7315200"/>
            <a:ext cx="95250" cy="876300"/>
          </a:xfrm>
          <a:prstGeom prst="roundRect">
            <a:avLst>
              <a:gd name="adj" fmla="val 50000"/>
            </a:avLst>
          </a:prstGeom>
          <a:solidFill>
            <a:srgbClr val="D9B760"/>
          </a:solidFill>
        </p:spPr>
      </p:sp>
      <p:sp>
        <p:nvSpPr>
          <p:cNvPr id="20" name="Hình chữ nhật 19">
            <a:extLst>
              <a:ext uri="{FF2B5EF4-FFF2-40B4-BE49-F238E27FC236}">
                <a16:creationId xmlns:a16="http://schemas.microsoft.com/office/drawing/2014/main" id="{736A9F20-616E-4E15-99D4-CEF13A8F6613}"/>
              </a:ext>
            </a:extLst>
          </p:cNvPr>
          <p:cNvSpPr>
            <a:spLocks noGrp="1"/>
          </p:cNvSpPr>
          <p:nvPr/>
        </p:nvSpPr>
        <p:spPr>
          <a:xfrm>
            <a:off x="1085850" y="7277100"/>
            <a:ext cx="7867650" cy="400050"/>
          </a:xfrm>
          <a:prstGeom prst="rect">
            <a:avLst/>
          </a:prstGeom>
        </p:spPr>
        <p:txBody>
          <a:bodyPr lIns="0" tIns="0" rIns="0" bIns="0"/>
          <a:lstStyle/>
          <a:p>
            <a:pPr>
              <a:lnSpc>
                <a:spcPct val="125000"/>
              </a:lnSpc>
              <a:buNone/>
              <a:defRPr sz="2100" b="1">
                <a:solidFill>
                  <a:srgbClr val="151515"/>
                </a:solidFill>
              </a:defRPr>
            </a:pPr>
            <a:r>
              <a:rPr sz="2100" b="1">
                <a:solidFill>
                  <a:srgbClr val="151515"/>
                </a:solidFill>
              </a:rPr>
              <a:t>Deploy được</a:t>
            </a:r>
          </a:p>
        </p:txBody>
      </p:sp>
      <p:sp>
        <p:nvSpPr>
          <p:cNvPr id="21" name="Hình chữ nhật 20">
            <a:extLst>
              <a:ext uri="{FF2B5EF4-FFF2-40B4-BE49-F238E27FC236}">
                <a16:creationId xmlns:a16="http://schemas.microsoft.com/office/drawing/2014/main" id="{1250437F-725C-4111-9686-F6D48377698D}"/>
              </a:ext>
            </a:extLst>
          </p:cNvPr>
          <p:cNvSpPr>
            <a:spLocks noGrp="1"/>
          </p:cNvSpPr>
          <p:nvPr/>
        </p:nvSpPr>
        <p:spPr>
          <a:xfrm>
            <a:off x="1085850" y="7734300"/>
            <a:ext cx="7867650" cy="304800"/>
          </a:xfrm>
          <a:prstGeom prst="rect">
            <a:avLst/>
          </a:prstGeom>
        </p:spPr>
        <p:txBody>
          <a:bodyPr lIns="0" tIns="0" rIns="0" bIns="0"/>
          <a:lstStyle/>
          <a:p>
            <a:pPr>
              <a:lnSpc>
                <a:spcPct val="122000"/>
              </a:lnSpc>
              <a:buNone/>
              <a:defRPr sz="1575">
                <a:solidFill>
                  <a:srgbClr val="647067"/>
                </a:solidFill>
              </a:defRPr>
            </a:pPr>
            <a:r>
              <a:rPr sz="1575">
                <a:solidFill>
                  <a:srgbClr val="647067"/>
                </a:solidFill>
              </a:rPr>
              <a:t>Docker Compose và Nginx cho môi trường production-like.</a:t>
            </a:r>
          </a:p>
        </p:txBody>
      </p:sp>
      <p:sp>
        <p:nvSpPr>
          <p:cNvPr id="22" name="Hình chữ nhật 21">
            <a:extLst>
              <a:ext uri="{FF2B5EF4-FFF2-40B4-BE49-F238E27FC236}">
                <a16:creationId xmlns:a16="http://schemas.microsoft.com/office/drawing/2014/main" id="{90D21BCB-AE3C-42E7-B857-37B479948829}"/>
              </a:ext>
            </a:extLst>
          </p:cNvPr>
          <p:cNvSpPr>
            <a:spLocks noGrp="1"/>
          </p:cNvSpPr>
          <p:nvPr/>
        </p:nvSpPr>
        <p:spPr>
          <a:xfrm>
            <a:off x="9353550" y="4000500"/>
            <a:ext cx="8134350" cy="495300"/>
          </a:xfrm>
          <a:prstGeom prst="rect">
            <a:avLst/>
          </a:prstGeom>
        </p:spPr>
        <p:txBody>
          <a:bodyPr lIns="0" tIns="0" rIns="0" bIns="0"/>
          <a:lstStyle/>
          <a:p>
            <a:pPr>
              <a:lnSpc>
                <a:spcPct val="125000"/>
              </a:lnSpc>
              <a:buNone/>
              <a:defRPr sz="2550" b="1">
                <a:solidFill>
                  <a:srgbClr val="151515"/>
                </a:solidFill>
              </a:defRPr>
            </a:pPr>
            <a:r>
              <a:rPr sz="2550" b="1">
                <a:solidFill>
                  <a:srgbClr val="151515"/>
                </a:solidFill>
              </a:rPr>
              <a:t>Nghiệp vụ</a:t>
            </a:r>
          </a:p>
        </p:txBody>
      </p:sp>
      <p:sp>
        <p:nvSpPr>
          <p:cNvPr id="23" name="Hình chữ nhật: Góc Tròn 22">
            <a:extLst>
              <a:ext uri="{FF2B5EF4-FFF2-40B4-BE49-F238E27FC236}">
                <a16:creationId xmlns:a16="http://schemas.microsoft.com/office/drawing/2014/main" id="{F13664BC-C6E6-4208-8FA2-535E3B3E7EA0}"/>
              </a:ext>
            </a:extLst>
          </p:cNvPr>
          <p:cNvSpPr>
            <a:spLocks noGrp="1"/>
          </p:cNvSpPr>
          <p:nvPr/>
        </p:nvSpPr>
        <p:spPr>
          <a:xfrm>
            <a:off x="9372600" y="4648200"/>
            <a:ext cx="95250" cy="876300"/>
          </a:xfrm>
          <a:prstGeom prst="roundRect">
            <a:avLst>
              <a:gd name="adj" fmla="val 50000"/>
            </a:avLst>
          </a:prstGeom>
          <a:solidFill>
            <a:srgbClr val="77B8A4"/>
          </a:solidFill>
        </p:spPr>
      </p:sp>
      <p:sp>
        <p:nvSpPr>
          <p:cNvPr id="24" name="Hình chữ nhật 23">
            <a:extLst>
              <a:ext uri="{FF2B5EF4-FFF2-40B4-BE49-F238E27FC236}">
                <a16:creationId xmlns:a16="http://schemas.microsoft.com/office/drawing/2014/main" id="{A0BF4E6C-95C3-4A6B-8709-F93279CF69BB}"/>
              </a:ext>
            </a:extLst>
          </p:cNvPr>
          <p:cNvSpPr>
            <a:spLocks noGrp="1"/>
          </p:cNvSpPr>
          <p:nvPr/>
        </p:nvSpPr>
        <p:spPr>
          <a:xfrm>
            <a:off x="9620250" y="4667250"/>
            <a:ext cx="7867650" cy="400050"/>
          </a:xfrm>
          <a:prstGeom prst="rect">
            <a:avLst/>
          </a:prstGeom>
        </p:spPr>
        <p:txBody>
          <a:bodyPr lIns="0" tIns="0" rIns="0" bIns="0"/>
          <a:lstStyle/>
          <a:p>
            <a:pPr>
              <a:lnSpc>
                <a:spcPct val="125000"/>
              </a:lnSpc>
              <a:buNone/>
              <a:defRPr sz="2100" b="1">
                <a:solidFill>
                  <a:srgbClr val="151515"/>
                </a:solidFill>
              </a:defRPr>
            </a:pPr>
            <a:r>
              <a:rPr sz="2100" b="1">
                <a:solidFill>
                  <a:srgbClr val="151515"/>
                </a:solidFill>
              </a:rPr>
              <a:t>Hành trình mua hàng</a:t>
            </a:r>
          </a:p>
        </p:txBody>
      </p:sp>
      <p:sp>
        <p:nvSpPr>
          <p:cNvPr id="25" name="Hình chữ nhật 24">
            <a:extLst>
              <a:ext uri="{FF2B5EF4-FFF2-40B4-BE49-F238E27FC236}">
                <a16:creationId xmlns:a16="http://schemas.microsoft.com/office/drawing/2014/main" id="{646C805D-E944-4D5F-9C18-3B41B0B7B59D}"/>
              </a:ext>
            </a:extLst>
          </p:cNvPr>
          <p:cNvSpPr>
            <a:spLocks noGrp="1"/>
          </p:cNvSpPr>
          <p:nvPr/>
        </p:nvSpPr>
        <p:spPr>
          <a:xfrm>
            <a:off x="9620250" y="5124450"/>
            <a:ext cx="7867650" cy="304800"/>
          </a:xfrm>
          <a:prstGeom prst="rect">
            <a:avLst/>
          </a:prstGeom>
        </p:spPr>
        <p:txBody>
          <a:bodyPr lIns="0" tIns="0" rIns="0" bIns="0"/>
          <a:lstStyle/>
          <a:p>
            <a:pPr>
              <a:lnSpc>
                <a:spcPct val="122000"/>
              </a:lnSpc>
              <a:buNone/>
              <a:defRPr sz="1575">
                <a:solidFill>
                  <a:srgbClr val="647067"/>
                </a:solidFill>
              </a:defRPr>
            </a:pPr>
            <a:r>
              <a:rPr sz="1575">
                <a:solidFill>
                  <a:srgbClr val="647067"/>
                </a:solidFill>
              </a:rPr>
              <a:t>Từ khám phá sản phẩm đến checkout và order history.</a:t>
            </a:r>
          </a:p>
        </p:txBody>
      </p:sp>
      <p:sp>
        <p:nvSpPr>
          <p:cNvPr id="26" name="Hình chữ nhật: Góc Tròn 25">
            <a:extLst>
              <a:ext uri="{FF2B5EF4-FFF2-40B4-BE49-F238E27FC236}">
                <a16:creationId xmlns:a16="http://schemas.microsoft.com/office/drawing/2014/main" id="{D3A8D0DA-14EF-4BDB-ACB6-84FFDE50D38D}"/>
              </a:ext>
            </a:extLst>
          </p:cNvPr>
          <p:cNvSpPr>
            <a:spLocks noGrp="1"/>
          </p:cNvSpPr>
          <p:nvPr/>
        </p:nvSpPr>
        <p:spPr>
          <a:xfrm>
            <a:off x="9372600" y="5715000"/>
            <a:ext cx="95250" cy="876300"/>
          </a:xfrm>
          <a:prstGeom prst="roundRect">
            <a:avLst>
              <a:gd name="adj" fmla="val 50000"/>
            </a:avLst>
          </a:prstGeom>
          <a:solidFill>
            <a:srgbClr val="D9B760"/>
          </a:solidFill>
        </p:spPr>
      </p:sp>
      <p:sp>
        <p:nvSpPr>
          <p:cNvPr id="27" name="Hình chữ nhật 26">
            <a:extLst>
              <a:ext uri="{FF2B5EF4-FFF2-40B4-BE49-F238E27FC236}">
                <a16:creationId xmlns:a16="http://schemas.microsoft.com/office/drawing/2014/main" id="{2F674F32-6289-472C-9747-D7948F71D013}"/>
              </a:ext>
            </a:extLst>
          </p:cNvPr>
          <p:cNvSpPr>
            <a:spLocks noGrp="1"/>
          </p:cNvSpPr>
          <p:nvPr/>
        </p:nvSpPr>
        <p:spPr>
          <a:xfrm>
            <a:off x="9620250" y="5715000"/>
            <a:ext cx="7867650" cy="400050"/>
          </a:xfrm>
          <a:prstGeom prst="rect">
            <a:avLst/>
          </a:prstGeom>
        </p:spPr>
        <p:txBody>
          <a:bodyPr lIns="0" tIns="0" rIns="0" bIns="0"/>
          <a:lstStyle/>
          <a:p>
            <a:pPr>
              <a:lnSpc>
                <a:spcPct val="125000"/>
              </a:lnSpc>
              <a:buNone/>
              <a:defRPr sz="2100" b="1">
                <a:solidFill>
                  <a:srgbClr val="151515"/>
                </a:solidFill>
              </a:defRPr>
            </a:pPr>
            <a:r>
              <a:rPr sz="2100" b="1">
                <a:solidFill>
                  <a:srgbClr val="151515"/>
                </a:solidFill>
              </a:rPr>
              <a:t>Vận hành admin</a:t>
            </a:r>
          </a:p>
        </p:txBody>
      </p:sp>
      <p:sp>
        <p:nvSpPr>
          <p:cNvPr id="28" name="Hình chữ nhật 27">
            <a:extLst>
              <a:ext uri="{FF2B5EF4-FFF2-40B4-BE49-F238E27FC236}">
                <a16:creationId xmlns:a16="http://schemas.microsoft.com/office/drawing/2014/main" id="{15924645-D5FB-4FF7-8907-2D73CE54351B}"/>
              </a:ext>
            </a:extLst>
          </p:cNvPr>
          <p:cNvSpPr>
            <a:spLocks noGrp="1"/>
          </p:cNvSpPr>
          <p:nvPr/>
        </p:nvSpPr>
        <p:spPr>
          <a:xfrm>
            <a:off x="9620250" y="6172200"/>
            <a:ext cx="7867650" cy="304800"/>
          </a:xfrm>
          <a:prstGeom prst="rect">
            <a:avLst/>
          </a:prstGeom>
        </p:spPr>
        <p:txBody>
          <a:bodyPr lIns="0" tIns="0" rIns="0" bIns="0"/>
          <a:lstStyle/>
          <a:p>
            <a:pPr>
              <a:lnSpc>
                <a:spcPct val="122000"/>
              </a:lnSpc>
              <a:buNone/>
              <a:defRPr sz="1575">
                <a:solidFill>
                  <a:srgbClr val="647067"/>
                </a:solidFill>
              </a:defRPr>
            </a:pPr>
            <a:r>
              <a:rPr sz="1575">
                <a:solidFill>
                  <a:srgbClr val="647067"/>
                </a:solidFill>
              </a:rPr>
              <a:t>Quản lý nội dung, catalog, đơn hàng, khách hàng và coupon.</a:t>
            </a:r>
          </a:p>
        </p:txBody>
      </p:sp>
      <p:sp>
        <p:nvSpPr>
          <p:cNvPr id="29" name="Hình chữ nhật: Góc Tròn 28">
            <a:extLst>
              <a:ext uri="{FF2B5EF4-FFF2-40B4-BE49-F238E27FC236}">
                <a16:creationId xmlns:a16="http://schemas.microsoft.com/office/drawing/2014/main" id="{E4577E84-1BF3-4950-BBDF-FC342C2C9FE2}"/>
              </a:ext>
            </a:extLst>
          </p:cNvPr>
          <p:cNvSpPr>
            <a:spLocks noGrp="1"/>
          </p:cNvSpPr>
          <p:nvPr/>
        </p:nvSpPr>
        <p:spPr>
          <a:xfrm>
            <a:off x="9372600" y="6781800"/>
            <a:ext cx="95250" cy="876300"/>
          </a:xfrm>
          <a:prstGeom prst="roundRect">
            <a:avLst>
              <a:gd name="adj" fmla="val 50000"/>
            </a:avLst>
          </a:prstGeom>
          <a:solidFill>
            <a:srgbClr val="F39A8A"/>
          </a:solidFill>
        </p:spPr>
      </p:sp>
      <p:sp>
        <p:nvSpPr>
          <p:cNvPr id="30" name="Hình chữ nhật 29">
            <a:extLst>
              <a:ext uri="{FF2B5EF4-FFF2-40B4-BE49-F238E27FC236}">
                <a16:creationId xmlns:a16="http://schemas.microsoft.com/office/drawing/2014/main" id="{DEDADA55-40F6-4687-88EE-A8F3A4C721E4}"/>
              </a:ext>
            </a:extLst>
          </p:cNvPr>
          <p:cNvSpPr>
            <a:spLocks noGrp="1"/>
          </p:cNvSpPr>
          <p:nvPr/>
        </p:nvSpPr>
        <p:spPr>
          <a:xfrm>
            <a:off x="9620250" y="6762750"/>
            <a:ext cx="7867650" cy="400050"/>
          </a:xfrm>
          <a:prstGeom prst="rect">
            <a:avLst/>
          </a:prstGeom>
        </p:spPr>
        <p:txBody>
          <a:bodyPr lIns="0" tIns="0" rIns="0" bIns="0"/>
          <a:lstStyle/>
          <a:p>
            <a:pPr>
              <a:lnSpc>
                <a:spcPct val="125000"/>
              </a:lnSpc>
              <a:buNone/>
              <a:defRPr sz="2100" b="1">
                <a:solidFill>
                  <a:srgbClr val="151515"/>
                </a:solidFill>
              </a:defRPr>
            </a:pPr>
            <a:r>
              <a:rPr sz="2100" b="1">
                <a:solidFill>
                  <a:srgbClr val="151515"/>
                </a:solidFill>
              </a:rPr>
              <a:t>Cá nhân hóa</a:t>
            </a:r>
          </a:p>
        </p:txBody>
      </p:sp>
      <p:sp>
        <p:nvSpPr>
          <p:cNvPr id="31" name="Hình chữ nhật 30">
            <a:extLst>
              <a:ext uri="{FF2B5EF4-FFF2-40B4-BE49-F238E27FC236}">
                <a16:creationId xmlns:a16="http://schemas.microsoft.com/office/drawing/2014/main" id="{31D23F74-4F3A-476A-AA7B-6B01CB08E30F}"/>
              </a:ext>
            </a:extLst>
          </p:cNvPr>
          <p:cNvSpPr>
            <a:spLocks noGrp="1"/>
          </p:cNvSpPr>
          <p:nvPr/>
        </p:nvSpPr>
        <p:spPr>
          <a:xfrm>
            <a:off x="9620250" y="7219950"/>
            <a:ext cx="7867650" cy="304800"/>
          </a:xfrm>
          <a:prstGeom prst="rect">
            <a:avLst/>
          </a:prstGeom>
        </p:spPr>
        <p:txBody>
          <a:bodyPr lIns="0" tIns="0" rIns="0" bIns="0"/>
          <a:lstStyle/>
          <a:p>
            <a:pPr>
              <a:lnSpc>
                <a:spcPct val="122000"/>
              </a:lnSpc>
              <a:buNone/>
              <a:defRPr sz="1575">
                <a:solidFill>
                  <a:srgbClr val="647067"/>
                </a:solidFill>
              </a:defRPr>
            </a:pPr>
            <a:r>
              <a:rPr sz="1575">
                <a:solidFill>
                  <a:srgbClr val="647067"/>
                </a:solidFill>
              </a:rPr>
              <a:t>AI Stylist làm tăng chiều sâu trải nghiệm luxury fashion.</a:t>
            </a:r>
          </a:p>
        </p:txBody>
      </p:sp>
    </p:spTree>
    <p:extLst>
      <p:ext uri="{BB962C8B-B14F-4D97-AF65-F5344CB8AC3E}">
        <p14:creationId xmlns:p14="http://schemas.microsoft.com/office/powerpoint/2010/main" val="7578547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background">
            <a:extLst>
              <a:ext uri="{FF2B5EF4-FFF2-40B4-BE49-F238E27FC236}">
                <a16:creationId xmlns:a16="http://schemas.microsoft.com/office/drawing/2014/main" id="{4D87CE8D-317F-4271-A55F-DD3558CF783C}"/>
              </a:ext>
            </a:extLst>
          </p:cNvPr>
          <p:cNvSpPr>
            <a:spLocks noGrp="1"/>
          </p:cNvSpPr>
          <p:nvPr/>
        </p:nvSpPr>
        <p:spPr>
          <a:xfrm>
            <a:off x="0" y="0"/>
            <a:ext cx="18288000" cy="10287000"/>
          </a:xfrm>
          <a:prstGeom prst="rect">
            <a:avLst/>
          </a:prstGeom>
          <a:solidFill>
            <a:srgbClr val="FFFDF8"/>
          </a:solidFill>
        </p:spPr>
      </p:sp>
      <p:sp>
        <p:nvSpPr>
          <p:cNvPr id="2" name="top-band">
            <a:extLst>
              <a:ext uri="{FF2B5EF4-FFF2-40B4-BE49-F238E27FC236}">
                <a16:creationId xmlns:a16="http://schemas.microsoft.com/office/drawing/2014/main" id="{C1A23ACE-76C3-4A56-AFB1-CE3EC69917A1}"/>
              </a:ext>
            </a:extLst>
          </p:cNvPr>
          <p:cNvSpPr>
            <a:spLocks noGrp="1"/>
          </p:cNvSpPr>
          <p:nvPr/>
        </p:nvSpPr>
        <p:spPr>
          <a:xfrm>
            <a:off x="0" y="0"/>
            <a:ext cx="18288000" cy="152400"/>
          </a:xfrm>
          <a:prstGeom prst="rect">
            <a:avLst/>
          </a:prstGeom>
          <a:solidFill>
            <a:srgbClr val="77B8A4"/>
          </a:solidFill>
        </p:spPr>
      </p:sp>
      <p:sp>
        <p:nvSpPr>
          <p:cNvPr id="3" name="bottom-band">
            <a:extLst>
              <a:ext uri="{FF2B5EF4-FFF2-40B4-BE49-F238E27FC236}">
                <a16:creationId xmlns:a16="http://schemas.microsoft.com/office/drawing/2014/main" id="{30402E1D-6C86-44DA-89B7-C69BBD7B8848}"/>
              </a:ext>
            </a:extLst>
          </p:cNvPr>
          <p:cNvSpPr>
            <a:spLocks noGrp="1"/>
          </p:cNvSpPr>
          <p:nvPr/>
        </p:nvSpPr>
        <p:spPr>
          <a:xfrm>
            <a:off x="0" y="0"/>
            <a:ext cx="18288000" cy="76200"/>
          </a:xfrm>
          <a:prstGeom prst="rect">
            <a:avLst/>
          </a:prstGeom>
          <a:solidFill>
            <a:srgbClr val="D9B760"/>
          </a:solidFill>
        </p:spPr>
      </p:sp>
      <p:sp>
        <p:nvSpPr>
          <p:cNvPr id="4" name="Hình chữ nhật: Góc Tròn 3">
            <a:extLst>
              <a:ext uri="{FF2B5EF4-FFF2-40B4-BE49-F238E27FC236}">
                <a16:creationId xmlns:a16="http://schemas.microsoft.com/office/drawing/2014/main" id="{377705CF-0CB8-47B6-B8DC-6E2C47C7C3A4}"/>
              </a:ext>
            </a:extLst>
          </p:cNvPr>
          <p:cNvSpPr>
            <a:spLocks noGrp="1"/>
          </p:cNvSpPr>
          <p:nvPr/>
        </p:nvSpPr>
        <p:spPr>
          <a:xfrm>
            <a:off x="838200" y="647700"/>
            <a:ext cx="400050" cy="95250"/>
          </a:xfrm>
          <a:prstGeom prst="roundRect">
            <a:avLst>
              <a:gd name="adj" fmla="val 50000"/>
            </a:avLst>
          </a:prstGeom>
          <a:solidFill>
            <a:srgbClr val="77B8A4"/>
          </a:solidFill>
        </p:spPr>
      </p:sp>
      <p:sp>
        <p:nvSpPr>
          <p:cNvPr id="5" name="Hình chữ nhật 4">
            <a:extLst>
              <a:ext uri="{FF2B5EF4-FFF2-40B4-BE49-F238E27FC236}">
                <a16:creationId xmlns:a16="http://schemas.microsoft.com/office/drawing/2014/main" id="{CF751274-44D8-47DB-83EA-EA46830FAD8B}"/>
              </a:ext>
            </a:extLst>
          </p:cNvPr>
          <p:cNvSpPr>
            <a:spLocks noGrp="1"/>
          </p:cNvSpPr>
          <p:nvPr/>
        </p:nvSpPr>
        <p:spPr>
          <a:xfrm>
            <a:off x="1371600" y="571500"/>
            <a:ext cx="15544800" cy="228600"/>
          </a:xfrm>
          <a:prstGeom prst="rect">
            <a:avLst/>
          </a:prstGeom>
        </p:spPr>
        <p:txBody>
          <a:bodyPr lIns="0" tIns="0" rIns="0" bIns="0"/>
          <a:lstStyle/>
          <a:p>
            <a:pPr>
              <a:lnSpc>
                <a:spcPct val="125000"/>
              </a:lnSpc>
              <a:buNone/>
              <a:defRPr sz="1200" b="1">
                <a:solidFill>
                  <a:srgbClr val="7E3D4A"/>
                </a:solidFill>
              </a:defRPr>
            </a:pPr>
            <a:r>
              <a:rPr sz="1200" b="1">
                <a:solidFill>
                  <a:srgbClr val="7E3D4A"/>
                </a:solidFill>
              </a:rPr>
              <a:t>ĐIỂM MẠNH</a:t>
            </a:r>
          </a:p>
        </p:txBody>
      </p:sp>
      <p:sp>
        <p:nvSpPr>
          <p:cNvPr id="6" name="Hình chữ nhật 5">
            <a:extLst>
              <a:ext uri="{FF2B5EF4-FFF2-40B4-BE49-F238E27FC236}">
                <a16:creationId xmlns:a16="http://schemas.microsoft.com/office/drawing/2014/main" id="{35CA876C-89D8-4BF3-8ABE-F57B5C850F75}"/>
              </a:ext>
            </a:extLst>
          </p:cNvPr>
          <p:cNvSpPr>
            <a:spLocks noGrp="1"/>
          </p:cNvSpPr>
          <p:nvPr/>
        </p:nvSpPr>
        <p:spPr>
          <a:xfrm>
            <a:off x="17068800" y="571500"/>
            <a:ext cx="400050" cy="228600"/>
          </a:xfrm>
          <a:prstGeom prst="rect">
            <a:avLst/>
          </a:prstGeom>
        </p:spPr>
        <p:txBody>
          <a:bodyPr lIns="0" tIns="0" rIns="0" bIns="0"/>
          <a:lstStyle/>
          <a:p>
            <a:pPr>
              <a:lnSpc>
                <a:spcPct val="120000"/>
              </a:lnSpc>
              <a:buNone/>
              <a:defRPr sz="1275" b="1">
                <a:solidFill>
                  <a:srgbClr val="7E3D4A"/>
                </a:solidFill>
              </a:defRPr>
            </a:pPr>
            <a:r>
              <a:rPr sz="1275" b="1">
                <a:solidFill>
                  <a:srgbClr val="7E3D4A"/>
                </a:solidFill>
              </a:rPr>
              <a:t>27/30</a:t>
            </a:r>
          </a:p>
        </p:txBody>
      </p:sp>
      <p:sp>
        <p:nvSpPr>
          <p:cNvPr id="7" name="slide-title">
            <a:extLst>
              <a:ext uri="{FF2B5EF4-FFF2-40B4-BE49-F238E27FC236}">
                <a16:creationId xmlns:a16="http://schemas.microsoft.com/office/drawing/2014/main" id="{88963AA9-790E-45FA-8D2F-F61AF22281EE}"/>
              </a:ext>
            </a:extLst>
          </p:cNvPr>
          <p:cNvSpPr>
            <a:spLocks noGrp="1"/>
          </p:cNvSpPr>
          <p:nvPr/>
        </p:nvSpPr>
        <p:spPr>
          <a:xfrm>
            <a:off x="819150" y="933450"/>
            <a:ext cx="16649700" cy="590550"/>
          </a:xfrm>
          <a:prstGeom prst="rect">
            <a:avLst/>
          </a:prstGeom>
        </p:spPr>
        <p:txBody>
          <a:bodyPr lIns="0" tIns="0" rIns="0" bIns="0"/>
          <a:lstStyle/>
          <a:p>
            <a:pPr>
              <a:lnSpc>
                <a:spcPct val="105000"/>
              </a:lnSpc>
              <a:buNone/>
              <a:defRPr sz="3600" b="1">
                <a:solidFill>
                  <a:srgbClr val="151515"/>
                </a:solidFill>
              </a:defRPr>
            </a:pPr>
            <a:r>
              <a:rPr sz="3600" b="1">
                <a:solidFill>
                  <a:srgbClr val="151515"/>
                </a:solidFill>
              </a:rPr>
              <a:t>Điểm mạnh của đề tài</a:t>
            </a:r>
          </a:p>
        </p:txBody>
      </p:sp>
      <p:sp>
        <p:nvSpPr>
          <p:cNvPr id="8" name="title-rule">
            <a:extLst>
              <a:ext uri="{FF2B5EF4-FFF2-40B4-BE49-F238E27FC236}">
                <a16:creationId xmlns:a16="http://schemas.microsoft.com/office/drawing/2014/main" id="{457EC815-2055-45A0-9322-5D0268EA4BC8}"/>
              </a:ext>
            </a:extLst>
          </p:cNvPr>
          <p:cNvSpPr>
            <a:spLocks noGrp="1"/>
          </p:cNvSpPr>
          <p:nvPr/>
        </p:nvSpPr>
        <p:spPr>
          <a:xfrm>
            <a:off x="819150" y="1619250"/>
            <a:ext cx="1905000" cy="38100"/>
          </a:xfrm>
          <a:prstGeom prst="rect">
            <a:avLst/>
          </a:prstGeom>
          <a:solidFill>
            <a:srgbClr val="77B8A4"/>
          </a:solidFill>
          <a:ln w="0">
            <a:solidFill>
              <a:srgbClr val="77B8A4"/>
            </a:solidFill>
            <a:prstDash val="solid"/>
          </a:ln>
        </p:spPr>
      </p:sp>
      <p:sp>
        <p:nvSpPr>
          <p:cNvPr id="9" name="Hình chữ nhật: Góc Tròn 8">
            <a:extLst>
              <a:ext uri="{FF2B5EF4-FFF2-40B4-BE49-F238E27FC236}">
                <a16:creationId xmlns:a16="http://schemas.microsoft.com/office/drawing/2014/main" id="{41E7E60F-354D-40AA-B801-C37A1A9757B6}"/>
              </a:ext>
            </a:extLst>
          </p:cNvPr>
          <p:cNvSpPr>
            <a:spLocks noGrp="1"/>
          </p:cNvSpPr>
          <p:nvPr/>
        </p:nvSpPr>
        <p:spPr>
          <a:xfrm>
            <a:off x="819150" y="4696968"/>
            <a:ext cx="5422900" cy="1032129"/>
          </a:xfrm>
          <a:prstGeom prst="roundRect">
            <a:avLst>
              <a:gd name="adj" fmla="val 7383"/>
            </a:avLst>
          </a:prstGeom>
          <a:solidFill>
            <a:srgbClr val="FFFFFF"/>
          </a:solidFill>
          <a:ln w="9525">
            <a:solidFill>
              <a:srgbClr val="E8DDCF"/>
            </a:solidFill>
            <a:prstDash val="solid"/>
          </a:ln>
        </p:spPr>
      </p:sp>
      <p:sp>
        <p:nvSpPr>
          <p:cNvPr id="10" name="Hình chữ nhật: Góc Tròn 9">
            <a:extLst>
              <a:ext uri="{FF2B5EF4-FFF2-40B4-BE49-F238E27FC236}">
                <a16:creationId xmlns:a16="http://schemas.microsoft.com/office/drawing/2014/main" id="{0E154D72-E65A-470E-AA33-34FEA5F3C9AA}"/>
              </a:ext>
            </a:extLst>
          </p:cNvPr>
          <p:cNvSpPr>
            <a:spLocks noGrp="1"/>
          </p:cNvSpPr>
          <p:nvPr/>
        </p:nvSpPr>
        <p:spPr>
          <a:xfrm>
            <a:off x="1028700" y="4876800"/>
            <a:ext cx="104775" cy="323850"/>
          </a:xfrm>
          <a:prstGeom prst="roundRect">
            <a:avLst>
              <a:gd name="adj" fmla="val 50000"/>
            </a:avLst>
          </a:prstGeom>
          <a:solidFill>
            <a:srgbClr val="77B8A4"/>
          </a:solidFill>
        </p:spPr>
      </p:sp>
      <p:sp>
        <p:nvSpPr>
          <p:cNvPr id="11" name="Hình chữ nhật 10">
            <a:extLst>
              <a:ext uri="{FF2B5EF4-FFF2-40B4-BE49-F238E27FC236}">
                <a16:creationId xmlns:a16="http://schemas.microsoft.com/office/drawing/2014/main" id="{B9AC7233-9EDE-4DAC-9A2A-DC3729494553}"/>
              </a:ext>
            </a:extLst>
          </p:cNvPr>
          <p:cNvSpPr>
            <a:spLocks noGrp="1"/>
          </p:cNvSpPr>
          <p:nvPr/>
        </p:nvSpPr>
        <p:spPr>
          <a:xfrm>
            <a:off x="1238250" y="4876800"/>
            <a:ext cx="480060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Phạm vi thực tế</a:t>
            </a:r>
          </a:p>
        </p:txBody>
      </p:sp>
      <p:sp>
        <p:nvSpPr>
          <p:cNvPr id="12" name="Hình chữ nhật 11">
            <a:extLst>
              <a:ext uri="{FF2B5EF4-FFF2-40B4-BE49-F238E27FC236}">
                <a16:creationId xmlns:a16="http://schemas.microsoft.com/office/drawing/2014/main" id="{668556B9-0BA9-4089-8498-107E2442758E}"/>
              </a:ext>
            </a:extLst>
          </p:cNvPr>
          <p:cNvSpPr>
            <a:spLocks noGrp="1"/>
          </p:cNvSpPr>
          <p:nvPr/>
        </p:nvSpPr>
        <p:spPr>
          <a:xfrm>
            <a:off x="1028700" y="5295900"/>
            <a:ext cx="5010150" cy="266700"/>
          </a:xfrm>
          <a:prstGeom prst="rect">
            <a:avLst/>
          </a:prstGeom>
        </p:spPr>
        <p:txBody>
          <a:bodyPr lIns="0" tIns="0" rIns="0" bIns="0"/>
          <a:lstStyle/>
          <a:p>
            <a:pPr>
              <a:lnSpc>
                <a:spcPct val="120000"/>
              </a:lnSpc>
              <a:buNone/>
              <a:defRPr sz="1425">
                <a:solidFill>
                  <a:srgbClr val="647067"/>
                </a:solidFill>
              </a:defRPr>
            </a:pPr>
            <a:r>
              <a:rPr sz="1425">
                <a:solidFill>
                  <a:srgbClr val="647067"/>
                </a:solidFill>
              </a:rPr>
              <a:t>Gần với một hệ thống e-commerce vận hành thật.</a:t>
            </a:r>
          </a:p>
        </p:txBody>
      </p:sp>
      <p:sp>
        <p:nvSpPr>
          <p:cNvPr id="13" name="Hình chữ nhật: Góc Tròn 12">
            <a:extLst>
              <a:ext uri="{FF2B5EF4-FFF2-40B4-BE49-F238E27FC236}">
                <a16:creationId xmlns:a16="http://schemas.microsoft.com/office/drawing/2014/main" id="{67CFAF84-F457-4CEB-92F4-AF6D190BBE2E}"/>
              </a:ext>
            </a:extLst>
          </p:cNvPr>
          <p:cNvSpPr>
            <a:spLocks noGrp="1"/>
          </p:cNvSpPr>
          <p:nvPr/>
        </p:nvSpPr>
        <p:spPr>
          <a:xfrm>
            <a:off x="6432550" y="4696968"/>
            <a:ext cx="5422900" cy="1032129"/>
          </a:xfrm>
          <a:prstGeom prst="roundRect">
            <a:avLst>
              <a:gd name="adj" fmla="val 7383"/>
            </a:avLst>
          </a:prstGeom>
          <a:solidFill>
            <a:srgbClr val="FFFFFF"/>
          </a:solidFill>
          <a:ln w="9525">
            <a:solidFill>
              <a:srgbClr val="E8DDCF"/>
            </a:solidFill>
            <a:prstDash val="solid"/>
          </a:ln>
        </p:spPr>
      </p:sp>
      <p:sp>
        <p:nvSpPr>
          <p:cNvPr id="14" name="Hình chữ nhật: Góc Tròn 13">
            <a:extLst>
              <a:ext uri="{FF2B5EF4-FFF2-40B4-BE49-F238E27FC236}">
                <a16:creationId xmlns:a16="http://schemas.microsoft.com/office/drawing/2014/main" id="{07C0FF13-510D-4B88-B3BF-F3D93348DAF5}"/>
              </a:ext>
            </a:extLst>
          </p:cNvPr>
          <p:cNvSpPr>
            <a:spLocks noGrp="1"/>
          </p:cNvSpPr>
          <p:nvPr/>
        </p:nvSpPr>
        <p:spPr>
          <a:xfrm>
            <a:off x="6629400" y="4876800"/>
            <a:ext cx="104775" cy="323850"/>
          </a:xfrm>
          <a:prstGeom prst="roundRect">
            <a:avLst>
              <a:gd name="adj" fmla="val 50000"/>
            </a:avLst>
          </a:prstGeom>
          <a:solidFill>
            <a:srgbClr val="D9B760"/>
          </a:solidFill>
        </p:spPr>
      </p:sp>
      <p:sp>
        <p:nvSpPr>
          <p:cNvPr id="15" name="Hình chữ nhật 14">
            <a:extLst>
              <a:ext uri="{FF2B5EF4-FFF2-40B4-BE49-F238E27FC236}">
                <a16:creationId xmlns:a16="http://schemas.microsoft.com/office/drawing/2014/main" id="{7BAF9C41-A46D-40E4-8A52-FB0B440CE0F2}"/>
              </a:ext>
            </a:extLst>
          </p:cNvPr>
          <p:cNvSpPr>
            <a:spLocks noGrp="1"/>
          </p:cNvSpPr>
          <p:nvPr/>
        </p:nvSpPr>
        <p:spPr>
          <a:xfrm>
            <a:off x="6838950" y="4876800"/>
            <a:ext cx="480060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Resale-aware</a:t>
            </a:r>
          </a:p>
        </p:txBody>
      </p:sp>
      <p:sp>
        <p:nvSpPr>
          <p:cNvPr id="16" name="Hình chữ nhật 15">
            <a:extLst>
              <a:ext uri="{FF2B5EF4-FFF2-40B4-BE49-F238E27FC236}">
                <a16:creationId xmlns:a16="http://schemas.microsoft.com/office/drawing/2014/main" id="{0AD6B3C5-5F7C-4CE4-98AE-8E6455109D94}"/>
              </a:ext>
            </a:extLst>
          </p:cNvPr>
          <p:cNvSpPr>
            <a:spLocks noGrp="1"/>
          </p:cNvSpPr>
          <p:nvPr/>
        </p:nvSpPr>
        <p:spPr>
          <a:xfrm>
            <a:off x="6648450" y="5295900"/>
            <a:ext cx="5010150" cy="266700"/>
          </a:xfrm>
          <a:prstGeom prst="rect">
            <a:avLst/>
          </a:prstGeom>
        </p:spPr>
        <p:txBody>
          <a:bodyPr lIns="0" tIns="0" rIns="0" bIns="0"/>
          <a:lstStyle/>
          <a:p>
            <a:pPr>
              <a:lnSpc>
                <a:spcPct val="120000"/>
              </a:lnSpc>
              <a:buNone/>
              <a:defRPr sz="1425">
                <a:solidFill>
                  <a:srgbClr val="647067"/>
                </a:solidFill>
              </a:defRPr>
            </a:pPr>
            <a:r>
              <a:rPr sz="1425">
                <a:solidFill>
                  <a:srgbClr val="647067"/>
                </a:solidFill>
              </a:rPr>
              <a:t>Variant có SKU, status, stock và tình trạng riêng.</a:t>
            </a:r>
          </a:p>
        </p:txBody>
      </p:sp>
      <p:sp>
        <p:nvSpPr>
          <p:cNvPr id="17" name="Hình chữ nhật: Góc Tròn 16">
            <a:extLst>
              <a:ext uri="{FF2B5EF4-FFF2-40B4-BE49-F238E27FC236}">
                <a16:creationId xmlns:a16="http://schemas.microsoft.com/office/drawing/2014/main" id="{048BCD6F-875B-4464-AAE3-568757671E0B}"/>
              </a:ext>
            </a:extLst>
          </p:cNvPr>
          <p:cNvSpPr>
            <a:spLocks noGrp="1"/>
          </p:cNvSpPr>
          <p:nvPr/>
        </p:nvSpPr>
        <p:spPr>
          <a:xfrm>
            <a:off x="12045950" y="4696968"/>
            <a:ext cx="5422900" cy="1032129"/>
          </a:xfrm>
          <a:prstGeom prst="roundRect">
            <a:avLst>
              <a:gd name="adj" fmla="val 7383"/>
            </a:avLst>
          </a:prstGeom>
          <a:solidFill>
            <a:srgbClr val="FFFFFF"/>
          </a:solidFill>
          <a:ln w="9525">
            <a:solidFill>
              <a:srgbClr val="E8DDCF"/>
            </a:solidFill>
            <a:prstDash val="solid"/>
          </a:ln>
        </p:spPr>
      </p:sp>
      <p:sp>
        <p:nvSpPr>
          <p:cNvPr id="18" name="Hình chữ nhật: Góc Tròn 17">
            <a:extLst>
              <a:ext uri="{FF2B5EF4-FFF2-40B4-BE49-F238E27FC236}">
                <a16:creationId xmlns:a16="http://schemas.microsoft.com/office/drawing/2014/main" id="{2BEABBEA-8C55-4EED-B87D-5D2B4D39F0C2}"/>
              </a:ext>
            </a:extLst>
          </p:cNvPr>
          <p:cNvSpPr>
            <a:spLocks noGrp="1"/>
          </p:cNvSpPr>
          <p:nvPr/>
        </p:nvSpPr>
        <p:spPr>
          <a:xfrm>
            <a:off x="12268200" y="4876800"/>
            <a:ext cx="104775" cy="323850"/>
          </a:xfrm>
          <a:prstGeom prst="roundRect">
            <a:avLst>
              <a:gd name="adj" fmla="val 50000"/>
            </a:avLst>
          </a:prstGeom>
          <a:solidFill>
            <a:srgbClr val="87B8D6"/>
          </a:solidFill>
        </p:spPr>
      </p:sp>
      <p:sp>
        <p:nvSpPr>
          <p:cNvPr id="19" name="Hình chữ nhật 18">
            <a:extLst>
              <a:ext uri="{FF2B5EF4-FFF2-40B4-BE49-F238E27FC236}">
                <a16:creationId xmlns:a16="http://schemas.microsoft.com/office/drawing/2014/main" id="{DB69004F-20D9-4A26-BC46-FB30D78D901A}"/>
              </a:ext>
            </a:extLst>
          </p:cNvPr>
          <p:cNvSpPr>
            <a:spLocks noGrp="1"/>
          </p:cNvSpPr>
          <p:nvPr/>
        </p:nvSpPr>
        <p:spPr>
          <a:xfrm>
            <a:off x="12458700" y="4876800"/>
            <a:ext cx="480060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Backend mở rộng</a:t>
            </a:r>
          </a:p>
        </p:txBody>
      </p:sp>
      <p:sp>
        <p:nvSpPr>
          <p:cNvPr id="20" name="Hình chữ nhật 19">
            <a:extLst>
              <a:ext uri="{FF2B5EF4-FFF2-40B4-BE49-F238E27FC236}">
                <a16:creationId xmlns:a16="http://schemas.microsoft.com/office/drawing/2014/main" id="{FC195DF6-5D00-4D6A-A134-4CC1E2A0269E}"/>
              </a:ext>
            </a:extLst>
          </p:cNvPr>
          <p:cNvSpPr>
            <a:spLocks noGrp="1"/>
          </p:cNvSpPr>
          <p:nvPr/>
        </p:nvSpPr>
        <p:spPr>
          <a:xfrm>
            <a:off x="12249150" y="5295900"/>
            <a:ext cx="5010150" cy="266700"/>
          </a:xfrm>
          <a:prstGeom prst="rect">
            <a:avLst/>
          </a:prstGeom>
        </p:spPr>
        <p:txBody>
          <a:bodyPr lIns="0" tIns="0" rIns="0" bIns="0"/>
          <a:lstStyle/>
          <a:p>
            <a:pPr>
              <a:lnSpc>
                <a:spcPct val="120000"/>
              </a:lnSpc>
              <a:buNone/>
              <a:defRPr sz="1425">
                <a:solidFill>
                  <a:srgbClr val="647067"/>
                </a:solidFill>
              </a:defRPr>
            </a:pPr>
            <a:r>
              <a:rPr sz="1425">
                <a:solidFill>
                  <a:srgbClr val="647067"/>
                </a:solidFill>
              </a:rPr>
              <a:t>Service layer giúp business logic rõ ràng.</a:t>
            </a:r>
          </a:p>
        </p:txBody>
      </p:sp>
      <p:sp>
        <p:nvSpPr>
          <p:cNvPr id="21" name="Hình chữ nhật: Góc Tròn 20">
            <a:extLst>
              <a:ext uri="{FF2B5EF4-FFF2-40B4-BE49-F238E27FC236}">
                <a16:creationId xmlns:a16="http://schemas.microsoft.com/office/drawing/2014/main" id="{7A2EC0D4-0891-4344-833A-EF273AFD06F3}"/>
              </a:ext>
            </a:extLst>
          </p:cNvPr>
          <p:cNvSpPr>
            <a:spLocks noGrp="1"/>
          </p:cNvSpPr>
          <p:nvPr/>
        </p:nvSpPr>
        <p:spPr>
          <a:xfrm>
            <a:off x="819150" y="5919597"/>
            <a:ext cx="5422900" cy="1032129"/>
          </a:xfrm>
          <a:prstGeom prst="roundRect">
            <a:avLst>
              <a:gd name="adj" fmla="val 7383"/>
            </a:avLst>
          </a:prstGeom>
          <a:solidFill>
            <a:srgbClr val="FFFFFF"/>
          </a:solidFill>
          <a:ln w="9525">
            <a:solidFill>
              <a:srgbClr val="E8DDCF"/>
            </a:solidFill>
            <a:prstDash val="solid"/>
          </a:ln>
        </p:spPr>
      </p:sp>
      <p:sp>
        <p:nvSpPr>
          <p:cNvPr id="22" name="Hình chữ nhật: Góc Tròn 21">
            <a:extLst>
              <a:ext uri="{FF2B5EF4-FFF2-40B4-BE49-F238E27FC236}">
                <a16:creationId xmlns:a16="http://schemas.microsoft.com/office/drawing/2014/main" id="{8B51EF3A-37D4-4A0F-8965-7CA9E81801F4}"/>
              </a:ext>
            </a:extLst>
          </p:cNvPr>
          <p:cNvSpPr>
            <a:spLocks noGrp="1"/>
          </p:cNvSpPr>
          <p:nvPr/>
        </p:nvSpPr>
        <p:spPr>
          <a:xfrm>
            <a:off x="1028700" y="6096000"/>
            <a:ext cx="104775" cy="323850"/>
          </a:xfrm>
          <a:prstGeom prst="roundRect">
            <a:avLst>
              <a:gd name="adj" fmla="val 50000"/>
            </a:avLst>
          </a:prstGeom>
          <a:solidFill>
            <a:srgbClr val="F39A8A"/>
          </a:solidFill>
        </p:spPr>
      </p:sp>
      <p:sp>
        <p:nvSpPr>
          <p:cNvPr id="23" name="Hình chữ nhật 22">
            <a:extLst>
              <a:ext uri="{FF2B5EF4-FFF2-40B4-BE49-F238E27FC236}">
                <a16:creationId xmlns:a16="http://schemas.microsoft.com/office/drawing/2014/main" id="{2232A321-E83B-44F0-8300-7F79DB829104}"/>
              </a:ext>
            </a:extLst>
          </p:cNvPr>
          <p:cNvSpPr>
            <a:spLocks noGrp="1"/>
          </p:cNvSpPr>
          <p:nvPr/>
        </p:nvSpPr>
        <p:spPr>
          <a:xfrm>
            <a:off x="1238250" y="6096000"/>
            <a:ext cx="480060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Admin rộng</a:t>
            </a:r>
          </a:p>
        </p:txBody>
      </p:sp>
      <p:sp>
        <p:nvSpPr>
          <p:cNvPr id="24" name="Hình chữ nhật 23">
            <a:extLst>
              <a:ext uri="{FF2B5EF4-FFF2-40B4-BE49-F238E27FC236}">
                <a16:creationId xmlns:a16="http://schemas.microsoft.com/office/drawing/2014/main" id="{1F092881-B384-4938-B51F-0A307203F152}"/>
              </a:ext>
            </a:extLst>
          </p:cNvPr>
          <p:cNvSpPr>
            <a:spLocks noGrp="1"/>
          </p:cNvSpPr>
          <p:nvPr/>
        </p:nvSpPr>
        <p:spPr>
          <a:xfrm>
            <a:off x="1028700" y="6515100"/>
            <a:ext cx="5010150" cy="266700"/>
          </a:xfrm>
          <a:prstGeom prst="rect">
            <a:avLst/>
          </a:prstGeom>
        </p:spPr>
        <p:txBody>
          <a:bodyPr lIns="0" tIns="0" rIns="0" bIns="0"/>
          <a:lstStyle/>
          <a:p>
            <a:pPr>
              <a:lnSpc>
                <a:spcPct val="120000"/>
              </a:lnSpc>
              <a:buNone/>
              <a:defRPr sz="1425">
                <a:solidFill>
                  <a:srgbClr val="647067"/>
                </a:solidFill>
              </a:defRPr>
            </a:pPr>
            <a:r>
              <a:rPr sz="1425">
                <a:solidFill>
                  <a:srgbClr val="647067"/>
                </a:solidFill>
              </a:rPr>
              <a:t>Quản lý sản phẩm, đơn hàng, content, coupon và AI.</a:t>
            </a:r>
          </a:p>
        </p:txBody>
      </p:sp>
      <p:sp>
        <p:nvSpPr>
          <p:cNvPr id="25" name="Hình chữ nhật: Góc Tròn 24">
            <a:extLst>
              <a:ext uri="{FF2B5EF4-FFF2-40B4-BE49-F238E27FC236}">
                <a16:creationId xmlns:a16="http://schemas.microsoft.com/office/drawing/2014/main" id="{8585EA6A-2BCD-4ABF-8AEF-C44F40B5D47F}"/>
              </a:ext>
            </a:extLst>
          </p:cNvPr>
          <p:cNvSpPr>
            <a:spLocks noGrp="1"/>
          </p:cNvSpPr>
          <p:nvPr/>
        </p:nvSpPr>
        <p:spPr>
          <a:xfrm>
            <a:off x="6432550" y="5919597"/>
            <a:ext cx="5422900" cy="1032129"/>
          </a:xfrm>
          <a:prstGeom prst="roundRect">
            <a:avLst>
              <a:gd name="adj" fmla="val 7383"/>
            </a:avLst>
          </a:prstGeom>
          <a:solidFill>
            <a:srgbClr val="FFFFFF"/>
          </a:solidFill>
          <a:ln w="9525">
            <a:solidFill>
              <a:srgbClr val="E8DDCF"/>
            </a:solidFill>
            <a:prstDash val="solid"/>
          </a:ln>
        </p:spPr>
      </p:sp>
      <p:sp>
        <p:nvSpPr>
          <p:cNvPr id="26" name="Hình chữ nhật: Góc Tròn 25">
            <a:extLst>
              <a:ext uri="{FF2B5EF4-FFF2-40B4-BE49-F238E27FC236}">
                <a16:creationId xmlns:a16="http://schemas.microsoft.com/office/drawing/2014/main" id="{AF034AFD-3ED5-486A-9464-ABB2553B9AD8}"/>
              </a:ext>
            </a:extLst>
          </p:cNvPr>
          <p:cNvSpPr>
            <a:spLocks noGrp="1"/>
          </p:cNvSpPr>
          <p:nvPr/>
        </p:nvSpPr>
        <p:spPr>
          <a:xfrm>
            <a:off x="6629400" y="6096000"/>
            <a:ext cx="104775" cy="323850"/>
          </a:xfrm>
          <a:prstGeom prst="roundRect">
            <a:avLst>
              <a:gd name="adj" fmla="val 50000"/>
            </a:avLst>
          </a:prstGeom>
          <a:solidFill>
            <a:srgbClr val="7E3D4A"/>
          </a:solidFill>
        </p:spPr>
      </p:sp>
      <p:sp>
        <p:nvSpPr>
          <p:cNvPr id="27" name="Hình chữ nhật 26">
            <a:extLst>
              <a:ext uri="{FF2B5EF4-FFF2-40B4-BE49-F238E27FC236}">
                <a16:creationId xmlns:a16="http://schemas.microsoft.com/office/drawing/2014/main" id="{4473E0F3-892A-4C37-94A4-4B786A1EFA2F}"/>
              </a:ext>
            </a:extLst>
          </p:cNvPr>
          <p:cNvSpPr>
            <a:spLocks noGrp="1"/>
          </p:cNvSpPr>
          <p:nvPr/>
        </p:nvSpPr>
        <p:spPr>
          <a:xfrm>
            <a:off x="6838950" y="6096000"/>
            <a:ext cx="480060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AI có ràng buộc</a:t>
            </a:r>
          </a:p>
        </p:txBody>
      </p:sp>
      <p:sp>
        <p:nvSpPr>
          <p:cNvPr id="28" name="Hình chữ nhật 27">
            <a:extLst>
              <a:ext uri="{FF2B5EF4-FFF2-40B4-BE49-F238E27FC236}">
                <a16:creationId xmlns:a16="http://schemas.microsoft.com/office/drawing/2014/main" id="{4A1CCAE6-A62D-4066-9481-9C3D8D31F572}"/>
              </a:ext>
            </a:extLst>
          </p:cNvPr>
          <p:cNvSpPr>
            <a:spLocks noGrp="1"/>
          </p:cNvSpPr>
          <p:nvPr/>
        </p:nvSpPr>
        <p:spPr>
          <a:xfrm>
            <a:off x="6648450" y="6515100"/>
            <a:ext cx="5010150" cy="266700"/>
          </a:xfrm>
          <a:prstGeom prst="rect">
            <a:avLst/>
          </a:prstGeom>
        </p:spPr>
        <p:txBody>
          <a:bodyPr lIns="0" tIns="0" rIns="0" bIns="0"/>
          <a:lstStyle/>
          <a:p>
            <a:pPr>
              <a:lnSpc>
                <a:spcPct val="120000"/>
              </a:lnSpc>
              <a:buNone/>
              <a:defRPr sz="1425">
                <a:solidFill>
                  <a:srgbClr val="647067"/>
                </a:solidFill>
              </a:defRPr>
            </a:pPr>
            <a:r>
              <a:rPr sz="1425">
                <a:solidFill>
                  <a:srgbClr val="647067"/>
                </a:solidFill>
              </a:rPr>
              <a:t>Tư vấn dựa trên dữ liệu sản phẩm trong database.</a:t>
            </a:r>
          </a:p>
        </p:txBody>
      </p:sp>
      <p:sp>
        <p:nvSpPr>
          <p:cNvPr id="29" name="Hình chữ nhật: Góc Tròn 28">
            <a:extLst>
              <a:ext uri="{FF2B5EF4-FFF2-40B4-BE49-F238E27FC236}">
                <a16:creationId xmlns:a16="http://schemas.microsoft.com/office/drawing/2014/main" id="{51ECABFC-F2E9-4B4A-8053-3A35EB9173BD}"/>
              </a:ext>
            </a:extLst>
          </p:cNvPr>
          <p:cNvSpPr>
            <a:spLocks noGrp="1"/>
          </p:cNvSpPr>
          <p:nvPr/>
        </p:nvSpPr>
        <p:spPr>
          <a:xfrm>
            <a:off x="12045950" y="5919597"/>
            <a:ext cx="5422900" cy="1032129"/>
          </a:xfrm>
          <a:prstGeom prst="roundRect">
            <a:avLst>
              <a:gd name="adj" fmla="val 7383"/>
            </a:avLst>
          </a:prstGeom>
          <a:solidFill>
            <a:srgbClr val="FFFFFF"/>
          </a:solidFill>
          <a:ln w="9525">
            <a:solidFill>
              <a:srgbClr val="E8DDCF"/>
            </a:solidFill>
            <a:prstDash val="solid"/>
          </a:ln>
        </p:spPr>
      </p:sp>
      <p:sp>
        <p:nvSpPr>
          <p:cNvPr id="30" name="Hình chữ nhật: Góc Tròn 29">
            <a:extLst>
              <a:ext uri="{FF2B5EF4-FFF2-40B4-BE49-F238E27FC236}">
                <a16:creationId xmlns:a16="http://schemas.microsoft.com/office/drawing/2014/main" id="{C990A370-267D-4701-AB3A-4EFC9AD37833}"/>
              </a:ext>
            </a:extLst>
          </p:cNvPr>
          <p:cNvSpPr>
            <a:spLocks noGrp="1"/>
          </p:cNvSpPr>
          <p:nvPr/>
        </p:nvSpPr>
        <p:spPr>
          <a:xfrm>
            <a:off x="12268200" y="6096000"/>
            <a:ext cx="104775" cy="323850"/>
          </a:xfrm>
          <a:prstGeom prst="roundRect">
            <a:avLst>
              <a:gd name="adj" fmla="val 50000"/>
            </a:avLst>
          </a:prstGeom>
          <a:solidFill>
            <a:srgbClr val="25384A"/>
          </a:solidFill>
        </p:spPr>
      </p:sp>
      <p:sp>
        <p:nvSpPr>
          <p:cNvPr id="31" name="Hình chữ nhật 30">
            <a:extLst>
              <a:ext uri="{FF2B5EF4-FFF2-40B4-BE49-F238E27FC236}">
                <a16:creationId xmlns:a16="http://schemas.microsoft.com/office/drawing/2014/main" id="{AAFBDDA8-48FF-4A9F-8127-DC306EE57D92}"/>
              </a:ext>
            </a:extLst>
          </p:cNvPr>
          <p:cNvSpPr>
            <a:spLocks noGrp="1"/>
          </p:cNvSpPr>
          <p:nvPr/>
        </p:nvSpPr>
        <p:spPr>
          <a:xfrm>
            <a:off x="12458700" y="6096000"/>
            <a:ext cx="4800600" cy="342900"/>
          </a:xfrm>
          <a:prstGeom prst="rect">
            <a:avLst/>
          </a:prstGeom>
        </p:spPr>
        <p:txBody>
          <a:bodyPr lIns="0" tIns="0" rIns="0" bIns="0"/>
          <a:lstStyle/>
          <a:p>
            <a:pPr>
              <a:lnSpc>
                <a:spcPct val="125000"/>
              </a:lnSpc>
              <a:buNone/>
              <a:defRPr sz="1800" b="1">
                <a:solidFill>
                  <a:srgbClr val="151515"/>
                </a:solidFill>
              </a:defRPr>
            </a:pPr>
            <a:r>
              <a:rPr sz="1800" b="1">
                <a:solidFill>
                  <a:srgbClr val="151515"/>
                </a:solidFill>
              </a:rPr>
              <a:t>Đa phương thức</a:t>
            </a:r>
          </a:p>
        </p:txBody>
      </p:sp>
      <p:sp>
        <p:nvSpPr>
          <p:cNvPr id="32" name="Hình chữ nhật 31">
            <a:extLst>
              <a:ext uri="{FF2B5EF4-FFF2-40B4-BE49-F238E27FC236}">
                <a16:creationId xmlns:a16="http://schemas.microsoft.com/office/drawing/2014/main" id="{AA27C0B3-59C5-44B8-B253-9A19420A5398}"/>
              </a:ext>
            </a:extLst>
          </p:cNvPr>
          <p:cNvSpPr>
            <a:spLocks noGrp="1"/>
          </p:cNvSpPr>
          <p:nvPr/>
        </p:nvSpPr>
        <p:spPr>
          <a:xfrm>
            <a:off x="12249150" y="6515100"/>
            <a:ext cx="5010150" cy="266700"/>
          </a:xfrm>
          <a:prstGeom prst="rect">
            <a:avLst/>
          </a:prstGeom>
        </p:spPr>
        <p:txBody>
          <a:bodyPr lIns="0" tIns="0" rIns="0" bIns="0"/>
          <a:lstStyle/>
          <a:p>
            <a:pPr>
              <a:lnSpc>
                <a:spcPct val="120000"/>
              </a:lnSpc>
              <a:buNone/>
              <a:defRPr sz="1425">
                <a:solidFill>
                  <a:srgbClr val="647067"/>
                </a:solidFill>
              </a:defRPr>
            </a:pPr>
            <a:r>
              <a:rPr sz="1425">
                <a:solidFill>
                  <a:srgbClr val="647067"/>
                </a:solidFill>
              </a:rPr>
              <a:t>VNPay, MoMo, PayPal, i18n Việt/Anh, Docker/Nginx.</a:t>
            </a:r>
          </a:p>
        </p:txBody>
      </p:sp>
    </p:spTree>
    <p:extLst>
      <p:ext uri="{BB962C8B-B14F-4D97-AF65-F5344CB8AC3E}">
        <p14:creationId xmlns:p14="http://schemas.microsoft.com/office/powerpoint/2010/main" val="2282943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background">
            <a:extLst>
              <a:ext uri="{FF2B5EF4-FFF2-40B4-BE49-F238E27FC236}">
                <a16:creationId xmlns:a16="http://schemas.microsoft.com/office/drawing/2014/main" id="{18743331-98B2-4066-9A3E-6DAAE70B5983}"/>
              </a:ext>
            </a:extLst>
          </p:cNvPr>
          <p:cNvSpPr>
            <a:spLocks noGrp="1"/>
          </p:cNvSpPr>
          <p:nvPr/>
        </p:nvSpPr>
        <p:spPr>
          <a:xfrm>
            <a:off x="0" y="0"/>
            <a:ext cx="18288000" cy="10287000"/>
          </a:xfrm>
          <a:prstGeom prst="rect">
            <a:avLst/>
          </a:prstGeom>
          <a:solidFill>
            <a:srgbClr val="FFFDF8"/>
          </a:solidFill>
        </p:spPr>
      </p:sp>
      <p:sp>
        <p:nvSpPr>
          <p:cNvPr id="2" name="top-band">
            <a:extLst>
              <a:ext uri="{FF2B5EF4-FFF2-40B4-BE49-F238E27FC236}">
                <a16:creationId xmlns:a16="http://schemas.microsoft.com/office/drawing/2014/main" id="{7A7EF3DE-D2E9-4A7D-A1E8-0D2FF4EB8820}"/>
              </a:ext>
            </a:extLst>
          </p:cNvPr>
          <p:cNvSpPr>
            <a:spLocks noGrp="1"/>
          </p:cNvSpPr>
          <p:nvPr/>
        </p:nvSpPr>
        <p:spPr>
          <a:xfrm>
            <a:off x="0" y="0"/>
            <a:ext cx="18288000" cy="152400"/>
          </a:xfrm>
          <a:prstGeom prst="rect">
            <a:avLst/>
          </a:prstGeom>
          <a:solidFill>
            <a:srgbClr val="7E3D4A"/>
          </a:solidFill>
        </p:spPr>
      </p:sp>
      <p:sp>
        <p:nvSpPr>
          <p:cNvPr id="3" name="bottom-band">
            <a:extLst>
              <a:ext uri="{FF2B5EF4-FFF2-40B4-BE49-F238E27FC236}">
                <a16:creationId xmlns:a16="http://schemas.microsoft.com/office/drawing/2014/main" id="{CC07F2D1-159D-4A01-B1C9-18BDAB7B2C66}"/>
              </a:ext>
            </a:extLst>
          </p:cNvPr>
          <p:cNvSpPr>
            <a:spLocks noGrp="1"/>
          </p:cNvSpPr>
          <p:nvPr/>
        </p:nvSpPr>
        <p:spPr>
          <a:xfrm>
            <a:off x="0" y="0"/>
            <a:ext cx="18288000" cy="76200"/>
          </a:xfrm>
          <a:prstGeom prst="rect">
            <a:avLst/>
          </a:prstGeom>
          <a:solidFill>
            <a:srgbClr val="D9B760"/>
          </a:solidFill>
        </p:spPr>
      </p:sp>
      <p:sp>
        <p:nvSpPr>
          <p:cNvPr id="4" name="Hình chữ nhật: Góc Tròn 3">
            <a:extLst>
              <a:ext uri="{FF2B5EF4-FFF2-40B4-BE49-F238E27FC236}">
                <a16:creationId xmlns:a16="http://schemas.microsoft.com/office/drawing/2014/main" id="{CAE312AA-C869-4812-809C-E366082C3CF9}"/>
              </a:ext>
            </a:extLst>
          </p:cNvPr>
          <p:cNvSpPr>
            <a:spLocks noGrp="1"/>
          </p:cNvSpPr>
          <p:nvPr/>
        </p:nvSpPr>
        <p:spPr>
          <a:xfrm>
            <a:off x="838200" y="647700"/>
            <a:ext cx="400050" cy="95250"/>
          </a:xfrm>
          <a:prstGeom prst="roundRect">
            <a:avLst>
              <a:gd name="adj" fmla="val 50000"/>
            </a:avLst>
          </a:prstGeom>
          <a:solidFill>
            <a:srgbClr val="7E3D4A"/>
          </a:solidFill>
        </p:spPr>
      </p:sp>
      <p:sp>
        <p:nvSpPr>
          <p:cNvPr id="5" name="Hình chữ nhật 4">
            <a:extLst>
              <a:ext uri="{FF2B5EF4-FFF2-40B4-BE49-F238E27FC236}">
                <a16:creationId xmlns:a16="http://schemas.microsoft.com/office/drawing/2014/main" id="{A149C633-900E-47C9-9F27-75004D1D81D0}"/>
              </a:ext>
            </a:extLst>
          </p:cNvPr>
          <p:cNvSpPr>
            <a:spLocks noGrp="1"/>
          </p:cNvSpPr>
          <p:nvPr/>
        </p:nvSpPr>
        <p:spPr>
          <a:xfrm>
            <a:off x="1371600" y="571500"/>
            <a:ext cx="15544800" cy="228600"/>
          </a:xfrm>
          <a:prstGeom prst="rect">
            <a:avLst/>
          </a:prstGeom>
        </p:spPr>
        <p:txBody>
          <a:bodyPr lIns="0" tIns="0" rIns="0" bIns="0"/>
          <a:lstStyle/>
          <a:p>
            <a:pPr>
              <a:lnSpc>
                <a:spcPct val="125000"/>
              </a:lnSpc>
              <a:buNone/>
              <a:defRPr sz="1200" b="1">
                <a:solidFill>
                  <a:srgbClr val="7E3D4A"/>
                </a:solidFill>
              </a:defRPr>
            </a:pPr>
            <a:r>
              <a:rPr sz="1200" b="1">
                <a:solidFill>
                  <a:srgbClr val="7E3D4A"/>
                </a:solidFill>
              </a:rPr>
              <a:t>HẠN CHẾ</a:t>
            </a:r>
          </a:p>
        </p:txBody>
      </p:sp>
      <p:sp>
        <p:nvSpPr>
          <p:cNvPr id="6" name="Hình chữ nhật 5">
            <a:extLst>
              <a:ext uri="{FF2B5EF4-FFF2-40B4-BE49-F238E27FC236}">
                <a16:creationId xmlns:a16="http://schemas.microsoft.com/office/drawing/2014/main" id="{748AC97F-209E-4961-A070-4B4826D47D76}"/>
              </a:ext>
            </a:extLst>
          </p:cNvPr>
          <p:cNvSpPr>
            <a:spLocks noGrp="1"/>
          </p:cNvSpPr>
          <p:nvPr/>
        </p:nvSpPr>
        <p:spPr>
          <a:xfrm>
            <a:off x="17068800" y="571500"/>
            <a:ext cx="400050" cy="228600"/>
          </a:xfrm>
          <a:prstGeom prst="rect">
            <a:avLst/>
          </a:prstGeom>
        </p:spPr>
        <p:txBody>
          <a:bodyPr lIns="0" tIns="0" rIns="0" bIns="0"/>
          <a:lstStyle/>
          <a:p>
            <a:pPr>
              <a:lnSpc>
                <a:spcPct val="120000"/>
              </a:lnSpc>
              <a:buNone/>
              <a:defRPr sz="1275" b="1">
                <a:solidFill>
                  <a:srgbClr val="7E3D4A"/>
                </a:solidFill>
              </a:defRPr>
            </a:pPr>
            <a:r>
              <a:rPr sz="1275" b="1">
                <a:solidFill>
                  <a:srgbClr val="7E3D4A"/>
                </a:solidFill>
              </a:rPr>
              <a:t>28/30</a:t>
            </a:r>
          </a:p>
        </p:txBody>
      </p:sp>
      <p:sp>
        <p:nvSpPr>
          <p:cNvPr id="7" name="slide-title">
            <a:extLst>
              <a:ext uri="{FF2B5EF4-FFF2-40B4-BE49-F238E27FC236}">
                <a16:creationId xmlns:a16="http://schemas.microsoft.com/office/drawing/2014/main" id="{D83007BA-ACD0-4A98-AB38-2E41CAC0617D}"/>
              </a:ext>
            </a:extLst>
          </p:cNvPr>
          <p:cNvSpPr>
            <a:spLocks noGrp="1"/>
          </p:cNvSpPr>
          <p:nvPr/>
        </p:nvSpPr>
        <p:spPr>
          <a:xfrm>
            <a:off x="819150" y="933450"/>
            <a:ext cx="16649700" cy="590550"/>
          </a:xfrm>
          <a:prstGeom prst="rect">
            <a:avLst/>
          </a:prstGeom>
        </p:spPr>
        <p:txBody>
          <a:bodyPr lIns="0" tIns="0" rIns="0" bIns="0"/>
          <a:lstStyle/>
          <a:p>
            <a:pPr>
              <a:lnSpc>
                <a:spcPct val="105000"/>
              </a:lnSpc>
              <a:buNone/>
              <a:defRPr sz="3600" b="1">
                <a:solidFill>
                  <a:srgbClr val="151515"/>
                </a:solidFill>
              </a:defRPr>
            </a:pPr>
            <a:r>
              <a:rPr sz="3600" b="1">
                <a:solidFill>
                  <a:srgbClr val="151515"/>
                </a:solidFill>
              </a:rPr>
              <a:t>Hạn chế hiện tại cần nhìn nhận rõ</a:t>
            </a:r>
          </a:p>
        </p:txBody>
      </p:sp>
      <p:sp>
        <p:nvSpPr>
          <p:cNvPr id="8" name="title-rule">
            <a:extLst>
              <a:ext uri="{FF2B5EF4-FFF2-40B4-BE49-F238E27FC236}">
                <a16:creationId xmlns:a16="http://schemas.microsoft.com/office/drawing/2014/main" id="{DC8BDE9A-99F7-4232-9594-D199CE461E38}"/>
              </a:ext>
            </a:extLst>
          </p:cNvPr>
          <p:cNvSpPr>
            <a:spLocks noGrp="1"/>
          </p:cNvSpPr>
          <p:nvPr/>
        </p:nvSpPr>
        <p:spPr>
          <a:xfrm>
            <a:off x="819150" y="1619250"/>
            <a:ext cx="1905000" cy="38100"/>
          </a:xfrm>
          <a:prstGeom prst="rect">
            <a:avLst/>
          </a:prstGeom>
          <a:solidFill>
            <a:srgbClr val="7E3D4A"/>
          </a:solidFill>
          <a:ln w="0">
            <a:solidFill>
              <a:srgbClr val="7E3D4A"/>
            </a:solidFill>
            <a:prstDash val="solid"/>
          </a:ln>
        </p:spPr>
      </p:sp>
      <p:sp>
        <p:nvSpPr>
          <p:cNvPr id="9" name="Hình chữ nhật: Góc Tròn 8">
            <a:extLst>
              <a:ext uri="{FF2B5EF4-FFF2-40B4-BE49-F238E27FC236}">
                <a16:creationId xmlns:a16="http://schemas.microsoft.com/office/drawing/2014/main" id="{76E31A5E-71A8-42D4-9446-436C025507DA}"/>
              </a:ext>
            </a:extLst>
          </p:cNvPr>
          <p:cNvSpPr>
            <a:spLocks noGrp="1"/>
          </p:cNvSpPr>
          <p:nvPr/>
        </p:nvSpPr>
        <p:spPr>
          <a:xfrm>
            <a:off x="838200" y="4343400"/>
            <a:ext cx="95250" cy="876300"/>
          </a:xfrm>
          <a:prstGeom prst="roundRect">
            <a:avLst>
              <a:gd name="adj" fmla="val 50000"/>
            </a:avLst>
          </a:prstGeom>
          <a:solidFill>
            <a:srgbClr val="F39A8A"/>
          </a:solidFill>
        </p:spPr>
      </p:sp>
      <p:sp>
        <p:nvSpPr>
          <p:cNvPr id="10" name="Hình chữ nhật 9">
            <a:extLst>
              <a:ext uri="{FF2B5EF4-FFF2-40B4-BE49-F238E27FC236}">
                <a16:creationId xmlns:a16="http://schemas.microsoft.com/office/drawing/2014/main" id="{76892DB0-212C-416B-B389-E7CAA7C01B36}"/>
              </a:ext>
            </a:extLst>
          </p:cNvPr>
          <p:cNvSpPr>
            <a:spLocks noGrp="1"/>
          </p:cNvSpPr>
          <p:nvPr/>
        </p:nvSpPr>
        <p:spPr>
          <a:xfrm>
            <a:off x="1085850" y="4343400"/>
            <a:ext cx="8267700" cy="400050"/>
          </a:xfrm>
          <a:prstGeom prst="rect">
            <a:avLst/>
          </a:prstGeom>
        </p:spPr>
        <p:txBody>
          <a:bodyPr lIns="0" tIns="0" rIns="0" bIns="0"/>
          <a:lstStyle/>
          <a:p>
            <a:pPr>
              <a:lnSpc>
                <a:spcPct val="125000"/>
              </a:lnSpc>
              <a:buNone/>
              <a:defRPr sz="2100" b="1">
                <a:solidFill>
                  <a:srgbClr val="151515"/>
                </a:solidFill>
              </a:defRPr>
            </a:pPr>
            <a:r>
              <a:rPr sz="2100" b="1">
                <a:solidFill>
                  <a:srgbClr val="151515"/>
                </a:solidFill>
              </a:rPr>
              <a:t>Chưa có mobile app native</a:t>
            </a:r>
          </a:p>
        </p:txBody>
      </p:sp>
      <p:sp>
        <p:nvSpPr>
          <p:cNvPr id="11" name="Hình chữ nhật 10">
            <a:extLst>
              <a:ext uri="{FF2B5EF4-FFF2-40B4-BE49-F238E27FC236}">
                <a16:creationId xmlns:a16="http://schemas.microsoft.com/office/drawing/2014/main" id="{29D9EEE4-E00E-4DEC-8666-14AEC64DEAEE}"/>
              </a:ext>
            </a:extLst>
          </p:cNvPr>
          <p:cNvSpPr>
            <a:spLocks noGrp="1"/>
          </p:cNvSpPr>
          <p:nvPr/>
        </p:nvSpPr>
        <p:spPr>
          <a:xfrm>
            <a:off x="1085850" y="4800600"/>
            <a:ext cx="8267700" cy="304800"/>
          </a:xfrm>
          <a:prstGeom prst="rect">
            <a:avLst/>
          </a:prstGeom>
        </p:spPr>
        <p:txBody>
          <a:bodyPr lIns="0" tIns="0" rIns="0" bIns="0"/>
          <a:lstStyle/>
          <a:p>
            <a:pPr>
              <a:lnSpc>
                <a:spcPct val="122000"/>
              </a:lnSpc>
              <a:buNone/>
              <a:defRPr sz="1575">
                <a:solidFill>
                  <a:srgbClr val="647067"/>
                </a:solidFill>
              </a:defRPr>
            </a:pPr>
            <a:r>
              <a:rPr sz="1575">
                <a:solidFill>
                  <a:srgbClr val="647067"/>
                </a:solidFill>
              </a:rPr>
              <a:t>Phiên bản hiện tại tập trung vào web/PWA-level experience.</a:t>
            </a:r>
          </a:p>
        </p:txBody>
      </p:sp>
      <p:sp>
        <p:nvSpPr>
          <p:cNvPr id="12" name="Hình chữ nhật: Góc Tròn 11">
            <a:extLst>
              <a:ext uri="{FF2B5EF4-FFF2-40B4-BE49-F238E27FC236}">
                <a16:creationId xmlns:a16="http://schemas.microsoft.com/office/drawing/2014/main" id="{040C8611-F02C-4BC5-819B-61FA97E3BD06}"/>
              </a:ext>
            </a:extLst>
          </p:cNvPr>
          <p:cNvSpPr>
            <a:spLocks noGrp="1"/>
          </p:cNvSpPr>
          <p:nvPr/>
        </p:nvSpPr>
        <p:spPr>
          <a:xfrm>
            <a:off x="838200" y="5410200"/>
            <a:ext cx="95250" cy="876300"/>
          </a:xfrm>
          <a:prstGeom prst="roundRect">
            <a:avLst>
              <a:gd name="adj" fmla="val 50000"/>
            </a:avLst>
          </a:prstGeom>
          <a:solidFill>
            <a:srgbClr val="D9B760"/>
          </a:solidFill>
        </p:spPr>
      </p:sp>
      <p:sp>
        <p:nvSpPr>
          <p:cNvPr id="13" name="Hình chữ nhật 12">
            <a:extLst>
              <a:ext uri="{FF2B5EF4-FFF2-40B4-BE49-F238E27FC236}">
                <a16:creationId xmlns:a16="http://schemas.microsoft.com/office/drawing/2014/main" id="{B95CA584-F732-4810-B22F-0F3B16F70A6C}"/>
              </a:ext>
            </a:extLst>
          </p:cNvPr>
          <p:cNvSpPr>
            <a:spLocks noGrp="1"/>
          </p:cNvSpPr>
          <p:nvPr/>
        </p:nvSpPr>
        <p:spPr>
          <a:xfrm>
            <a:off x="1085850" y="5391150"/>
            <a:ext cx="8267700" cy="400050"/>
          </a:xfrm>
          <a:prstGeom prst="rect">
            <a:avLst/>
          </a:prstGeom>
        </p:spPr>
        <p:txBody>
          <a:bodyPr lIns="0" tIns="0" rIns="0" bIns="0"/>
          <a:lstStyle/>
          <a:p>
            <a:pPr>
              <a:lnSpc>
                <a:spcPct val="125000"/>
              </a:lnSpc>
              <a:buNone/>
              <a:defRPr sz="2100" b="1">
                <a:solidFill>
                  <a:srgbClr val="151515"/>
                </a:solidFill>
              </a:defRPr>
            </a:pPr>
            <a:r>
              <a:rPr sz="2100" b="1">
                <a:solidFill>
                  <a:srgbClr val="151515"/>
                </a:solidFill>
              </a:rPr>
              <a:t>Inventory chưa đa kho</a:t>
            </a:r>
          </a:p>
        </p:txBody>
      </p:sp>
      <p:sp>
        <p:nvSpPr>
          <p:cNvPr id="14" name="Hình chữ nhật 13">
            <a:extLst>
              <a:ext uri="{FF2B5EF4-FFF2-40B4-BE49-F238E27FC236}">
                <a16:creationId xmlns:a16="http://schemas.microsoft.com/office/drawing/2014/main" id="{A54909C7-6D21-48CF-BDC0-87E607860E98}"/>
              </a:ext>
            </a:extLst>
          </p:cNvPr>
          <p:cNvSpPr>
            <a:spLocks noGrp="1"/>
          </p:cNvSpPr>
          <p:nvPr/>
        </p:nvSpPr>
        <p:spPr>
          <a:xfrm>
            <a:off x="1085850" y="5848350"/>
            <a:ext cx="8267700" cy="304800"/>
          </a:xfrm>
          <a:prstGeom prst="rect">
            <a:avLst/>
          </a:prstGeom>
        </p:spPr>
        <p:txBody>
          <a:bodyPr lIns="0" tIns="0" rIns="0" bIns="0"/>
          <a:lstStyle/>
          <a:p>
            <a:pPr>
              <a:lnSpc>
                <a:spcPct val="122000"/>
              </a:lnSpc>
              <a:buNone/>
              <a:defRPr sz="1575">
                <a:solidFill>
                  <a:srgbClr val="647067"/>
                </a:solidFill>
              </a:defRPr>
            </a:pPr>
            <a:r>
              <a:rPr sz="1575">
                <a:solidFill>
                  <a:srgbClr val="647067"/>
                </a:solidFill>
              </a:rPr>
              <a:t>Chưa xử lý phức tạp nhiều chi nhánh, transfer hoặc stock audit.</a:t>
            </a:r>
          </a:p>
        </p:txBody>
      </p:sp>
      <p:sp>
        <p:nvSpPr>
          <p:cNvPr id="15" name="Hình chữ nhật: Góc Tròn 14">
            <a:extLst>
              <a:ext uri="{FF2B5EF4-FFF2-40B4-BE49-F238E27FC236}">
                <a16:creationId xmlns:a16="http://schemas.microsoft.com/office/drawing/2014/main" id="{FAA87588-622C-4C3D-99A3-2BA0AE469255}"/>
              </a:ext>
            </a:extLst>
          </p:cNvPr>
          <p:cNvSpPr>
            <a:spLocks noGrp="1"/>
          </p:cNvSpPr>
          <p:nvPr/>
        </p:nvSpPr>
        <p:spPr>
          <a:xfrm>
            <a:off x="838200" y="6400800"/>
            <a:ext cx="95250" cy="876300"/>
          </a:xfrm>
          <a:prstGeom prst="roundRect">
            <a:avLst>
              <a:gd name="adj" fmla="val 50000"/>
            </a:avLst>
          </a:prstGeom>
          <a:solidFill>
            <a:srgbClr val="77B8A4"/>
          </a:solidFill>
        </p:spPr>
      </p:sp>
      <p:sp>
        <p:nvSpPr>
          <p:cNvPr id="16" name="Hình chữ nhật 15">
            <a:extLst>
              <a:ext uri="{FF2B5EF4-FFF2-40B4-BE49-F238E27FC236}">
                <a16:creationId xmlns:a16="http://schemas.microsoft.com/office/drawing/2014/main" id="{D800DFCD-FE04-4989-BF45-BC34E9A4F1C7}"/>
              </a:ext>
            </a:extLst>
          </p:cNvPr>
          <p:cNvSpPr>
            <a:spLocks noGrp="1"/>
          </p:cNvSpPr>
          <p:nvPr/>
        </p:nvSpPr>
        <p:spPr>
          <a:xfrm>
            <a:off x="1085850" y="6438900"/>
            <a:ext cx="8267700" cy="400050"/>
          </a:xfrm>
          <a:prstGeom prst="rect">
            <a:avLst/>
          </a:prstGeom>
        </p:spPr>
        <p:txBody>
          <a:bodyPr lIns="0" tIns="0" rIns="0" bIns="0"/>
          <a:lstStyle/>
          <a:p>
            <a:pPr>
              <a:lnSpc>
                <a:spcPct val="125000"/>
              </a:lnSpc>
              <a:buNone/>
              <a:defRPr sz="2100" b="1">
                <a:solidFill>
                  <a:srgbClr val="151515"/>
                </a:solidFill>
              </a:defRPr>
            </a:pPr>
            <a:r>
              <a:rPr sz="2100" b="1">
                <a:solidFill>
                  <a:srgbClr val="151515"/>
                </a:solidFill>
              </a:rPr>
              <a:t>Test automation chưa nổi bật</a:t>
            </a:r>
          </a:p>
        </p:txBody>
      </p:sp>
      <p:sp>
        <p:nvSpPr>
          <p:cNvPr id="17" name="Hình chữ nhật 16">
            <a:extLst>
              <a:ext uri="{FF2B5EF4-FFF2-40B4-BE49-F238E27FC236}">
                <a16:creationId xmlns:a16="http://schemas.microsoft.com/office/drawing/2014/main" id="{86E5CD27-806E-40A5-9353-93D5651E572F}"/>
              </a:ext>
            </a:extLst>
          </p:cNvPr>
          <p:cNvSpPr>
            <a:spLocks noGrp="1"/>
          </p:cNvSpPr>
          <p:nvPr/>
        </p:nvSpPr>
        <p:spPr>
          <a:xfrm>
            <a:off x="1085850" y="6896100"/>
            <a:ext cx="8267700" cy="304800"/>
          </a:xfrm>
          <a:prstGeom prst="rect">
            <a:avLst/>
          </a:prstGeom>
        </p:spPr>
        <p:txBody>
          <a:bodyPr lIns="0" tIns="0" rIns="0" bIns="0"/>
          <a:lstStyle/>
          <a:p>
            <a:pPr>
              <a:lnSpc>
                <a:spcPct val="122000"/>
              </a:lnSpc>
              <a:buNone/>
              <a:defRPr sz="1575">
                <a:solidFill>
                  <a:srgbClr val="647067"/>
                </a:solidFill>
              </a:defRPr>
            </a:pPr>
            <a:r>
              <a:rPr sz="1575">
                <a:solidFill>
                  <a:srgbClr val="647067"/>
                </a:solidFill>
              </a:rPr>
              <a:t>Repo cần bổ sung bộ unit/integration/e2e rõ hơn.</a:t>
            </a:r>
          </a:p>
        </p:txBody>
      </p:sp>
      <p:sp>
        <p:nvSpPr>
          <p:cNvPr id="18" name="Hình chữ nhật: Góc Tròn 17">
            <a:extLst>
              <a:ext uri="{FF2B5EF4-FFF2-40B4-BE49-F238E27FC236}">
                <a16:creationId xmlns:a16="http://schemas.microsoft.com/office/drawing/2014/main" id="{D7E1D77A-0901-4EE3-BB68-A13474BB57DC}"/>
              </a:ext>
            </a:extLst>
          </p:cNvPr>
          <p:cNvSpPr>
            <a:spLocks noGrp="1"/>
          </p:cNvSpPr>
          <p:nvPr/>
        </p:nvSpPr>
        <p:spPr>
          <a:xfrm>
            <a:off x="9753600" y="4343400"/>
            <a:ext cx="95250" cy="876300"/>
          </a:xfrm>
          <a:prstGeom prst="roundRect">
            <a:avLst>
              <a:gd name="adj" fmla="val 50000"/>
            </a:avLst>
          </a:prstGeom>
          <a:solidFill>
            <a:srgbClr val="87B8D6"/>
          </a:solidFill>
        </p:spPr>
      </p:sp>
      <p:sp>
        <p:nvSpPr>
          <p:cNvPr id="19" name="Hình chữ nhật 18">
            <a:extLst>
              <a:ext uri="{FF2B5EF4-FFF2-40B4-BE49-F238E27FC236}">
                <a16:creationId xmlns:a16="http://schemas.microsoft.com/office/drawing/2014/main" id="{22B4D2E0-A662-4C9D-9715-12870DB20F44}"/>
              </a:ext>
            </a:extLst>
          </p:cNvPr>
          <p:cNvSpPr>
            <a:spLocks noGrp="1"/>
          </p:cNvSpPr>
          <p:nvPr/>
        </p:nvSpPr>
        <p:spPr>
          <a:xfrm>
            <a:off x="10020300" y="4343400"/>
            <a:ext cx="7448550" cy="400050"/>
          </a:xfrm>
          <a:prstGeom prst="rect">
            <a:avLst/>
          </a:prstGeom>
        </p:spPr>
        <p:txBody>
          <a:bodyPr lIns="0" tIns="0" rIns="0" bIns="0"/>
          <a:lstStyle/>
          <a:p>
            <a:pPr>
              <a:lnSpc>
                <a:spcPct val="125000"/>
              </a:lnSpc>
              <a:buNone/>
              <a:defRPr sz="2100" b="1">
                <a:solidFill>
                  <a:srgbClr val="151515"/>
                </a:solidFill>
              </a:defRPr>
            </a:pPr>
            <a:r>
              <a:rPr sz="2100" b="1">
                <a:solidFill>
                  <a:srgbClr val="151515"/>
                </a:solidFill>
              </a:rPr>
              <a:t>Production cần hoàn thiện</a:t>
            </a:r>
          </a:p>
        </p:txBody>
      </p:sp>
      <p:sp>
        <p:nvSpPr>
          <p:cNvPr id="20" name="Hình chữ nhật 19">
            <a:extLst>
              <a:ext uri="{FF2B5EF4-FFF2-40B4-BE49-F238E27FC236}">
                <a16:creationId xmlns:a16="http://schemas.microsoft.com/office/drawing/2014/main" id="{7AF68451-69C1-4274-A9F9-493A7FAF191D}"/>
              </a:ext>
            </a:extLst>
          </p:cNvPr>
          <p:cNvSpPr>
            <a:spLocks noGrp="1"/>
          </p:cNvSpPr>
          <p:nvPr/>
        </p:nvSpPr>
        <p:spPr>
          <a:xfrm>
            <a:off x="10020300" y="4800600"/>
            <a:ext cx="7448550" cy="304800"/>
          </a:xfrm>
          <a:prstGeom prst="rect">
            <a:avLst/>
          </a:prstGeom>
        </p:spPr>
        <p:txBody>
          <a:bodyPr lIns="0" tIns="0" rIns="0" bIns="0"/>
          <a:lstStyle/>
          <a:p>
            <a:pPr>
              <a:lnSpc>
                <a:spcPct val="122000"/>
              </a:lnSpc>
              <a:buNone/>
              <a:defRPr sz="1575">
                <a:solidFill>
                  <a:srgbClr val="647067"/>
                </a:solidFill>
              </a:defRPr>
            </a:pPr>
            <a:r>
              <a:rPr sz="1575">
                <a:solidFill>
                  <a:srgbClr val="647067"/>
                </a:solidFill>
              </a:rPr>
              <a:t>Monitoring, backup, log aggregation và secret management còn là hướng tiếp tục.</a:t>
            </a:r>
          </a:p>
        </p:txBody>
      </p:sp>
      <p:sp>
        <p:nvSpPr>
          <p:cNvPr id="21" name="Hình chữ nhật: Góc Tròn 20">
            <a:extLst>
              <a:ext uri="{FF2B5EF4-FFF2-40B4-BE49-F238E27FC236}">
                <a16:creationId xmlns:a16="http://schemas.microsoft.com/office/drawing/2014/main" id="{EA8E6157-7950-46BC-93B3-A6E2EA68F283}"/>
              </a:ext>
            </a:extLst>
          </p:cNvPr>
          <p:cNvSpPr>
            <a:spLocks noGrp="1"/>
          </p:cNvSpPr>
          <p:nvPr/>
        </p:nvSpPr>
        <p:spPr>
          <a:xfrm>
            <a:off x="9753600" y="5410200"/>
            <a:ext cx="95250" cy="876300"/>
          </a:xfrm>
          <a:prstGeom prst="roundRect">
            <a:avLst>
              <a:gd name="adj" fmla="val 50000"/>
            </a:avLst>
          </a:prstGeom>
          <a:solidFill>
            <a:srgbClr val="7E3D4A"/>
          </a:solidFill>
        </p:spPr>
      </p:sp>
      <p:sp>
        <p:nvSpPr>
          <p:cNvPr id="22" name="Hình chữ nhật 21">
            <a:extLst>
              <a:ext uri="{FF2B5EF4-FFF2-40B4-BE49-F238E27FC236}">
                <a16:creationId xmlns:a16="http://schemas.microsoft.com/office/drawing/2014/main" id="{62F0A3B1-B0FB-4D82-90F0-7F4D90A2AE72}"/>
              </a:ext>
            </a:extLst>
          </p:cNvPr>
          <p:cNvSpPr>
            <a:spLocks noGrp="1"/>
          </p:cNvSpPr>
          <p:nvPr/>
        </p:nvSpPr>
        <p:spPr>
          <a:xfrm>
            <a:off x="10020300" y="5391150"/>
            <a:ext cx="7448550" cy="400050"/>
          </a:xfrm>
          <a:prstGeom prst="rect">
            <a:avLst/>
          </a:prstGeom>
        </p:spPr>
        <p:txBody>
          <a:bodyPr lIns="0" tIns="0" rIns="0" bIns="0"/>
          <a:lstStyle/>
          <a:p>
            <a:pPr>
              <a:lnSpc>
                <a:spcPct val="125000"/>
              </a:lnSpc>
              <a:buNone/>
              <a:defRPr sz="2100" b="1">
                <a:solidFill>
                  <a:srgbClr val="151515"/>
                </a:solidFill>
              </a:defRPr>
            </a:pPr>
            <a:r>
              <a:rPr sz="2100" b="1">
                <a:solidFill>
                  <a:srgbClr val="151515"/>
                </a:solidFill>
              </a:rPr>
              <a:t>Webhook payment cần kiểm thử sâu</a:t>
            </a:r>
          </a:p>
        </p:txBody>
      </p:sp>
      <p:sp>
        <p:nvSpPr>
          <p:cNvPr id="23" name="Hình chữ nhật 22">
            <a:extLst>
              <a:ext uri="{FF2B5EF4-FFF2-40B4-BE49-F238E27FC236}">
                <a16:creationId xmlns:a16="http://schemas.microsoft.com/office/drawing/2014/main" id="{18559067-F81E-4F60-AB4D-E50D7AAEBA8D}"/>
              </a:ext>
            </a:extLst>
          </p:cNvPr>
          <p:cNvSpPr>
            <a:spLocks noGrp="1"/>
          </p:cNvSpPr>
          <p:nvPr/>
        </p:nvSpPr>
        <p:spPr>
          <a:xfrm>
            <a:off x="10020300" y="5848350"/>
            <a:ext cx="7448550" cy="304800"/>
          </a:xfrm>
          <a:prstGeom prst="rect">
            <a:avLst/>
          </a:prstGeom>
        </p:spPr>
        <p:txBody>
          <a:bodyPr lIns="0" tIns="0" rIns="0" bIns="0"/>
          <a:lstStyle/>
          <a:p>
            <a:pPr>
              <a:lnSpc>
                <a:spcPct val="122000"/>
              </a:lnSpc>
              <a:buNone/>
              <a:defRPr sz="1575">
                <a:solidFill>
                  <a:srgbClr val="647067"/>
                </a:solidFill>
              </a:defRPr>
            </a:pPr>
            <a:r>
              <a:rPr sz="1575">
                <a:solidFill>
                  <a:srgbClr val="647067"/>
                </a:solidFill>
              </a:rPr>
              <a:t>IPN/webhook cần verify kỹ khi chạy production thật.</a:t>
            </a:r>
          </a:p>
        </p:txBody>
      </p:sp>
      <p:sp>
        <p:nvSpPr>
          <p:cNvPr id="24" name="Hình chữ nhật: Góc Tròn 23">
            <a:extLst>
              <a:ext uri="{FF2B5EF4-FFF2-40B4-BE49-F238E27FC236}">
                <a16:creationId xmlns:a16="http://schemas.microsoft.com/office/drawing/2014/main" id="{F2BF8F68-E247-40A2-B1B9-634FAE0C8913}"/>
              </a:ext>
            </a:extLst>
          </p:cNvPr>
          <p:cNvSpPr>
            <a:spLocks noGrp="1"/>
          </p:cNvSpPr>
          <p:nvPr/>
        </p:nvSpPr>
        <p:spPr>
          <a:xfrm>
            <a:off x="9753600" y="6400800"/>
            <a:ext cx="95250" cy="876300"/>
          </a:xfrm>
          <a:prstGeom prst="roundRect">
            <a:avLst>
              <a:gd name="adj" fmla="val 50000"/>
            </a:avLst>
          </a:prstGeom>
          <a:solidFill>
            <a:srgbClr val="25384A"/>
          </a:solidFill>
        </p:spPr>
      </p:sp>
      <p:sp>
        <p:nvSpPr>
          <p:cNvPr id="25" name="Hình chữ nhật 24">
            <a:extLst>
              <a:ext uri="{FF2B5EF4-FFF2-40B4-BE49-F238E27FC236}">
                <a16:creationId xmlns:a16="http://schemas.microsoft.com/office/drawing/2014/main" id="{1AAAFD24-A416-46F3-9D9D-F130957EA8F0}"/>
              </a:ext>
            </a:extLst>
          </p:cNvPr>
          <p:cNvSpPr>
            <a:spLocks noGrp="1"/>
          </p:cNvSpPr>
          <p:nvPr/>
        </p:nvSpPr>
        <p:spPr>
          <a:xfrm>
            <a:off x="10020300" y="6438900"/>
            <a:ext cx="7448550" cy="400050"/>
          </a:xfrm>
          <a:prstGeom prst="rect">
            <a:avLst/>
          </a:prstGeom>
        </p:spPr>
        <p:txBody>
          <a:bodyPr lIns="0" tIns="0" rIns="0" bIns="0"/>
          <a:lstStyle/>
          <a:p>
            <a:pPr>
              <a:lnSpc>
                <a:spcPct val="125000"/>
              </a:lnSpc>
              <a:buNone/>
              <a:defRPr sz="2100" b="1">
                <a:solidFill>
                  <a:srgbClr val="151515"/>
                </a:solidFill>
              </a:defRPr>
            </a:pPr>
            <a:r>
              <a:rPr sz="2100" b="1">
                <a:solidFill>
                  <a:srgbClr val="151515"/>
                </a:solidFill>
              </a:rPr>
              <a:t>Artifact cũ cần rà soát</a:t>
            </a:r>
          </a:p>
        </p:txBody>
      </p:sp>
      <p:sp>
        <p:nvSpPr>
          <p:cNvPr id="26" name="Hình chữ nhật 25">
            <a:extLst>
              <a:ext uri="{FF2B5EF4-FFF2-40B4-BE49-F238E27FC236}">
                <a16:creationId xmlns:a16="http://schemas.microsoft.com/office/drawing/2014/main" id="{333A5EF0-F80E-4546-98D3-AE9BEFF30CD1}"/>
              </a:ext>
            </a:extLst>
          </p:cNvPr>
          <p:cNvSpPr>
            <a:spLocks noGrp="1"/>
          </p:cNvSpPr>
          <p:nvPr/>
        </p:nvSpPr>
        <p:spPr>
          <a:xfrm>
            <a:off x="10020300" y="6896100"/>
            <a:ext cx="7448550" cy="304800"/>
          </a:xfrm>
          <a:prstGeom prst="rect">
            <a:avLst/>
          </a:prstGeom>
        </p:spPr>
        <p:txBody>
          <a:bodyPr lIns="0" tIns="0" rIns="0" bIns="0"/>
          <a:lstStyle/>
          <a:p>
            <a:pPr>
              <a:lnSpc>
                <a:spcPct val="122000"/>
              </a:lnSpc>
              <a:buNone/>
              <a:defRPr sz="1575">
                <a:solidFill>
                  <a:srgbClr val="647067"/>
                </a:solidFill>
              </a:defRPr>
            </a:pPr>
            <a:r>
              <a:rPr sz="1575">
                <a:solidFill>
                  <a:srgbClr val="647067"/>
                </a:solidFill>
              </a:rPr>
              <a:t>Chỉ tái sử dụng tài liệu/scaffold cũ khi khớp kiến trúc hiện tại.</a:t>
            </a:r>
          </a:p>
        </p:txBody>
      </p:sp>
    </p:spTree>
    <p:extLst>
      <p:ext uri="{BB962C8B-B14F-4D97-AF65-F5344CB8AC3E}">
        <p14:creationId xmlns:p14="http://schemas.microsoft.com/office/powerpoint/2010/main" val="12457522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background">
            <a:extLst>
              <a:ext uri="{FF2B5EF4-FFF2-40B4-BE49-F238E27FC236}">
                <a16:creationId xmlns:a16="http://schemas.microsoft.com/office/drawing/2014/main" id="{3F557482-5D10-45DF-AE04-F29E5C758DBA}"/>
              </a:ext>
            </a:extLst>
          </p:cNvPr>
          <p:cNvSpPr>
            <a:spLocks noGrp="1"/>
          </p:cNvSpPr>
          <p:nvPr/>
        </p:nvSpPr>
        <p:spPr>
          <a:xfrm>
            <a:off x="0" y="0"/>
            <a:ext cx="18288000" cy="10287000"/>
          </a:xfrm>
          <a:prstGeom prst="rect">
            <a:avLst/>
          </a:prstGeom>
          <a:solidFill>
            <a:srgbClr val="FFFDF8"/>
          </a:solidFill>
        </p:spPr>
      </p:sp>
      <p:sp>
        <p:nvSpPr>
          <p:cNvPr id="2" name="top-band">
            <a:extLst>
              <a:ext uri="{FF2B5EF4-FFF2-40B4-BE49-F238E27FC236}">
                <a16:creationId xmlns:a16="http://schemas.microsoft.com/office/drawing/2014/main" id="{7AA6A3F0-841D-428D-B453-0E6DBFCF2F59}"/>
              </a:ext>
            </a:extLst>
          </p:cNvPr>
          <p:cNvSpPr>
            <a:spLocks noGrp="1"/>
          </p:cNvSpPr>
          <p:nvPr/>
        </p:nvSpPr>
        <p:spPr>
          <a:xfrm>
            <a:off x="0" y="0"/>
            <a:ext cx="18288000" cy="152400"/>
          </a:xfrm>
          <a:prstGeom prst="rect">
            <a:avLst/>
          </a:prstGeom>
          <a:solidFill>
            <a:srgbClr val="87B8D6"/>
          </a:solidFill>
        </p:spPr>
      </p:sp>
      <p:sp>
        <p:nvSpPr>
          <p:cNvPr id="3" name="bottom-band">
            <a:extLst>
              <a:ext uri="{FF2B5EF4-FFF2-40B4-BE49-F238E27FC236}">
                <a16:creationId xmlns:a16="http://schemas.microsoft.com/office/drawing/2014/main" id="{B17EB734-6CD0-4DC6-972E-B686FA1690EE}"/>
              </a:ext>
            </a:extLst>
          </p:cNvPr>
          <p:cNvSpPr>
            <a:spLocks noGrp="1"/>
          </p:cNvSpPr>
          <p:nvPr/>
        </p:nvSpPr>
        <p:spPr>
          <a:xfrm>
            <a:off x="0" y="0"/>
            <a:ext cx="18288000" cy="76200"/>
          </a:xfrm>
          <a:prstGeom prst="rect">
            <a:avLst/>
          </a:prstGeom>
          <a:solidFill>
            <a:srgbClr val="D9B760"/>
          </a:solidFill>
        </p:spPr>
      </p:sp>
      <p:sp>
        <p:nvSpPr>
          <p:cNvPr id="4" name="Hình chữ nhật: Góc Tròn 3">
            <a:extLst>
              <a:ext uri="{FF2B5EF4-FFF2-40B4-BE49-F238E27FC236}">
                <a16:creationId xmlns:a16="http://schemas.microsoft.com/office/drawing/2014/main" id="{249CBD05-ECD3-4F1E-9A2B-E35A66683255}"/>
              </a:ext>
            </a:extLst>
          </p:cNvPr>
          <p:cNvSpPr>
            <a:spLocks noGrp="1"/>
          </p:cNvSpPr>
          <p:nvPr/>
        </p:nvSpPr>
        <p:spPr>
          <a:xfrm>
            <a:off x="838200" y="647700"/>
            <a:ext cx="400050" cy="95250"/>
          </a:xfrm>
          <a:prstGeom prst="roundRect">
            <a:avLst>
              <a:gd name="adj" fmla="val 50000"/>
            </a:avLst>
          </a:prstGeom>
          <a:solidFill>
            <a:srgbClr val="87B8D6"/>
          </a:solidFill>
        </p:spPr>
      </p:sp>
      <p:sp>
        <p:nvSpPr>
          <p:cNvPr id="5" name="Hình chữ nhật 4">
            <a:extLst>
              <a:ext uri="{FF2B5EF4-FFF2-40B4-BE49-F238E27FC236}">
                <a16:creationId xmlns:a16="http://schemas.microsoft.com/office/drawing/2014/main" id="{75E355D2-899E-472E-9610-5774541DCCDA}"/>
              </a:ext>
            </a:extLst>
          </p:cNvPr>
          <p:cNvSpPr>
            <a:spLocks noGrp="1"/>
          </p:cNvSpPr>
          <p:nvPr/>
        </p:nvSpPr>
        <p:spPr>
          <a:xfrm>
            <a:off x="1371600" y="571500"/>
            <a:ext cx="15544800" cy="228600"/>
          </a:xfrm>
          <a:prstGeom prst="rect">
            <a:avLst/>
          </a:prstGeom>
        </p:spPr>
        <p:txBody>
          <a:bodyPr lIns="0" tIns="0" rIns="0" bIns="0"/>
          <a:lstStyle/>
          <a:p>
            <a:pPr>
              <a:lnSpc>
                <a:spcPct val="125000"/>
              </a:lnSpc>
              <a:buNone/>
              <a:defRPr sz="1200" b="1">
                <a:solidFill>
                  <a:srgbClr val="7E3D4A"/>
                </a:solidFill>
              </a:defRPr>
            </a:pPr>
            <a:r>
              <a:rPr sz="1200" b="1">
                <a:solidFill>
                  <a:srgbClr val="7E3D4A"/>
                </a:solidFill>
              </a:rPr>
              <a:t>ROADMAP</a:t>
            </a:r>
          </a:p>
        </p:txBody>
      </p:sp>
      <p:sp>
        <p:nvSpPr>
          <p:cNvPr id="6" name="Hình chữ nhật 5">
            <a:extLst>
              <a:ext uri="{FF2B5EF4-FFF2-40B4-BE49-F238E27FC236}">
                <a16:creationId xmlns:a16="http://schemas.microsoft.com/office/drawing/2014/main" id="{A4D70FE9-8679-4324-A7B3-61B24EC79170}"/>
              </a:ext>
            </a:extLst>
          </p:cNvPr>
          <p:cNvSpPr>
            <a:spLocks noGrp="1"/>
          </p:cNvSpPr>
          <p:nvPr/>
        </p:nvSpPr>
        <p:spPr>
          <a:xfrm>
            <a:off x="17068800" y="571500"/>
            <a:ext cx="400050" cy="228600"/>
          </a:xfrm>
          <a:prstGeom prst="rect">
            <a:avLst/>
          </a:prstGeom>
        </p:spPr>
        <p:txBody>
          <a:bodyPr lIns="0" tIns="0" rIns="0" bIns="0"/>
          <a:lstStyle/>
          <a:p>
            <a:pPr>
              <a:lnSpc>
                <a:spcPct val="120000"/>
              </a:lnSpc>
              <a:buNone/>
              <a:defRPr sz="1275" b="1">
                <a:solidFill>
                  <a:srgbClr val="7E3D4A"/>
                </a:solidFill>
              </a:defRPr>
            </a:pPr>
            <a:r>
              <a:rPr sz="1275" b="1">
                <a:solidFill>
                  <a:srgbClr val="7E3D4A"/>
                </a:solidFill>
              </a:rPr>
              <a:t>29/30</a:t>
            </a:r>
          </a:p>
        </p:txBody>
      </p:sp>
      <p:sp>
        <p:nvSpPr>
          <p:cNvPr id="7" name="slide-title">
            <a:extLst>
              <a:ext uri="{FF2B5EF4-FFF2-40B4-BE49-F238E27FC236}">
                <a16:creationId xmlns:a16="http://schemas.microsoft.com/office/drawing/2014/main" id="{ED2EF5D1-BDF3-41C7-91C2-8DC38E26763A}"/>
              </a:ext>
            </a:extLst>
          </p:cNvPr>
          <p:cNvSpPr>
            <a:spLocks noGrp="1"/>
          </p:cNvSpPr>
          <p:nvPr/>
        </p:nvSpPr>
        <p:spPr>
          <a:xfrm>
            <a:off x="819150" y="933450"/>
            <a:ext cx="16649700" cy="590550"/>
          </a:xfrm>
          <a:prstGeom prst="rect">
            <a:avLst/>
          </a:prstGeom>
        </p:spPr>
        <p:txBody>
          <a:bodyPr lIns="0" tIns="0" rIns="0" bIns="0"/>
          <a:lstStyle/>
          <a:p>
            <a:pPr>
              <a:lnSpc>
                <a:spcPct val="105000"/>
              </a:lnSpc>
              <a:buNone/>
              <a:defRPr sz="3600" b="1">
                <a:solidFill>
                  <a:srgbClr val="151515"/>
                </a:solidFill>
              </a:defRPr>
            </a:pPr>
            <a:r>
              <a:rPr sz="3600" b="1">
                <a:solidFill>
                  <a:srgbClr val="151515"/>
                </a:solidFill>
              </a:rPr>
              <a:t>Hướng phát triển tiếp theo</a:t>
            </a:r>
          </a:p>
        </p:txBody>
      </p:sp>
      <p:sp>
        <p:nvSpPr>
          <p:cNvPr id="8" name="title-rule">
            <a:extLst>
              <a:ext uri="{FF2B5EF4-FFF2-40B4-BE49-F238E27FC236}">
                <a16:creationId xmlns:a16="http://schemas.microsoft.com/office/drawing/2014/main" id="{1D106E79-9F50-499A-8BC4-106462F3AB08}"/>
              </a:ext>
            </a:extLst>
          </p:cNvPr>
          <p:cNvSpPr>
            <a:spLocks noGrp="1"/>
          </p:cNvSpPr>
          <p:nvPr/>
        </p:nvSpPr>
        <p:spPr>
          <a:xfrm>
            <a:off x="819150" y="1619250"/>
            <a:ext cx="1905000" cy="38100"/>
          </a:xfrm>
          <a:prstGeom prst="rect">
            <a:avLst/>
          </a:prstGeom>
          <a:solidFill>
            <a:srgbClr val="87B8D6"/>
          </a:solidFill>
          <a:ln w="0">
            <a:solidFill>
              <a:srgbClr val="87B8D6"/>
            </a:solidFill>
            <a:prstDash val="solid"/>
          </a:ln>
        </p:spPr>
      </p:sp>
      <p:sp>
        <p:nvSpPr>
          <p:cNvPr id="9" name="Hình chữ nhật: Góc Tròn 8">
            <a:extLst>
              <a:ext uri="{FF2B5EF4-FFF2-40B4-BE49-F238E27FC236}">
                <a16:creationId xmlns:a16="http://schemas.microsoft.com/office/drawing/2014/main" id="{AF852F1F-CE34-4C27-901E-2DD65D67E86D}"/>
              </a:ext>
            </a:extLst>
          </p:cNvPr>
          <p:cNvSpPr>
            <a:spLocks noGrp="1"/>
          </p:cNvSpPr>
          <p:nvPr/>
        </p:nvSpPr>
        <p:spPr>
          <a:xfrm>
            <a:off x="2657475" y="4876800"/>
            <a:ext cx="2571750" cy="1238250"/>
          </a:xfrm>
          <a:prstGeom prst="roundRect">
            <a:avLst>
              <a:gd name="adj" fmla="val 6154"/>
            </a:avLst>
          </a:prstGeom>
          <a:solidFill>
            <a:srgbClr val="FFFFFF"/>
          </a:solidFill>
          <a:ln w="9525">
            <a:solidFill>
              <a:srgbClr val="77B8A4"/>
            </a:solidFill>
            <a:prstDash val="solid"/>
          </a:ln>
        </p:spPr>
      </p:sp>
      <p:sp>
        <p:nvSpPr>
          <p:cNvPr id="10" name="Hình chữ nhật 9">
            <a:extLst>
              <a:ext uri="{FF2B5EF4-FFF2-40B4-BE49-F238E27FC236}">
                <a16:creationId xmlns:a16="http://schemas.microsoft.com/office/drawing/2014/main" id="{C7DA9B22-1214-43D4-891A-554ECDD56C58}"/>
              </a:ext>
            </a:extLst>
          </p:cNvPr>
          <p:cNvSpPr>
            <a:spLocks noGrp="1"/>
          </p:cNvSpPr>
          <p:nvPr/>
        </p:nvSpPr>
        <p:spPr>
          <a:xfrm>
            <a:off x="2838450" y="5124450"/>
            <a:ext cx="222885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1. Experience</a:t>
            </a:r>
          </a:p>
        </p:txBody>
      </p:sp>
      <p:sp>
        <p:nvSpPr>
          <p:cNvPr id="11" name="Hình chữ nhật 10">
            <a:extLst>
              <a:ext uri="{FF2B5EF4-FFF2-40B4-BE49-F238E27FC236}">
                <a16:creationId xmlns:a16="http://schemas.microsoft.com/office/drawing/2014/main" id="{B55CBDBB-BC0D-477F-8BE4-74CD3B13008C}"/>
              </a:ext>
            </a:extLst>
          </p:cNvPr>
          <p:cNvSpPr>
            <a:spLocks noGrp="1"/>
          </p:cNvSpPr>
          <p:nvPr/>
        </p:nvSpPr>
        <p:spPr>
          <a:xfrm>
            <a:off x="2838450" y="5486400"/>
            <a:ext cx="2228850" cy="4000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Mobile/PWA nâng cao</a:t>
            </a:r>
          </a:p>
          <a:p>
            <a:pPr algn="ctr">
              <a:lnSpc>
                <a:spcPct val="112000"/>
              </a:lnSpc>
              <a:buNone/>
              <a:defRPr sz="1125">
                <a:solidFill>
                  <a:srgbClr val="647067"/>
                </a:solidFill>
              </a:defRPr>
            </a:pPr>
            <a:r>
              <a:rPr sz="1125">
                <a:solidFill>
                  <a:srgbClr val="647067"/>
                </a:solidFill>
              </a:rPr>
              <a:t>Recommendation engine</a:t>
            </a:r>
          </a:p>
        </p:txBody>
      </p:sp>
      <p:sp>
        <p:nvSpPr>
          <p:cNvPr id="12" name="Hình chữ nhật 11">
            <a:extLst>
              <a:ext uri="{FF2B5EF4-FFF2-40B4-BE49-F238E27FC236}">
                <a16:creationId xmlns:a16="http://schemas.microsoft.com/office/drawing/2014/main" id="{FD349EC3-6592-441C-BFE7-D44F45EF57FC}"/>
              </a:ext>
            </a:extLst>
          </p:cNvPr>
          <p:cNvSpPr>
            <a:spLocks noGrp="1"/>
          </p:cNvSpPr>
          <p:nvPr/>
        </p:nvSpPr>
        <p:spPr>
          <a:xfrm>
            <a:off x="5391150" y="5257800"/>
            <a:ext cx="400050" cy="495300"/>
          </a:xfrm>
          <a:prstGeom prst="rect">
            <a:avLst/>
          </a:prstGeom>
        </p:spPr>
        <p:txBody>
          <a:bodyPr lIns="0" tIns="0" rIns="0" bIns="0"/>
          <a:lstStyle/>
          <a:p>
            <a:pPr algn="ctr">
              <a:lnSpc>
                <a:spcPct val="125000"/>
              </a:lnSpc>
              <a:buNone/>
              <a:defRPr sz="2625" b="1">
                <a:solidFill>
                  <a:srgbClr val="87B8D6"/>
                </a:solidFill>
              </a:defRPr>
            </a:pPr>
            <a:r>
              <a:rPr sz="2625" b="1">
                <a:solidFill>
                  <a:srgbClr val="87B8D6"/>
                </a:solidFill>
              </a:rPr>
              <a:t>→</a:t>
            </a:r>
          </a:p>
        </p:txBody>
      </p:sp>
      <p:sp>
        <p:nvSpPr>
          <p:cNvPr id="13" name="Hình chữ nhật: Góc Tròn 12">
            <a:extLst>
              <a:ext uri="{FF2B5EF4-FFF2-40B4-BE49-F238E27FC236}">
                <a16:creationId xmlns:a16="http://schemas.microsoft.com/office/drawing/2014/main" id="{A4FC81BE-4191-4F56-B943-DDF7EEB49340}"/>
              </a:ext>
            </a:extLst>
          </p:cNvPr>
          <p:cNvSpPr>
            <a:spLocks noGrp="1"/>
          </p:cNvSpPr>
          <p:nvPr/>
        </p:nvSpPr>
        <p:spPr>
          <a:xfrm>
            <a:off x="5934075" y="4876800"/>
            <a:ext cx="2857500" cy="1238250"/>
          </a:xfrm>
          <a:prstGeom prst="roundRect">
            <a:avLst>
              <a:gd name="adj" fmla="val 6154"/>
            </a:avLst>
          </a:prstGeom>
          <a:solidFill>
            <a:srgbClr val="FFFFFF"/>
          </a:solidFill>
          <a:ln w="9525">
            <a:solidFill>
              <a:srgbClr val="D9B760"/>
            </a:solidFill>
            <a:prstDash val="solid"/>
          </a:ln>
        </p:spPr>
      </p:sp>
      <p:sp>
        <p:nvSpPr>
          <p:cNvPr id="14" name="Hình chữ nhật 13">
            <a:extLst>
              <a:ext uri="{FF2B5EF4-FFF2-40B4-BE49-F238E27FC236}">
                <a16:creationId xmlns:a16="http://schemas.microsoft.com/office/drawing/2014/main" id="{081F54C1-E84D-4E7E-A455-D642123A2D81}"/>
              </a:ext>
            </a:extLst>
          </p:cNvPr>
          <p:cNvSpPr>
            <a:spLocks noGrp="1"/>
          </p:cNvSpPr>
          <p:nvPr/>
        </p:nvSpPr>
        <p:spPr>
          <a:xfrm>
            <a:off x="6115050" y="5124450"/>
            <a:ext cx="251460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2. Trust layer</a:t>
            </a:r>
          </a:p>
        </p:txBody>
      </p:sp>
      <p:sp>
        <p:nvSpPr>
          <p:cNvPr id="15" name="Hình chữ nhật 14">
            <a:extLst>
              <a:ext uri="{FF2B5EF4-FFF2-40B4-BE49-F238E27FC236}">
                <a16:creationId xmlns:a16="http://schemas.microsoft.com/office/drawing/2014/main" id="{825C2B97-C7EA-477F-9A24-B9A847608BD0}"/>
              </a:ext>
            </a:extLst>
          </p:cNvPr>
          <p:cNvSpPr>
            <a:spLocks noGrp="1"/>
          </p:cNvSpPr>
          <p:nvPr/>
        </p:nvSpPr>
        <p:spPr>
          <a:xfrm>
            <a:off x="6115050" y="5486400"/>
            <a:ext cx="2514600" cy="4000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Authentication record</a:t>
            </a:r>
          </a:p>
          <a:p>
            <a:pPr algn="ctr">
              <a:lnSpc>
                <a:spcPct val="112000"/>
              </a:lnSpc>
              <a:buNone/>
              <a:defRPr sz="1125">
                <a:solidFill>
                  <a:srgbClr val="647067"/>
                </a:solidFill>
              </a:defRPr>
            </a:pPr>
            <a:r>
              <a:rPr sz="1125">
                <a:solidFill>
                  <a:srgbClr val="647067"/>
                </a:solidFill>
              </a:rPr>
              <a:t>Certificate cho hàng luxury</a:t>
            </a:r>
          </a:p>
        </p:txBody>
      </p:sp>
      <p:sp>
        <p:nvSpPr>
          <p:cNvPr id="16" name="Hình chữ nhật 15">
            <a:extLst>
              <a:ext uri="{FF2B5EF4-FFF2-40B4-BE49-F238E27FC236}">
                <a16:creationId xmlns:a16="http://schemas.microsoft.com/office/drawing/2014/main" id="{C738FC8E-9205-40B4-A0F6-734596CE21C1}"/>
              </a:ext>
            </a:extLst>
          </p:cNvPr>
          <p:cNvSpPr>
            <a:spLocks noGrp="1"/>
          </p:cNvSpPr>
          <p:nvPr/>
        </p:nvSpPr>
        <p:spPr>
          <a:xfrm>
            <a:off x="8953500" y="5257800"/>
            <a:ext cx="400050" cy="495300"/>
          </a:xfrm>
          <a:prstGeom prst="rect">
            <a:avLst/>
          </a:prstGeom>
        </p:spPr>
        <p:txBody>
          <a:bodyPr lIns="0" tIns="0" rIns="0" bIns="0"/>
          <a:lstStyle/>
          <a:p>
            <a:pPr algn="ctr">
              <a:lnSpc>
                <a:spcPct val="125000"/>
              </a:lnSpc>
              <a:buNone/>
              <a:defRPr sz="2625" b="1">
                <a:solidFill>
                  <a:srgbClr val="87B8D6"/>
                </a:solidFill>
              </a:defRPr>
            </a:pPr>
            <a:r>
              <a:rPr sz="2625" b="1">
                <a:solidFill>
                  <a:srgbClr val="87B8D6"/>
                </a:solidFill>
              </a:rPr>
              <a:t>→</a:t>
            </a:r>
          </a:p>
        </p:txBody>
      </p:sp>
      <p:sp>
        <p:nvSpPr>
          <p:cNvPr id="17" name="Hình chữ nhật: Góc Tròn 16">
            <a:extLst>
              <a:ext uri="{FF2B5EF4-FFF2-40B4-BE49-F238E27FC236}">
                <a16:creationId xmlns:a16="http://schemas.microsoft.com/office/drawing/2014/main" id="{8B92E17F-DE65-4240-BD5F-AC5F4A304723}"/>
              </a:ext>
            </a:extLst>
          </p:cNvPr>
          <p:cNvSpPr>
            <a:spLocks noGrp="1"/>
          </p:cNvSpPr>
          <p:nvPr/>
        </p:nvSpPr>
        <p:spPr>
          <a:xfrm>
            <a:off x="9496425" y="4876800"/>
            <a:ext cx="2571750" cy="1238250"/>
          </a:xfrm>
          <a:prstGeom prst="roundRect">
            <a:avLst>
              <a:gd name="adj" fmla="val 6154"/>
            </a:avLst>
          </a:prstGeom>
          <a:solidFill>
            <a:srgbClr val="FFFFFF"/>
          </a:solidFill>
          <a:ln w="9525">
            <a:solidFill>
              <a:srgbClr val="F39A8A"/>
            </a:solidFill>
            <a:prstDash val="solid"/>
          </a:ln>
        </p:spPr>
      </p:sp>
      <p:sp>
        <p:nvSpPr>
          <p:cNvPr id="18" name="Hình chữ nhật 17">
            <a:extLst>
              <a:ext uri="{FF2B5EF4-FFF2-40B4-BE49-F238E27FC236}">
                <a16:creationId xmlns:a16="http://schemas.microsoft.com/office/drawing/2014/main" id="{069DDF70-12CE-4A5E-B1BC-2133BF7F42A1}"/>
              </a:ext>
            </a:extLst>
          </p:cNvPr>
          <p:cNvSpPr>
            <a:spLocks noGrp="1"/>
          </p:cNvSpPr>
          <p:nvPr/>
        </p:nvSpPr>
        <p:spPr>
          <a:xfrm>
            <a:off x="9677400" y="5124450"/>
            <a:ext cx="222885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3. Marketplace</a:t>
            </a:r>
          </a:p>
        </p:txBody>
      </p:sp>
      <p:sp>
        <p:nvSpPr>
          <p:cNvPr id="19" name="Hình chữ nhật 18">
            <a:extLst>
              <a:ext uri="{FF2B5EF4-FFF2-40B4-BE49-F238E27FC236}">
                <a16:creationId xmlns:a16="http://schemas.microsoft.com/office/drawing/2014/main" id="{8BAAF87A-1B2C-4DF4-90D6-92F45C26EF67}"/>
              </a:ext>
            </a:extLst>
          </p:cNvPr>
          <p:cNvSpPr>
            <a:spLocks noGrp="1"/>
          </p:cNvSpPr>
          <p:nvPr/>
        </p:nvSpPr>
        <p:spPr>
          <a:xfrm>
            <a:off x="9677400" y="5486400"/>
            <a:ext cx="2228850" cy="4000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Seller portal</a:t>
            </a:r>
          </a:p>
          <a:p>
            <a:pPr algn="ctr">
              <a:lnSpc>
                <a:spcPct val="112000"/>
              </a:lnSpc>
              <a:buNone/>
              <a:defRPr sz="1125">
                <a:solidFill>
                  <a:srgbClr val="647067"/>
                </a:solidFill>
              </a:defRPr>
            </a:pPr>
            <a:r>
              <a:rPr sz="1125">
                <a:solidFill>
                  <a:srgbClr val="647067"/>
                </a:solidFill>
              </a:rPr>
              <a:t>Consignment intake</a:t>
            </a:r>
          </a:p>
        </p:txBody>
      </p:sp>
      <p:sp>
        <p:nvSpPr>
          <p:cNvPr id="20" name="Hình chữ nhật 19">
            <a:extLst>
              <a:ext uri="{FF2B5EF4-FFF2-40B4-BE49-F238E27FC236}">
                <a16:creationId xmlns:a16="http://schemas.microsoft.com/office/drawing/2014/main" id="{5BF9324C-4760-47BB-818B-2D4DAB24FC7D}"/>
              </a:ext>
            </a:extLst>
          </p:cNvPr>
          <p:cNvSpPr>
            <a:spLocks noGrp="1"/>
          </p:cNvSpPr>
          <p:nvPr/>
        </p:nvSpPr>
        <p:spPr>
          <a:xfrm>
            <a:off x="12230100" y="5257800"/>
            <a:ext cx="400050" cy="495300"/>
          </a:xfrm>
          <a:prstGeom prst="rect">
            <a:avLst/>
          </a:prstGeom>
        </p:spPr>
        <p:txBody>
          <a:bodyPr lIns="0" tIns="0" rIns="0" bIns="0"/>
          <a:lstStyle/>
          <a:p>
            <a:pPr algn="ctr">
              <a:lnSpc>
                <a:spcPct val="125000"/>
              </a:lnSpc>
              <a:buNone/>
              <a:defRPr sz="2625" b="1">
                <a:solidFill>
                  <a:srgbClr val="87B8D6"/>
                </a:solidFill>
              </a:defRPr>
            </a:pPr>
            <a:r>
              <a:rPr sz="2625" b="1">
                <a:solidFill>
                  <a:srgbClr val="87B8D6"/>
                </a:solidFill>
              </a:rPr>
              <a:t>→</a:t>
            </a:r>
          </a:p>
        </p:txBody>
      </p:sp>
      <p:sp>
        <p:nvSpPr>
          <p:cNvPr id="21" name="Hình chữ nhật: Góc Tròn 20">
            <a:extLst>
              <a:ext uri="{FF2B5EF4-FFF2-40B4-BE49-F238E27FC236}">
                <a16:creationId xmlns:a16="http://schemas.microsoft.com/office/drawing/2014/main" id="{7CAD0FC3-CB4B-4555-AB72-0245D3E676DC}"/>
              </a:ext>
            </a:extLst>
          </p:cNvPr>
          <p:cNvSpPr>
            <a:spLocks noGrp="1"/>
          </p:cNvSpPr>
          <p:nvPr/>
        </p:nvSpPr>
        <p:spPr>
          <a:xfrm>
            <a:off x="12773025" y="4876800"/>
            <a:ext cx="2857500" cy="1238250"/>
          </a:xfrm>
          <a:prstGeom prst="roundRect">
            <a:avLst>
              <a:gd name="adj" fmla="val 6154"/>
            </a:avLst>
          </a:prstGeom>
          <a:solidFill>
            <a:srgbClr val="FFFFFF"/>
          </a:solidFill>
          <a:ln w="9525">
            <a:solidFill>
              <a:srgbClr val="7E3D4A"/>
            </a:solidFill>
            <a:prstDash val="solid"/>
          </a:ln>
        </p:spPr>
      </p:sp>
      <p:sp>
        <p:nvSpPr>
          <p:cNvPr id="22" name="Hình chữ nhật 21">
            <a:extLst>
              <a:ext uri="{FF2B5EF4-FFF2-40B4-BE49-F238E27FC236}">
                <a16:creationId xmlns:a16="http://schemas.microsoft.com/office/drawing/2014/main" id="{7740A1C9-596B-459A-B7B3-943EA73C7374}"/>
              </a:ext>
            </a:extLst>
          </p:cNvPr>
          <p:cNvSpPr>
            <a:spLocks noGrp="1"/>
          </p:cNvSpPr>
          <p:nvPr/>
        </p:nvSpPr>
        <p:spPr>
          <a:xfrm>
            <a:off x="12954000" y="5124450"/>
            <a:ext cx="2514600" cy="323850"/>
          </a:xfrm>
          <a:prstGeom prst="rect">
            <a:avLst/>
          </a:prstGeom>
        </p:spPr>
        <p:txBody>
          <a:bodyPr lIns="0" tIns="0" rIns="0" bIns="0"/>
          <a:lstStyle/>
          <a:p>
            <a:pPr algn="ctr">
              <a:lnSpc>
                <a:spcPct val="125000"/>
              </a:lnSpc>
              <a:buNone/>
              <a:defRPr sz="1650" b="1">
                <a:solidFill>
                  <a:srgbClr val="151515"/>
                </a:solidFill>
              </a:defRPr>
            </a:pPr>
            <a:r>
              <a:rPr sz="1650" b="1">
                <a:solidFill>
                  <a:srgbClr val="151515"/>
                </a:solidFill>
              </a:rPr>
              <a:t>4. Operations</a:t>
            </a:r>
          </a:p>
        </p:txBody>
      </p:sp>
      <p:sp>
        <p:nvSpPr>
          <p:cNvPr id="23" name="Hình chữ nhật 22">
            <a:extLst>
              <a:ext uri="{FF2B5EF4-FFF2-40B4-BE49-F238E27FC236}">
                <a16:creationId xmlns:a16="http://schemas.microsoft.com/office/drawing/2014/main" id="{DAD7BB9C-2A67-4D86-A668-910804E64D31}"/>
              </a:ext>
            </a:extLst>
          </p:cNvPr>
          <p:cNvSpPr>
            <a:spLocks noGrp="1"/>
          </p:cNvSpPr>
          <p:nvPr/>
        </p:nvSpPr>
        <p:spPr>
          <a:xfrm>
            <a:off x="12954000" y="5486400"/>
            <a:ext cx="2514600" cy="400050"/>
          </a:xfrm>
          <a:prstGeom prst="rect">
            <a:avLst/>
          </a:prstGeom>
        </p:spPr>
        <p:txBody>
          <a:bodyPr lIns="0" tIns="0" rIns="0" bIns="0"/>
          <a:lstStyle/>
          <a:p>
            <a:pPr algn="ctr">
              <a:lnSpc>
                <a:spcPct val="112000"/>
              </a:lnSpc>
              <a:buNone/>
              <a:defRPr sz="1125">
                <a:solidFill>
                  <a:srgbClr val="647067"/>
                </a:solidFill>
              </a:defRPr>
            </a:pPr>
            <a:r>
              <a:rPr sz="1125">
                <a:solidFill>
                  <a:srgbClr val="647067"/>
                </a:solidFill>
              </a:rPr>
              <a:t>Analytics, tests, CI/CD</a:t>
            </a:r>
          </a:p>
          <a:p>
            <a:pPr algn="ctr">
              <a:lnSpc>
                <a:spcPct val="112000"/>
              </a:lnSpc>
              <a:buNone/>
              <a:defRPr sz="1125">
                <a:solidFill>
                  <a:srgbClr val="647067"/>
                </a:solidFill>
              </a:defRPr>
            </a:pPr>
            <a:r>
              <a:rPr sz="1125">
                <a:solidFill>
                  <a:srgbClr val="647067"/>
                </a:solidFill>
              </a:rPr>
              <a:t>Monitoring + backup</a:t>
            </a:r>
          </a:p>
        </p:txBody>
      </p:sp>
      <p:sp>
        <p:nvSpPr>
          <p:cNvPr id="24" name="Hình chữ nhật 23">
            <a:extLst>
              <a:ext uri="{FF2B5EF4-FFF2-40B4-BE49-F238E27FC236}">
                <a16:creationId xmlns:a16="http://schemas.microsoft.com/office/drawing/2014/main" id="{13303C8E-92D9-4564-817A-D72840BF0FC9}"/>
              </a:ext>
            </a:extLst>
          </p:cNvPr>
          <p:cNvSpPr>
            <a:spLocks noGrp="1"/>
          </p:cNvSpPr>
          <p:nvPr/>
        </p:nvSpPr>
        <p:spPr>
          <a:xfrm>
            <a:off x="819150" y="6343650"/>
            <a:ext cx="16649700" cy="419100"/>
          </a:xfrm>
          <a:prstGeom prst="rect">
            <a:avLst/>
          </a:prstGeom>
        </p:spPr>
        <p:txBody>
          <a:bodyPr lIns="0" tIns="0" rIns="0" bIns="0"/>
          <a:lstStyle/>
          <a:p>
            <a:pPr algn="ctr">
              <a:lnSpc>
                <a:spcPct val="120000"/>
              </a:lnSpc>
              <a:buNone/>
              <a:defRPr sz="2250" b="1">
                <a:solidFill>
                  <a:srgbClr val="151515"/>
                </a:solidFill>
              </a:defRPr>
            </a:pPr>
            <a:r>
              <a:rPr sz="2250" b="1">
                <a:solidFill>
                  <a:srgbClr val="151515"/>
                </a:solidFill>
              </a:rPr>
              <a:t>Nâng cấp AI thành RAG có thể truy vấn catalog, policy, order history và customer profile để tư vấn sát hơn.</a:t>
            </a:r>
          </a:p>
        </p:txBody>
      </p:sp>
    </p:spTree>
    <p:extLst>
      <p:ext uri="{BB962C8B-B14F-4D97-AF65-F5344CB8AC3E}">
        <p14:creationId xmlns:p14="http://schemas.microsoft.com/office/powerpoint/2010/main" val="14643935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background">
            <a:extLst>
              <a:ext uri="{FF2B5EF4-FFF2-40B4-BE49-F238E27FC236}">
                <a16:creationId xmlns:a16="http://schemas.microsoft.com/office/drawing/2014/main" id="{D82C9577-4533-4738-80F3-98DB90C0A21B}"/>
              </a:ext>
            </a:extLst>
          </p:cNvPr>
          <p:cNvSpPr>
            <a:spLocks noGrp="1"/>
          </p:cNvSpPr>
          <p:nvPr/>
        </p:nvSpPr>
        <p:spPr>
          <a:xfrm>
            <a:off x="0" y="0"/>
            <a:ext cx="18288000" cy="10287000"/>
          </a:xfrm>
          <a:prstGeom prst="rect">
            <a:avLst/>
          </a:prstGeom>
          <a:solidFill>
            <a:srgbClr val="FFFDF8"/>
          </a:solidFill>
        </p:spPr>
      </p:sp>
      <p:sp>
        <p:nvSpPr>
          <p:cNvPr id="2" name="top-band">
            <a:extLst>
              <a:ext uri="{FF2B5EF4-FFF2-40B4-BE49-F238E27FC236}">
                <a16:creationId xmlns:a16="http://schemas.microsoft.com/office/drawing/2014/main" id="{7DB2B4B7-45EB-413E-8600-C5CDF4B8F4E7}"/>
              </a:ext>
            </a:extLst>
          </p:cNvPr>
          <p:cNvSpPr>
            <a:spLocks noGrp="1"/>
          </p:cNvSpPr>
          <p:nvPr/>
        </p:nvSpPr>
        <p:spPr>
          <a:xfrm>
            <a:off x="0" y="0"/>
            <a:ext cx="18288000" cy="152400"/>
          </a:xfrm>
          <a:prstGeom prst="rect">
            <a:avLst/>
          </a:prstGeom>
          <a:solidFill>
            <a:srgbClr val="77B8A4"/>
          </a:solidFill>
        </p:spPr>
      </p:sp>
      <p:sp>
        <p:nvSpPr>
          <p:cNvPr id="3" name="bottom-band">
            <a:extLst>
              <a:ext uri="{FF2B5EF4-FFF2-40B4-BE49-F238E27FC236}">
                <a16:creationId xmlns:a16="http://schemas.microsoft.com/office/drawing/2014/main" id="{A34AB930-7642-4DD9-A1CB-9E81499EB597}"/>
              </a:ext>
            </a:extLst>
          </p:cNvPr>
          <p:cNvSpPr>
            <a:spLocks noGrp="1"/>
          </p:cNvSpPr>
          <p:nvPr/>
        </p:nvSpPr>
        <p:spPr>
          <a:xfrm>
            <a:off x="0" y="0"/>
            <a:ext cx="18288000" cy="76200"/>
          </a:xfrm>
          <a:prstGeom prst="rect">
            <a:avLst/>
          </a:prstGeom>
          <a:solidFill>
            <a:srgbClr val="D9B760"/>
          </a:solidFill>
        </p:spPr>
      </p:sp>
      <p:sp>
        <p:nvSpPr>
          <p:cNvPr id="4" name="Hình chữ nhật: Góc Tròn 3">
            <a:extLst>
              <a:ext uri="{FF2B5EF4-FFF2-40B4-BE49-F238E27FC236}">
                <a16:creationId xmlns:a16="http://schemas.microsoft.com/office/drawing/2014/main" id="{21711CF7-CCB1-444D-88F2-ABFEE3E47D74}"/>
              </a:ext>
            </a:extLst>
          </p:cNvPr>
          <p:cNvSpPr>
            <a:spLocks noGrp="1"/>
          </p:cNvSpPr>
          <p:nvPr/>
        </p:nvSpPr>
        <p:spPr>
          <a:xfrm>
            <a:off x="838200" y="647700"/>
            <a:ext cx="400050" cy="95250"/>
          </a:xfrm>
          <a:prstGeom prst="roundRect">
            <a:avLst>
              <a:gd name="adj" fmla="val 50000"/>
            </a:avLst>
          </a:prstGeom>
          <a:solidFill>
            <a:srgbClr val="77B8A4"/>
          </a:solidFill>
        </p:spPr>
      </p:sp>
      <p:sp>
        <p:nvSpPr>
          <p:cNvPr id="5" name="Hình chữ nhật 4">
            <a:extLst>
              <a:ext uri="{FF2B5EF4-FFF2-40B4-BE49-F238E27FC236}">
                <a16:creationId xmlns:a16="http://schemas.microsoft.com/office/drawing/2014/main" id="{C3687043-1373-4A3B-AF92-9F2AB4DD4ABD}"/>
              </a:ext>
            </a:extLst>
          </p:cNvPr>
          <p:cNvSpPr>
            <a:spLocks noGrp="1"/>
          </p:cNvSpPr>
          <p:nvPr/>
        </p:nvSpPr>
        <p:spPr>
          <a:xfrm>
            <a:off x="1371600" y="571500"/>
            <a:ext cx="15544800" cy="228600"/>
          </a:xfrm>
          <a:prstGeom prst="rect">
            <a:avLst/>
          </a:prstGeom>
        </p:spPr>
        <p:txBody>
          <a:bodyPr lIns="0" tIns="0" rIns="0" bIns="0"/>
          <a:lstStyle/>
          <a:p>
            <a:pPr>
              <a:lnSpc>
                <a:spcPct val="125000"/>
              </a:lnSpc>
              <a:buNone/>
              <a:defRPr sz="1200" b="1">
                <a:solidFill>
                  <a:srgbClr val="7E3D4A"/>
                </a:solidFill>
              </a:defRPr>
            </a:pPr>
            <a:r>
              <a:rPr sz="1200" b="1">
                <a:solidFill>
                  <a:srgbClr val="7E3D4A"/>
                </a:solidFill>
              </a:rPr>
              <a:t>KẾT LUẬN</a:t>
            </a:r>
          </a:p>
        </p:txBody>
      </p:sp>
      <p:sp>
        <p:nvSpPr>
          <p:cNvPr id="6" name="Hình chữ nhật 5">
            <a:extLst>
              <a:ext uri="{FF2B5EF4-FFF2-40B4-BE49-F238E27FC236}">
                <a16:creationId xmlns:a16="http://schemas.microsoft.com/office/drawing/2014/main" id="{71F28B43-7A93-4606-9445-FA735D73A11C}"/>
              </a:ext>
            </a:extLst>
          </p:cNvPr>
          <p:cNvSpPr>
            <a:spLocks noGrp="1"/>
          </p:cNvSpPr>
          <p:nvPr/>
        </p:nvSpPr>
        <p:spPr>
          <a:xfrm>
            <a:off x="17068800" y="571500"/>
            <a:ext cx="400050" cy="228600"/>
          </a:xfrm>
          <a:prstGeom prst="rect">
            <a:avLst/>
          </a:prstGeom>
        </p:spPr>
        <p:txBody>
          <a:bodyPr lIns="0" tIns="0" rIns="0" bIns="0"/>
          <a:lstStyle/>
          <a:p>
            <a:pPr>
              <a:lnSpc>
                <a:spcPct val="120000"/>
              </a:lnSpc>
              <a:buNone/>
              <a:defRPr sz="1275" b="1">
                <a:solidFill>
                  <a:srgbClr val="7E3D4A"/>
                </a:solidFill>
              </a:defRPr>
            </a:pPr>
            <a:r>
              <a:rPr sz="1275" b="1">
                <a:solidFill>
                  <a:srgbClr val="7E3D4A"/>
                </a:solidFill>
              </a:rPr>
              <a:t>30/30</a:t>
            </a:r>
          </a:p>
        </p:txBody>
      </p:sp>
      <p:sp>
        <p:nvSpPr>
          <p:cNvPr id="7" name="slide-title">
            <a:extLst>
              <a:ext uri="{FF2B5EF4-FFF2-40B4-BE49-F238E27FC236}">
                <a16:creationId xmlns:a16="http://schemas.microsoft.com/office/drawing/2014/main" id="{50DFA5FD-1BB6-4E2D-87AA-6E256B076697}"/>
              </a:ext>
            </a:extLst>
          </p:cNvPr>
          <p:cNvSpPr>
            <a:spLocks noGrp="1"/>
          </p:cNvSpPr>
          <p:nvPr/>
        </p:nvSpPr>
        <p:spPr>
          <a:xfrm>
            <a:off x="819150" y="933450"/>
            <a:ext cx="16649700" cy="590550"/>
          </a:xfrm>
          <a:prstGeom prst="rect">
            <a:avLst/>
          </a:prstGeom>
        </p:spPr>
        <p:txBody>
          <a:bodyPr lIns="0" tIns="0" rIns="0" bIns="0"/>
          <a:lstStyle/>
          <a:p>
            <a:pPr>
              <a:lnSpc>
                <a:spcPct val="105000"/>
              </a:lnSpc>
              <a:buNone/>
              <a:defRPr sz="3600" b="1">
                <a:solidFill>
                  <a:srgbClr val="151515"/>
                </a:solidFill>
              </a:defRPr>
            </a:pPr>
            <a:r>
              <a:rPr sz="3600" b="1">
                <a:solidFill>
                  <a:srgbClr val="151515"/>
                </a:solidFill>
              </a:rPr>
              <a:t>AURA ARCHIVE chứng minh một sản phẩm full-stack có tính ứng dụng</a:t>
            </a:r>
          </a:p>
        </p:txBody>
      </p:sp>
      <p:sp>
        <p:nvSpPr>
          <p:cNvPr id="8" name="title-rule">
            <a:extLst>
              <a:ext uri="{FF2B5EF4-FFF2-40B4-BE49-F238E27FC236}">
                <a16:creationId xmlns:a16="http://schemas.microsoft.com/office/drawing/2014/main" id="{93998E3A-A0AD-4718-9E35-33603050330C}"/>
              </a:ext>
            </a:extLst>
          </p:cNvPr>
          <p:cNvSpPr>
            <a:spLocks noGrp="1"/>
          </p:cNvSpPr>
          <p:nvPr/>
        </p:nvSpPr>
        <p:spPr>
          <a:xfrm>
            <a:off x="819150" y="1619250"/>
            <a:ext cx="1905000" cy="38100"/>
          </a:xfrm>
          <a:prstGeom prst="rect">
            <a:avLst/>
          </a:prstGeom>
          <a:solidFill>
            <a:srgbClr val="77B8A4"/>
          </a:solidFill>
          <a:ln w="0">
            <a:solidFill>
              <a:srgbClr val="77B8A4"/>
            </a:solidFill>
            <a:prstDash val="solid"/>
          </a:ln>
        </p:spPr>
      </p:sp>
      <p:sp>
        <p:nvSpPr>
          <p:cNvPr id="9" name="Hình chữ nhật 8">
            <a:extLst>
              <a:ext uri="{FF2B5EF4-FFF2-40B4-BE49-F238E27FC236}">
                <a16:creationId xmlns:a16="http://schemas.microsoft.com/office/drawing/2014/main" id="{F2EA86C8-5A49-47BF-8E76-035C2722957C}"/>
              </a:ext>
            </a:extLst>
          </p:cNvPr>
          <p:cNvSpPr>
            <a:spLocks noGrp="1"/>
          </p:cNvSpPr>
          <p:nvPr/>
        </p:nvSpPr>
        <p:spPr>
          <a:xfrm>
            <a:off x="819150" y="4743450"/>
            <a:ext cx="8115300" cy="2152650"/>
          </a:xfrm>
          <a:prstGeom prst="rect">
            <a:avLst/>
          </a:prstGeom>
        </p:spPr>
        <p:txBody>
          <a:bodyPr lIns="0" tIns="0" rIns="0" bIns="0"/>
          <a:lstStyle/>
          <a:p>
            <a:pPr>
              <a:lnSpc>
                <a:spcPct val="112000"/>
              </a:lnSpc>
              <a:buNone/>
              <a:defRPr sz="3150" b="1">
                <a:solidFill>
                  <a:srgbClr val="151515"/>
                </a:solidFill>
              </a:defRPr>
            </a:pPr>
            <a:r>
              <a:rPr sz="3150" b="1">
                <a:solidFill>
                  <a:srgbClr val="151515"/>
                </a:solidFill>
              </a:rPr>
              <a:t>Từ frontend, backend, database, realtime, payment đến AI, dự án đã gom đủ các thành phần cốt lõi của một nền tảng luxury resale e-commerce.</a:t>
            </a:r>
          </a:p>
        </p:txBody>
      </p:sp>
      <p:sp>
        <p:nvSpPr>
          <p:cNvPr id="10" name="Hình chữ nhật: Góc Tròn 9">
            <a:extLst>
              <a:ext uri="{FF2B5EF4-FFF2-40B4-BE49-F238E27FC236}">
                <a16:creationId xmlns:a16="http://schemas.microsoft.com/office/drawing/2014/main" id="{4AE12FB0-E99C-4890-A273-BB673F302503}"/>
              </a:ext>
            </a:extLst>
          </p:cNvPr>
          <p:cNvSpPr>
            <a:spLocks noGrp="1"/>
          </p:cNvSpPr>
          <p:nvPr/>
        </p:nvSpPr>
        <p:spPr>
          <a:xfrm>
            <a:off x="9372600" y="4343400"/>
            <a:ext cx="95250" cy="876300"/>
          </a:xfrm>
          <a:prstGeom prst="roundRect">
            <a:avLst>
              <a:gd name="adj" fmla="val 50000"/>
            </a:avLst>
          </a:prstGeom>
          <a:solidFill>
            <a:srgbClr val="77B8A4"/>
          </a:solidFill>
        </p:spPr>
      </p:sp>
      <p:sp>
        <p:nvSpPr>
          <p:cNvPr id="11" name="Hình chữ nhật 10">
            <a:extLst>
              <a:ext uri="{FF2B5EF4-FFF2-40B4-BE49-F238E27FC236}">
                <a16:creationId xmlns:a16="http://schemas.microsoft.com/office/drawing/2014/main" id="{2F5DBBD7-006B-446B-831B-C6A74AF231D1}"/>
              </a:ext>
            </a:extLst>
          </p:cNvPr>
          <p:cNvSpPr>
            <a:spLocks noGrp="1"/>
          </p:cNvSpPr>
          <p:nvPr/>
        </p:nvSpPr>
        <p:spPr>
          <a:xfrm>
            <a:off x="9639300" y="4324350"/>
            <a:ext cx="7848600" cy="400050"/>
          </a:xfrm>
          <a:prstGeom prst="rect">
            <a:avLst/>
          </a:prstGeom>
        </p:spPr>
        <p:txBody>
          <a:bodyPr lIns="0" tIns="0" rIns="0" bIns="0"/>
          <a:lstStyle/>
          <a:p>
            <a:pPr>
              <a:lnSpc>
                <a:spcPct val="125000"/>
              </a:lnSpc>
              <a:buNone/>
              <a:defRPr sz="2100" b="1">
                <a:solidFill>
                  <a:srgbClr val="151515"/>
                </a:solidFill>
              </a:defRPr>
            </a:pPr>
            <a:r>
              <a:rPr sz="2100" b="1">
                <a:solidFill>
                  <a:srgbClr val="151515"/>
                </a:solidFill>
              </a:rPr>
              <a:t>Có sản phẩm demo rõ ràng</a:t>
            </a:r>
          </a:p>
        </p:txBody>
      </p:sp>
      <p:sp>
        <p:nvSpPr>
          <p:cNvPr id="12" name="Hình chữ nhật 11">
            <a:extLst>
              <a:ext uri="{FF2B5EF4-FFF2-40B4-BE49-F238E27FC236}">
                <a16:creationId xmlns:a16="http://schemas.microsoft.com/office/drawing/2014/main" id="{6A1AA095-F42C-4470-81F5-D85DA536B8A4}"/>
              </a:ext>
            </a:extLst>
          </p:cNvPr>
          <p:cNvSpPr>
            <a:spLocks noGrp="1"/>
          </p:cNvSpPr>
          <p:nvPr/>
        </p:nvSpPr>
        <p:spPr>
          <a:xfrm>
            <a:off x="9639300" y="4781550"/>
            <a:ext cx="7848600" cy="304800"/>
          </a:xfrm>
          <a:prstGeom prst="rect">
            <a:avLst/>
          </a:prstGeom>
        </p:spPr>
        <p:txBody>
          <a:bodyPr lIns="0" tIns="0" rIns="0" bIns="0"/>
          <a:lstStyle/>
          <a:p>
            <a:pPr>
              <a:lnSpc>
                <a:spcPct val="122000"/>
              </a:lnSpc>
              <a:buNone/>
              <a:defRPr sz="1575">
                <a:solidFill>
                  <a:srgbClr val="647067"/>
                </a:solidFill>
              </a:defRPr>
            </a:pPr>
            <a:r>
              <a:rPr sz="1575">
                <a:solidFill>
                  <a:srgbClr val="647067"/>
                </a:solidFill>
              </a:rPr>
              <a:t>Người xem có thể đi theo flow customer và admin.</a:t>
            </a:r>
          </a:p>
        </p:txBody>
      </p:sp>
      <p:sp>
        <p:nvSpPr>
          <p:cNvPr id="13" name="Hình chữ nhật: Góc Tròn 12">
            <a:extLst>
              <a:ext uri="{FF2B5EF4-FFF2-40B4-BE49-F238E27FC236}">
                <a16:creationId xmlns:a16="http://schemas.microsoft.com/office/drawing/2014/main" id="{75829892-F415-48C0-BCBF-71DC10C30C5A}"/>
              </a:ext>
            </a:extLst>
          </p:cNvPr>
          <p:cNvSpPr>
            <a:spLocks noGrp="1"/>
          </p:cNvSpPr>
          <p:nvPr/>
        </p:nvSpPr>
        <p:spPr>
          <a:xfrm>
            <a:off x="9372600" y="5410200"/>
            <a:ext cx="95250" cy="876300"/>
          </a:xfrm>
          <a:prstGeom prst="roundRect">
            <a:avLst>
              <a:gd name="adj" fmla="val 50000"/>
            </a:avLst>
          </a:prstGeom>
          <a:solidFill>
            <a:srgbClr val="D9B760"/>
          </a:solidFill>
        </p:spPr>
      </p:sp>
      <p:sp>
        <p:nvSpPr>
          <p:cNvPr id="14" name="Hình chữ nhật 13">
            <a:extLst>
              <a:ext uri="{FF2B5EF4-FFF2-40B4-BE49-F238E27FC236}">
                <a16:creationId xmlns:a16="http://schemas.microsoft.com/office/drawing/2014/main" id="{130FEE6D-639F-430B-92C5-F8AE5141A424}"/>
              </a:ext>
            </a:extLst>
          </p:cNvPr>
          <p:cNvSpPr>
            <a:spLocks noGrp="1"/>
          </p:cNvSpPr>
          <p:nvPr/>
        </p:nvSpPr>
        <p:spPr>
          <a:xfrm>
            <a:off x="9639300" y="5391150"/>
            <a:ext cx="7848600" cy="400050"/>
          </a:xfrm>
          <a:prstGeom prst="rect">
            <a:avLst/>
          </a:prstGeom>
        </p:spPr>
        <p:txBody>
          <a:bodyPr lIns="0" tIns="0" rIns="0" bIns="0"/>
          <a:lstStyle/>
          <a:p>
            <a:pPr>
              <a:lnSpc>
                <a:spcPct val="125000"/>
              </a:lnSpc>
              <a:buNone/>
              <a:defRPr sz="2100" b="1">
                <a:solidFill>
                  <a:srgbClr val="151515"/>
                </a:solidFill>
              </a:defRPr>
            </a:pPr>
            <a:r>
              <a:rPr sz="2100" b="1">
                <a:solidFill>
                  <a:srgbClr val="151515"/>
                </a:solidFill>
              </a:rPr>
              <a:t>Có kiến trúc mở rộng được</a:t>
            </a:r>
          </a:p>
        </p:txBody>
      </p:sp>
      <p:sp>
        <p:nvSpPr>
          <p:cNvPr id="15" name="Hình chữ nhật 14">
            <a:extLst>
              <a:ext uri="{FF2B5EF4-FFF2-40B4-BE49-F238E27FC236}">
                <a16:creationId xmlns:a16="http://schemas.microsoft.com/office/drawing/2014/main" id="{B4824329-5CE5-421B-A1CB-E14F5626DF5C}"/>
              </a:ext>
            </a:extLst>
          </p:cNvPr>
          <p:cNvSpPr>
            <a:spLocks noGrp="1"/>
          </p:cNvSpPr>
          <p:nvPr/>
        </p:nvSpPr>
        <p:spPr>
          <a:xfrm>
            <a:off x="9639300" y="5848350"/>
            <a:ext cx="7848600" cy="304800"/>
          </a:xfrm>
          <a:prstGeom prst="rect">
            <a:avLst/>
          </a:prstGeom>
        </p:spPr>
        <p:txBody>
          <a:bodyPr lIns="0" tIns="0" rIns="0" bIns="0"/>
          <a:lstStyle/>
          <a:p>
            <a:pPr>
              <a:lnSpc>
                <a:spcPct val="122000"/>
              </a:lnSpc>
              <a:buNone/>
              <a:defRPr sz="1575">
                <a:solidFill>
                  <a:srgbClr val="647067"/>
                </a:solidFill>
              </a:defRPr>
            </a:pPr>
            <a:r>
              <a:rPr sz="1575">
                <a:solidFill>
                  <a:srgbClr val="647067"/>
                </a:solidFill>
              </a:rPr>
              <a:t>Client/server/database/service layer giúp phát triển tiếp.</a:t>
            </a:r>
          </a:p>
        </p:txBody>
      </p:sp>
      <p:sp>
        <p:nvSpPr>
          <p:cNvPr id="16" name="Hình chữ nhật: Góc Tròn 15">
            <a:extLst>
              <a:ext uri="{FF2B5EF4-FFF2-40B4-BE49-F238E27FC236}">
                <a16:creationId xmlns:a16="http://schemas.microsoft.com/office/drawing/2014/main" id="{076708CC-892D-45E4-9B5A-112A4DEF2F26}"/>
              </a:ext>
            </a:extLst>
          </p:cNvPr>
          <p:cNvSpPr>
            <a:spLocks noGrp="1"/>
          </p:cNvSpPr>
          <p:nvPr/>
        </p:nvSpPr>
        <p:spPr>
          <a:xfrm>
            <a:off x="9372600" y="6477000"/>
            <a:ext cx="95250" cy="876300"/>
          </a:xfrm>
          <a:prstGeom prst="roundRect">
            <a:avLst>
              <a:gd name="adj" fmla="val 50000"/>
            </a:avLst>
          </a:prstGeom>
          <a:solidFill>
            <a:srgbClr val="F39A8A"/>
          </a:solidFill>
        </p:spPr>
      </p:sp>
      <p:sp>
        <p:nvSpPr>
          <p:cNvPr id="17" name="Hình chữ nhật 16">
            <a:extLst>
              <a:ext uri="{FF2B5EF4-FFF2-40B4-BE49-F238E27FC236}">
                <a16:creationId xmlns:a16="http://schemas.microsoft.com/office/drawing/2014/main" id="{8D329A0A-D82A-45B3-AEFD-765C9AC0BC62}"/>
              </a:ext>
            </a:extLst>
          </p:cNvPr>
          <p:cNvSpPr>
            <a:spLocks noGrp="1"/>
          </p:cNvSpPr>
          <p:nvPr/>
        </p:nvSpPr>
        <p:spPr>
          <a:xfrm>
            <a:off x="9639300" y="6457950"/>
            <a:ext cx="7848600" cy="400050"/>
          </a:xfrm>
          <a:prstGeom prst="rect">
            <a:avLst/>
          </a:prstGeom>
        </p:spPr>
        <p:txBody>
          <a:bodyPr lIns="0" tIns="0" rIns="0" bIns="0"/>
          <a:lstStyle/>
          <a:p>
            <a:pPr>
              <a:lnSpc>
                <a:spcPct val="125000"/>
              </a:lnSpc>
              <a:buNone/>
              <a:defRPr sz="2100" b="1">
                <a:solidFill>
                  <a:srgbClr val="151515"/>
                </a:solidFill>
              </a:defRPr>
            </a:pPr>
            <a:r>
              <a:rPr sz="2100" b="1">
                <a:solidFill>
                  <a:srgbClr val="151515"/>
                </a:solidFill>
              </a:rPr>
              <a:t>Có hướng thị trường phù hợp</a:t>
            </a:r>
          </a:p>
        </p:txBody>
      </p:sp>
      <p:sp>
        <p:nvSpPr>
          <p:cNvPr id="18" name="Hình chữ nhật 17">
            <a:extLst>
              <a:ext uri="{FF2B5EF4-FFF2-40B4-BE49-F238E27FC236}">
                <a16:creationId xmlns:a16="http://schemas.microsoft.com/office/drawing/2014/main" id="{6A78EDDE-245C-4A8E-88DF-55C485868ED9}"/>
              </a:ext>
            </a:extLst>
          </p:cNvPr>
          <p:cNvSpPr>
            <a:spLocks noGrp="1"/>
          </p:cNvSpPr>
          <p:nvPr/>
        </p:nvSpPr>
        <p:spPr>
          <a:xfrm>
            <a:off x="9639300" y="6915150"/>
            <a:ext cx="7848600" cy="304800"/>
          </a:xfrm>
          <a:prstGeom prst="rect">
            <a:avLst/>
          </a:prstGeom>
        </p:spPr>
        <p:txBody>
          <a:bodyPr lIns="0" tIns="0" rIns="0" bIns="0"/>
          <a:lstStyle/>
          <a:p>
            <a:pPr>
              <a:lnSpc>
                <a:spcPct val="122000"/>
              </a:lnSpc>
              <a:buNone/>
              <a:defRPr sz="1575">
                <a:solidFill>
                  <a:srgbClr val="647067"/>
                </a:solidFill>
              </a:defRPr>
            </a:pPr>
            <a:r>
              <a:rPr sz="1575">
                <a:solidFill>
                  <a:srgbClr val="647067"/>
                </a:solidFill>
              </a:rPr>
              <a:t>Luxury resale, AI stylist, seller portal và trust layer đều có đất mở rộng.</a:t>
            </a:r>
          </a:p>
        </p:txBody>
      </p:sp>
    </p:spTree>
    <p:extLst>
      <p:ext uri="{BB962C8B-B14F-4D97-AF65-F5344CB8AC3E}">
        <p14:creationId xmlns:p14="http://schemas.microsoft.com/office/powerpoint/2010/main" val="77778288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TotalTime>
  <Words>3890</Words>
  <Application>Microsoft Office PowerPoint</Application>
  <DocSecurity>0</DocSecurity>
  <PresentationFormat>Tùy chỉnh</PresentationFormat>
  <Paragraphs>583</Paragraphs>
  <Slides>30</Slides>
  <Notes>30</Notes>
  <HiddenSlides>0</HiddenSlides>
  <MMClips>0</MMClips>
  <ScaleCrop>false</ScaleCrop>
  <HeadingPairs>
    <vt:vector size="6" baseType="variant">
      <vt:variant>
        <vt:lpstr>Phông được Dùng</vt:lpstr>
      </vt:variant>
      <vt:variant>
        <vt:i4>1</vt:i4>
      </vt:variant>
      <vt:variant>
        <vt:lpstr>Chủ đề</vt:lpstr>
      </vt:variant>
      <vt:variant>
        <vt:i4>1</vt:i4>
      </vt:variant>
      <vt:variant>
        <vt:lpstr>Tiêu đề Bản chiếu</vt:lpstr>
      </vt:variant>
      <vt:variant>
        <vt:i4>30</vt:i4>
      </vt:variant>
    </vt:vector>
  </HeadingPairs>
  <TitlesOfParts>
    <vt:vector size="32" baseType="lpstr">
      <vt:lpstr>Calibri</vt:lpstr>
      <vt:lpstr>ChatGPT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Nguyễn Anh Vũ</cp:lastModifiedBy>
  <cp:revision>2</cp:revision>
  <dcterms:created xsi:type="dcterms:W3CDTF">2026-05-06T18:03:59Z</dcterms:created>
  <dcterms:modified xsi:type="dcterms:W3CDTF">2026-05-07T12:07:01Z</dcterms:modified>
</cp:coreProperties>
</file>